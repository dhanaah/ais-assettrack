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Lst>
  <p:notesMasterIdLst>
    <p:notesMasterId r:id="rId7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23904f0-93ab-89a3-d646-78bf9c470ee2}">
          <p14:sldIdLst>
            <p14:sldId id="256"/>
            <p14:sldId id="257"/>
          </p14:sldIdLst>
        </p14:section>
        <p14:section name="Setup and sign-in" id="{e78eccaa-cf45-66d3-8fcf-a4c237b2818d}">
          <p14:sldIdLst>
            <p14:sldId id="258"/>
          </p14:sldIdLst>
        </p14:section>
        <p14:section name="Dispatch planning → GCS loading sheet" id="{deec07ca-a822-3c2b-7018-60785315b2fb}">
          <p14:sldIdLst>
            <p14:sldId id="259"/>
          </p14:sldIdLst>
        </p14:section>
        <p14:section name="Vehicle loading against the GCS" id="{33d952bd-4861-d579-a549-b20b70e76ca7}">
          <p14:sldIdLst>
            <p14:sldId id="260"/>
            <p14:sldId id="261"/>
          </p14:sldIdLst>
        </p14:section>
        <p14:section name="Vehicle loading against the GCS" id="{ad956d1e-3e89-3cab-6689-04d1a2cd7d5e}">
          <p14:sldIdLst/>
        </p14:section>
        <p14:section name="OUT gate" id="{40533e1a-fb65-f4c4-214b-c6ab97218339}">
          <p14:sldIdLst>
            <p14:sldId id="262"/>
          </p14:sldIdLst>
        </p14:section>
        <p14:section name="At the customer - receive delivery" id="{e92e2806-9d09-d3e0-5313-fd31323e631d}">
          <p14:sldIdLst>
            <p14:sldId id="263"/>
          </p14:sldIdLst>
        </p14:section>
        <p14:section name="Return empty pallets - Option A (customer)" id="{41c8bf95-c757-b6d6-6c9c-dcd066ad750c}">
          <p14:sldIdLst>
            <p14:sldId id="264"/>
          </p14:sldIdLst>
        </p14:section>
        <p14:section name="IN gate - every inward is registered" id="{124d1f69-7c15-29fe-538f-1b6782bfaeb7}">
          <p14:sldIdLst>
            <p14:sldId id="265"/>
            <p14:sldId id="266"/>
          </p14:sldIdLst>
        </p14:section>
        <p14:section name="IN gate - every inward is registered" id="{508cc305-32d5-0cde-d095-2b09ad602d3e}">
          <p14:sldIdLst/>
        </p14:section>
        <p14:section name="Pallet yard in-ward" id="{8c295b8f-160c-f29e-9d58-e5d4a62fea35}">
          <p14:sldIdLst>
            <p14:sldId id="267"/>
          </p14:sldIdLst>
        </p14:section>
        <p14:section name="Plant to plant - other plants’ pallets" id="{155b14bf-8aba-ff68-61d5-20b2f6c5668a}">
          <p14:sldIdLst>
            <p14:sldId id="268"/>
            <p14:sldId id="269"/>
          </p14:sldIdLst>
        </p14:section>
        <p14:section name="Plant to plant - other plants’ pallets" id="{3af26f15-766b-3055-64fd-ea17d52f410d}">
          <p14:sldIdLst/>
        </p14:section>
        <p14:section name="Monitoring on the web" id="{91bbe690-58ae-8d4a-9820-cf9d67ceeb4a}">
          <p14:sldIdLst>
            <p14:sldId id="270"/>
          </p14:sldIdLst>
        </p14:section>
        <p14:section name="Key controls" id="{3b9a6fe2-d828-eff3-68a7-88e16247304a}">
          <p14:sldIdLst>
            <p14:sldId id="271"/>
          </p14:sldIdLst>
        </p14:section>
        <p14:section name="Pictures (opened from the steps)" id="{e3cd1f8e-0a9b-0954-c93d-89b460792ddf}">
          <p14:sldIdLst>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28"/>
            <p14:sldId id="32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notesMaster" Target="notesMasters/notesMaster1.xml"/><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The deck walks through every process with real screens captured from the running system with sample data (Hyundai delivery FGCHN2627/13050).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use the deck: process slides in order; each step links to its full picture. The pictures are at the end of the file and are reached only by clicking.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server serves all plants. The HHT never shows the server address - only Online (green) or Offline (red). The plant is chosen at sign-in and every list on the HHT is for that plant.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lists come from the Dispatch Planning Bench (PDI is done there). After invoicing, the ERP drops the GCS file on the FTP folder of the plant; AssetTrack reads it within 60 seconds and joins it with its Bench trip into one record. The HHT gets the loading sheet with vehicle, invoices, items and the part cards that passed PDI.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Scanning a pallet QR picks its part cards from the GCS automatically. A part card that is not on the GCS has not passed PDI for this vehicle - the HHT stops with a red alert and records it. Finish loading compares the loaded quantity with the invoice quantity, then makes the challan and prints the GCS + challan on the plant network printer.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Scanning a pallet QR picks its part cards from the GCS automatically. A part card that is not on the GCS has not passed PDI for this vehicle - the HHT stops with a red alert and records it. Finish loading compares the loaded quantity with the invoice quantity, then makes the challan and prints the GCS + challan on the plant network printer.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Approved vehicles wait at the gate. Security scans the GCS QR printed after loading. A changed or home-made QR fails the check code and the vehicle is held. On a genuine QR the pallets become AT CUSTOMER and holding days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customer HHT is paired once with a QR from the AssetTrack web (Customers › HHT pairing). Customer staff have their own user (role Customer Staff). While unloading they scan each pallet; AIS sees received / missing / extra at once. The customer HHT also works without network and sends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A return slips are made only on the customer HHT. The return slip number is generated automatically. The customer DC number is optional. The slip QR is signed; without network the HHT signs it with its own device key (RO- slip) and it is still accepted at the AIS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inward vehicles are registered at gate entry: one gate entry number and one GCS inward each. Option A: scan the slip QR. Option B: security makes the slip at the gate - a photo of the customer document is required; the HHT reads it and matches the pallet numbers with the ledger. Other AIS plants: only with that plant challan (scan its QR).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inward vehicles are registered at gate entry: one gate entry number and one GCS inward each. Option A: scan the slip QR. Option B: security makes the slip at the gate - a photo of the customer document is required; the HHT reads it and matches the pallet numbers with the ledger. Other AIS plants: only with that plant challan (scan its QR).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A: the slip has the pallet list - each scanned pallet is ticked against it, then reconcile and close. Option B: step 1 view the customer document photo (scanning starts after it), step 2 scan each pallet - matched with the document, step 3 the count must equal the gate count. Any difference needs the supervisor PIN.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plants pallets emptied in FGWH / Packing go to the Yard and are HELD for their owner. Empty Pallet Return: scan them at the Yard, finish loading - EBS challan and e-way bill are made and the challan prints on the plant printer. Logistics approves, OUT gate scans the challan. At the owner plant, the IN gate scans the same challan (gate entry), and the yard scans each pallet against the challan and closes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plants pallets emptied in FGWH / Packing go to the Yard and are HELD for their owner. Empty Pallet Return: scan them at the Yard, finish loading - EBS challan and e-way bill are made and the challan prints on the plant printer. Logistics approves, OUT gate scans the challan. At the owner plant, the IN gate scans the same challan (gate entry), and the yard scans each pallet against the challan and closes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web is for masters, uploads, approvals, reports and live view. Scanning is done only on the HHT. Every list has Excel and PDF 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controls that stop wrong material, wrong vehicles and lost pallets. Click a card title to open its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and sign-in - step 1: Connect to the server. Setup › 1. Server: scan the "HHT setup QR" shown by the tray icon on the server PC. The HHT tries every address in the QR and keeps the ones that answer. The address itself is never shown - only Online / Offline. IT can still enter it under "Enter manually".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and sign-in - step 2: Sign in. The status line shows only Online (green) or Offline (red). Setup (server, printer, vehicles) and Test printer are available before anyone signs in, so the Bluetooth printer can be checked at the start of the shift. "Customer device" pairs an HHT that will be used at a customer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and sign-in - step 3: Home menu by role. After sign-in the user (and plant) is shown on top with Online and pending-sync status. Tiles come from the user roles: Vehicle Loading, OUT Gate, IN Gate, Return Slip (Option B), Yard In-ward, Empty Pallet Return, moves, lookup. Users with extra plants choose the plant at sign-in; Bench trips and GCS lists follow that plant.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and sign-in - step 4: Vehicle list. Setup › 3. Vehicles: vehicles known to AIS come from the server (recent loads, transporter master); others can be added here. The list is used for quick picking on return slips, also when the HHT has no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Dispatch planning → GCS loading sheet - step 1: GCS inbox (web). Masters › GCS inbox: every plant has its own FTP folder; files are read every 60 s. One GCS file = one loading sheet: vehicle, customer, invoices, items, part cards (LPN) and pallet references. A GCS cancelled in the ERP cancels the loading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Dispatch planning → GCS loading sheet - step 2: Pick lists (web). Operations › Pick Lists shows each trip / GCS with pallets, invoice, challan, e-way bill and status. A Dispatch Bench trip and its GCS are joined into one record (LINKED) so the trip is not loaded twice. Empty pallet returns to other plants (Yard loading) appear here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Dispatch planning → GCS loading sheet - step 3: Loading sheets on the HHT. Vehicle Loading lists the open GCS loading sheets of the plant the user signed in to. The GCS QR can also be scanned to open its sheet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Dispatch planning → GCS loading sheet - step 4: Loading sheet. Header: GCS number, customer, vehicle and invoices. The invoice lines (item, quantity) and the expected pallets are shown; rings count part cards and pallets loaded.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Vehicle loading against the GCS - step 1: Scan a pallet. Scan the pallet QR (or a part card). The part card on that pallet is taken from the GCS file automatically. Rings: part cards and pallets loaded vs expected.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Vehicle loading against the GCS - step 2: STOP - do PDI. A part card that is not in this GCS is not PDI-passed for this vehicle. The HHT shows a red STOP banner: "do PDI first, keep it off the vehicle" and records it in Missed Scans. A card belonging to another GCS is refused as "wrong vehicle".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Vehicle loading against the GCS - step 3: Quantity check. "Finish loading" first compares the invoice quantity (GCS) with the quantity on the part cards loaded. Here 3 of 4 pallets are loaded: invoice 280, loaded 200 - NOT MATCHING. The user can go back ("Not yet") and load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Vehicle loading against the GCS - step 4: Finish loading. All pallets loaded: invoice 280 · loaded 280 ✓. Finish loading makes the returnable-pallet challan and the signed GCS QR for the OUT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Vehicle loading against the GCS - step 5: Challan + GCS printed. Challan CHN/00005 is made and the vehicle is APPROVED for the gate. GCS + challan are queued on the plant shared / network printer set in Masters › Plants (here \\AISCHN-PRN01\FGWH-Laser). No Bluetooth printer is used for dispatch. "Print again" reprints on the same plant printer.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Vehicle loading against the GCS - step 6: Output: GCS gate pass. Finished Goods gate pass from the ERP data: invoices, items, quantity, amount, pallets loaded and the pallet challan number. The QR is signed by AssetTrack - the OUT gate accepts only this QR. Sign boxes: PDI, Logistics,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Vehicle loading against the GCS - step 7: Output: pallet challan. Delivery challan for the returnable pallets: pallet types with HSN and value (from the Pallet Type master) and every pallet number. Printed with the GCS on the plant printer (original / duplicate / triplicate).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 gate - step 1: Vehicles waiting. OUT Gate lists the vehicles approved and waiting. A paper-challan override exists but needs a supervisor PIN and is written to the audit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 gate - step 2: Forged QR refused. A QR that was not printed by AssetTrack (or was altered) fails the check code. The HHT says "HOLD VEHICLE" - nothing is dispatched.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 gate - step 3: Dispatched. Genuine GCS QR: the trip is DISPATCHED; the 4 pallets are now AT CUSTOMER (HMIL) with the challan reference. Holding days start from here; reminders are mailed before and after the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customer - receive delivery - step 1: Pair the customer HHT. On the login screen: Customer device › scan the pairing QR made on the AssetTrack web for this customer. The HHT gets its own device key; AIS can remove it any time. No server address is shown - only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customer - receive delivery - step 2: Customer staff sign-in. Customer staff sign in with the user given by AIS (role Customer Staff, linked to the customer). Sign-in also works without network after the first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customer - receive delivery - step 3: Customer home. Shows AIS pallets at this customer and how many are over the holding limit. Tasks: Receive delivery, Return empty pallets, Pallets with us, Our return slips.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customer - receive delivery - step 4: Unload: pallets to scan. Pick the vehicle (or scan the gate pass QR). The pallets on the delivery are listed. Rings: received · still to scan · extra.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customer - receive delivery - step 5: Scan while unloading. Each scanned pallet is ticked "received". A pallet not on this delivery is counted as extra.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customer - receive delivery - step 6: Delivery received. Finish unloading sends the result: 4/4 received. AIS sees received / missing / extra per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empty pallets - Option A (customer) - step 1: Pallets with us. Every AIS pallet at this customer with days held, pallet type, challan and date 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empty pallets - Option A (customer) - step 2: Scan pallets + vehicle. Scan each empty pallet - each is checked against the ledger (OK / CHECK). Pick or type the vehicle; customer DC number, driver name and mobile are optional. The return slip number is generated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empty pallets - Option A (customer) - step 3: Confirm. A last check before the slip is made: number of pallets and vehicle.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empty pallets - Option A (customer) - step 4: Slip ready. Return slip CHN-RTS-000008 with its signed QR. Printed on the customer site Bluetooth printer (2 copies) and handed to the driver; the AIS IN gate scans this QR.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empty pallets - Option A (customer) - step 5: Output: Option A slip. 58 / 80 mm thermal slip from any Bluetooth printer (ESC/POS, CPCL, ZPL, TSPL). Shows the slip number, signed QR, customer, vehicle, customer DC and every pallet returned.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gate - every inward is registered - step 1: IN gate. Customer vehicle: scan the return slip QR. AIS plant vehicle: scan the challan QR. Customer vehicle without a slip: make Option B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gate - every inward is registered - step 2: Option A registered. The signed slip QR is verified (an altered label is refused - HOLD VEHICLE). Gate entry CHN-GE-000007 is made with the GCS inward number; the slip is IN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gate - every inward is registered - step 3: Option B: count + vehicle. Option B = number of pallets only, made by IN-gate security. The slip cannot be made or printed until a photo of the customer document is taken.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gate - every inward is registered - step 4: Photo of customer DC. Photograph the customer DC / challan / pallet list - every page. Works offline; the photo uploads when the HHT is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gate - every inward is registered - step 5: Read and matched. The text is read on the HHT and matched with the pallets AIS shows at this customer. Pallet numbers, types with quantity (F - 4) or just a total are understood; DC, vehicle and PIN numbers are ignored.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gate - every inward is registered - step 6: Option B slip. Slip CHN-RTS-000009 is made and gate entry CHN-GE-000008 registered in one step. The slip (count only) prints on the gate Bluetooth printer; shown here as text because no printer is connected.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gate - every inward is registered - step 7: Customer document. The photo is stored with the slip for future reference. The pallet yard sees it on the HHT while receiving, and the web shows it in the slip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gate - every inward is registered - step 8: Output: Option B slip. Option B slip shows the number of pallets only - no pallet list. It is scanned and knocked off at pallet-yard receiving.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gate - every inward is registered - step 9: Gate inward register (web). Operations › Gate Inward Register: every inward vehicle - Option A scanned, Option B made at gate, other-plant challan - with gate entry, GCS-IN and yard status. Today / 7 / 30 / 90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Pallet yard in-ward - step 1: Slips to receive. Yard In-ward lists the open slips with their type: "Option A · 2 pallets listed", "Option B · count 2 + document photo". Scan the slip QR or tap a slip.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Pallet yard in-ward - step 2: Option A: steps. Banner: OPTION A - customer return slip with pallet list. 1 Scan each pallet · 2 Reconcile with the slip · 3 Close. Pallets on the slip not yet received are listed below.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Pallet yard in-ward - step 3: Option A: all matched. Both pallets received - all matched. Short or extra pallets would need the supervisor PIN.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Pallet yard in-ward - step 4: Option B: steps. Banner: OPTION B - count made at the IN gate. The customer document bar shows pallet numbers read and the total; the first scan opens the photo.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Pallet yard in-ward - step 5: Option B: view document. The photo taken at the IN gate, with zoom. Scanning starts after the document has been viewed.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Pallet yard in-ward - step 6: Option B: count matches. Each pallet is marked "on doc" when it is on the customer document. Count 2 = gate count 2: closes without PIN. A difference needs the supervisor PIN.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Plant to plant - other plants’ pallets - step 1: New empty return. Empty Pallet Return › New: choose the owner plant (pallets HELD here for it are counted) and the vehicle.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Plant to plant - other plants’ pallets - step 2: Load at the yard. Scan each of the owner plant pallets loaded on the vehicle.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Plant to plant - other plants’ pallets - step 3: Challan + e-way bill. Finish loading makes the EBS challan and e-way bill. The challan prints automatically on the plant network printer.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Plant to plant - other plants’ pallets - step 4: Output: return challan. Delivery challan - return of empty pallets owned by AIS PUN; types, HSN, value and pallet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Plant to plant - other plants’ pallets - step 5: OUT gate. After logistics approval the OUT gate scans the challan QR: 3 pallets → PUN, IN TRANSIT.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Plant to plant - other plants’ pallets - step 6: PUN IN gate. At the owner plant the IN gate scans the same challan: gate entry PUN-GE-000002, GCS inward. Pallets from other plants are accepted only on that plant challan.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Plant to plant - other plants’ pallets - step 7: PUN yard: challan. Yard In-ward shows the challan: OTHER-PLANT CHALLAN - our pallets back from CHN, with the pallets to scan.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Plant to plant - other plants’ pallets - step 8: Received and closed. All 3 pallets ticked; Reconcile &amp; close. The pallets are AVAILABLE at their home plant.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Monitoring on the web - step 1: Dashboard. Pallets at home, at customers, at other plants, overdue, missed scans - per plant or all plants. Holding by age, dispatched vs returned per week, turnaround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Monitoring on the web - step 2: Plant position. For one plant: own pallets at home by zone (loaded / empty), at other plants, in transit, at customers, damaged.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Monitoring on the web - step 3: Return slip details. Each slip with its pallets (declared / received / exception) and, for Option B, the document photo and the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Monitoring on the web - step 4: Missed scans. Every scan point checks what should have happened before. A skipped scan is recorded with the role that missed it and corrected when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Monitoring on the web - step 5: Live transactions. Every HHT scan and movement, refreshed every 10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Monitoring on the web - step 6: Transporter master. Masters › Transporters: Template with sample, Current data, Upload - now also for Logistics and Plant Admin (own plant). New transporters on a GCS file are added automatically with their vehicles.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E2A5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EEF1F7"/>
        </a:solidFill>
      </p:bgPr>
    </p:bg>
    <p:spTree>
      <p:nvGrpSpPr>
        <p:cNvPr id="1" name=""/>
        <p:cNvGrpSpPr/>
        <p:nvPr/>
      </p:nvGrpSpPr>
      <p:grpSpPr>
        <a:xfrm>
          <a:off x="0" y="0"/>
          <a:ext cx="0" cy="0"/>
          <a:chOff x="0" y="0"/>
          <a:chExt cx="0" cy="0"/>
        </a:xfrm>
      </p:grpSpPr>
      <p:sp>
        <p:nvSpPr>
          <p:cNvPr id="2" name="Text 0"/>
          <p:cNvSpPr/>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chemeClr val="tx2"/>
                </a:solidFill>
              </a:rPr>
              <a:t>AIS AssetTrack · process walkthrough</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ICTURE">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chemeClr val="tx2"/>
                </a:solidFill>
              </a:rPr>
              <a:t>AIS AssetTrack · process walkthrough</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slide" Target="slide3.xml"/><Relationship Id="rId4" Type="http://schemas.openxmlformats.org/officeDocument/2006/relationships/slide" Target="slide3.xml"/><Relationship Id="rId5" Type="http://schemas.openxmlformats.org/officeDocument/2006/relationships/slide" Target="slide4.xml"/><Relationship Id="rId7" Type="http://schemas.openxmlformats.org/officeDocument/2006/relationships/slide" Target="slide4.xml"/><Relationship Id="rId8" Type="http://schemas.openxmlformats.org/officeDocument/2006/relationships/slide" Target="slide5.xml"/><Relationship Id="rId10" Type="http://schemas.openxmlformats.org/officeDocument/2006/relationships/slide" Target="slide5.xml"/><Relationship Id="rId11" Type="http://schemas.openxmlformats.org/officeDocument/2006/relationships/slide" Target="slide7.xml"/><Relationship Id="rId13" Type="http://schemas.openxmlformats.org/officeDocument/2006/relationships/slide" Target="slide7.xml"/><Relationship Id="rId14" Type="http://schemas.openxmlformats.org/officeDocument/2006/relationships/slide" Target="slide8.xml"/><Relationship Id="rId16" Type="http://schemas.openxmlformats.org/officeDocument/2006/relationships/slide" Target="slide8.xml"/><Relationship Id="rId17" Type="http://schemas.openxmlformats.org/officeDocument/2006/relationships/slide" Target="slide9.xml"/><Relationship Id="rId19" Type="http://schemas.openxmlformats.org/officeDocument/2006/relationships/slide" Target="slide9.xml"/><Relationship Id="rId20" Type="http://schemas.openxmlformats.org/officeDocument/2006/relationships/slide" Target="slide10.xml"/><Relationship Id="rId22" Type="http://schemas.openxmlformats.org/officeDocument/2006/relationships/slide" Target="slide10.xml"/><Relationship Id="rId23" Type="http://schemas.openxmlformats.org/officeDocument/2006/relationships/slide" Target="slide12.xml"/><Relationship Id="rId25" Type="http://schemas.openxmlformats.org/officeDocument/2006/relationships/slide" Target="slide12.xml"/><Relationship Id="rId26" Type="http://schemas.openxmlformats.org/officeDocument/2006/relationships/slide" Target="slide13.xml"/><Relationship Id="rId28" Type="http://schemas.openxmlformats.org/officeDocument/2006/relationships/slide" Target="slide13.xml"/><Relationship Id="rId29" Type="http://schemas.openxmlformats.org/officeDocument/2006/relationships/slide" Target="slide15.xml"/><Relationship Id="rId31" Type="http://schemas.openxmlformats.org/officeDocument/2006/relationships/slide" Target="slide15.xml"/><Relationship Id="rId1" Type="http://schemas.openxmlformats.org/officeDocument/2006/relationships/image" Target="../media/image-2-1.png"/><Relationship Id="rId3" Type="http://schemas.openxmlformats.org/officeDocument/2006/relationships/image" Target="../media/image-2-2.png"/><Relationship Id="rId6" Type="http://schemas.openxmlformats.org/officeDocument/2006/relationships/image" Target="../media/image-2-3.png"/><Relationship Id="rId9" Type="http://schemas.openxmlformats.org/officeDocument/2006/relationships/image" Target="../media/image-2-4.png"/><Relationship Id="rId12" Type="http://schemas.openxmlformats.org/officeDocument/2006/relationships/image" Target="../media/image-2-5.png"/><Relationship Id="rId15" Type="http://schemas.openxmlformats.org/officeDocument/2006/relationships/image" Target="../media/image-2-6.png"/><Relationship Id="rId18" Type="http://schemas.openxmlformats.org/officeDocument/2006/relationships/image" Target="../media/image-2-7.png"/><Relationship Id="rId21" Type="http://schemas.openxmlformats.org/officeDocument/2006/relationships/image" Target="../media/image-2-8.png"/><Relationship Id="rId24" Type="http://schemas.openxmlformats.org/officeDocument/2006/relationships/image" Target="../media/image-2-9.png"/><Relationship Id="rId27" Type="http://schemas.openxmlformats.org/officeDocument/2006/relationships/image" Target="../media/image-2-10.png"/><Relationship Id="rId30" Type="http://schemas.openxmlformats.org/officeDocument/2006/relationships/image" Target="../media/image-2-11.png"/><Relationship Id="rId32" Type="http://schemas.openxmlformats.org/officeDocument/2006/relationships/slideLayout" Target="../slideLayouts/slideLayout3.xml"/><Relationship Id="rId3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slide" Target="slide2.xml"/><Relationship Id="rId4" Type="http://schemas.openxmlformats.org/officeDocument/2006/relationships/slide" Target="slide17.xml"/><Relationship Id="rId6" Type="http://schemas.openxmlformats.org/officeDocument/2006/relationships/slide" Target="slide17.xml"/><Relationship Id="rId8" Type="http://schemas.openxmlformats.org/officeDocument/2006/relationships/slide" Target="slide18.xml"/><Relationship Id="rId10" Type="http://schemas.openxmlformats.org/officeDocument/2006/relationships/slide" Target="slide18.xml"/><Relationship Id="rId12" Type="http://schemas.openxmlformats.org/officeDocument/2006/relationships/slide" Target="slide19.xml"/><Relationship Id="rId14" Type="http://schemas.openxmlformats.org/officeDocument/2006/relationships/slide" Target="slide19.xml"/><Relationship Id="rId16" Type="http://schemas.openxmlformats.org/officeDocument/2006/relationships/slide" Target="slide20.xml"/><Relationship Id="rId18" Type="http://schemas.openxmlformats.org/officeDocument/2006/relationships/slide" Target="slide20.xml"/><Relationship Id="rId1" Type="http://schemas.openxmlformats.org/officeDocument/2006/relationships/image" Target="../media/image-3-1.png"/><Relationship Id="rId3" Type="http://schemas.openxmlformats.org/officeDocument/2006/relationships/image" Target="../media/image-3-2.jpg"/><Relationship Id="rId5" Type="http://schemas.openxmlformats.org/officeDocument/2006/relationships/image" Target="../media/image-3-3.png"/><Relationship Id="rId7" Type="http://schemas.openxmlformats.org/officeDocument/2006/relationships/image" Target="../media/image-3-4.jpg"/><Relationship Id="rId9" Type="http://schemas.openxmlformats.org/officeDocument/2006/relationships/image" Target="../media/image-3-5.png"/><Relationship Id="rId11" Type="http://schemas.openxmlformats.org/officeDocument/2006/relationships/image" Target="../media/image-3-6.jpg"/><Relationship Id="rId13" Type="http://schemas.openxmlformats.org/officeDocument/2006/relationships/image" Target="../media/image-3-7.png"/><Relationship Id="rId15" Type="http://schemas.openxmlformats.org/officeDocument/2006/relationships/image" Target="../media/image-3-8.jpg"/><Relationship Id="rId17" Type="http://schemas.openxmlformats.org/officeDocument/2006/relationships/image" Target="../media/image-3-9.png"/><Relationship Id="rId19" Type="http://schemas.openxmlformats.org/officeDocument/2006/relationships/slideLayout" Target="../slideLayouts/slideLayout3.xml"/><Relationship Id="rId2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slide" Target="slide2.xml"/><Relationship Id="rId4" Type="http://schemas.openxmlformats.org/officeDocument/2006/relationships/slide" Target="slide21.xml"/><Relationship Id="rId6" Type="http://schemas.openxmlformats.org/officeDocument/2006/relationships/slide" Target="slide21.xml"/><Relationship Id="rId8" Type="http://schemas.openxmlformats.org/officeDocument/2006/relationships/slide" Target="slide22.xml"/><Relationship Id="rId10" Type="http://schemas.openxmlformats.org/officeDocument/2006/relationships/slide" Target="slide22.xml"/><Relationship Id="rId12" Type="http://schemas.openxmlformats.org/officeDocument/2006/relationships/slide" Target="slide23.xml"/><Relationship Id="rId14" Type="http://schemas.openxmlformats.org/officeDocument/2006/relationships/slide" Target="slide23.xml"/><Relationship Id="rId16" Type="http://schemas.openxmlformats.org/officeDocument/2006/relationships/slide" Target="slide24.xml"/><Relationship Id="rId18" Type="http://schemas.openxmlformats.org/officeDocument/2006/relationships/slide" Target="slide24.xml"/><Relationship Id="rId1" Type="http://schemas.openxmlformats.org/officeDocument/2006/relationships/image" Target="../media/image-4-1.png"/><Relationship Id="rId3" Type="http://schemas.openxmlformats.org/officeDocument/2006/relationships/image" Target="../media/image-4-2.jpg"/><Relationship Id="rId5" Type="http://schemas.openxmlformats.org/officeDocument/2006/relationships/image" Target="../media/image-4-3.png"/><Relationship Id="rId7" Type="http://schemas.openxmlformats.org/officeDocument/2006/relationships/image" Target="../media/image-4-4.jpg"/><Relationship Id="rId9" Type="http://schemas.openxmlformats.org/officeDocument/2006/relationships/image" Target="../media/image-4-5.png"/><Relationship Id="rId11" Type="http://schemas.openxmlformats.org/officeDocument/2006/relationships/image" Target="../media/image-4-6.jpg"/><Relationship Id="rId13" Type="http://schemas.openxmlformats.org/officeDocument/2006/relationships/image" Target="../media/image-4-7.png"/><Relationship Id="rId15" Type="http://schemas.openxmlformats.org/officeDocument/2006/relationships/image" Target="../media/image-4-8.jpg"/><Relationship Id="rId17" Type="http://schemas.openxmlformats.org/officeDocument/2006/relationships/image" Target="../media/image-4-9.png"/><Relationship Id="rId19" Type="http://schemas.openxmlformats.org/officeDocument/2006/relationships/slideLayout" Target="../slideLayouts/slideLayout3.xml"/><Relationship Id="rId2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slide" Target="slide2.xml"/><Relationship Id="rId4" Type="http://schemas.openxmlformats.org/officeDocument/2006/relationships/slide" Target="slide25.xml"/><Relationship Id="rId6" Type="http://schemas.openxmlformats.org/officeDocument/2006/relationships/slide" Target="slide25.xml"/><Relationship Id="rId8" Type="http://schemas.openxmlformats.org/officeDocument/2006/relationships/slide" Target="slide26.xml"/><Relationship Id="rId10" Type="http://schemas.openxmlformats.org/officeDocument/2006/relationships/slide" Target="slide26.xml"/><Relationship Id="rId12" Type="http://schemas.openxmlformats.org/officeDocument/2006/relationships/slide" Target="slide27.xml"/><Relationship Id="rId14" Type="http://schemas.openxmlformats.org/officeDocument/2006/relationships/slide" Target="slide27.xml"/><Relationship Id="rId16" Type="http://schemas.openxmlformats.org/officeDocument/2006/relationships/slide" Target="slide28.xml"/><Relationship Id="rId18" Type="http://schemas.openxmlformats.org/officeDocument/2006/relationships/slide" Target="slide28.xml"/><Relationship Id="rId20" Type="http://schemas.openxmlformats.org/officeDocument/2006/relationships/slide" Target="slide29.xml"/><Relationship Id="rId22" Type="http://schemas.openxmlformats.org/officeDocument/2006/relationships/slide" Target="slide29.xml"/><Relationship Id="rId1" Type="http://schemas.openxmlformats.org/officeDocument/2006/relationships/image" Target="../media/image-5-1.png"/><Relationship Id="rId3" Type="http://schemas.openxmlformats.org/officeDocument/2006/relationships/image" Target="../media/image-5-2.jpg"/><Relationship Id="rId5" Type="http://schemas.openxmlformats.org/officeDocument/2006/relationships/image" Target="../media/image-5-3.png"/><Relationship Id="rId7" Type="http://schemas.openxmlformats.org/officeDocument/2006/relationships/image" Target="../media/image-5-4.jpg"/><Relationship Id="rId9" Type="http://schemas.openxmlformats.org/officeDocument/2006/relationships/image" Target="../media/image-5-5.png"/><Relationship Id="rId11" Type="http://schemas.openxmlformats.org/officeDocument/2006/relationships/image" Target="../media/image-5-6.jpg"/><Relationship Id="rId13" Type="http://schemas.openxmlformats.org/officeDocument/2006/relationships/image" Target="../media/image-5-7.png"/><Relationship Id="rId15" Type="http://schemas.openxmlformats.org/officeDocument/2006/relationships/image" Target="../media/image-5-8.jpg"/><Relationship Id="rId17" Type="http://schemas.openxmlformats.org/officeDocument/2006/relationships/image" Target="../media/image-5-9.png"/><Relationship Id="rId19" Type="http://schemas.openxmlformats.org/officeDocument/2006/relationships/image" Target="../media/image-5-10.jpg"/><Relationship Id="rId21" Type="http://schemas.openxmlformats.org/officeDocument/2006/relationships/image" Target="../media/image-5-11.png"/><Relationship Id="rId23" Type="http://schemas.openxmlformats.org/officeDocument/2006/relationships/slideLayout" Target="../slideLayouts/slideLayout3.xml"/><Relationship Id="rId2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slide" Target="slide2.xml"/><Relationship Id="rId4" Type="http://schemas.openxmlformats.org/officeDocument/2006/relationships/slide" Target="slide30.xml"/><Relationship Id="rId6" Type="http://schemas.openxmlformats.org/officeDocument/2006/relationships/slide" Target="slide30.xml"/><Relationship Id="rId8" Type="http://schemas.openxmlformats.org/officeDocument/2006/relationships/slide" Target="slide31.xml"/><Relationship Id="rId10" Type="http://schemas.openxmlformats.org/officeDocument/2006/relationships/slide" Target="slide31.xml"/><Relationship Id="rId1" Type="http://schemas.openxmlformats.org/officeDocument/2006/relationships/image" Target="../media/image-6-1.png"/><Relationship Id="rId3" Type="http://schemas.openxmlformats.org/officeDocument/2006/relationships/image" Target="../media/image-6-2.jpg"/><Relationship Id="rId5" Type="http://schemas.openxmlformats.org/officeDocument/2006/relationships/image" Target="../media/image-6-3.png"/><Relationship Id="rId7" Type="http://schemas.openxmlformats.org/officeDocument/2006/relationships/image" Target="../media/image-6-4.jpg"/><Relationship Id="rId9" Type="http://schemas.openxmlformats.org/officeDocument/2006/relationships/image" Target="../media/image-6-5.png"/><Relationship Id="rId11" Type="http://schemas.openxmlformats.org/officeDocument/2006/relationships/slideLayout" Target="../slideLayouts/slideLayout3.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slide" Target="slide2.xml"/><Relationship Id="rId4" Type="http://schemas.openxmlformats.org/officeDocument/2006/relationships/slide" Target="slide32.xml"/><Relationship Id="rId6" Type="http://schemas.openxmlformats.org/officeDocument/2006/relationships/slide" Target="slide32.xml"/><Relationship Id="rId8" Type="http://schemas.openxmlformats.org/officeDocument/2006/relationships/slide" Target="slide33.xml"/><Relationship Id="rId10" Type="http://schemas.openxmlformats.org/officeDocument/2006/relationships/slide" Target="slide33.xml"/><Relationship Id="rId12" Type="http://schemas.openxmlformats.org/officeDocument/2006/relationships/slide" Target="slide34.xml"/><Relationship Id="rId14" Type="http://schemas.openxmlformats.org/officeDocument/2006/relationships/slide" Target="slide34.xml"/><Relationship Id="rId1" Type="http://schemas.openxmlformats.org/officeDocument/2006/relationships/image" Target="../media/image-7-1.png"/><Relationship Id="rId3" Type="http://schemas.openxmlformats.org/officeDocument/2006/relationships/image" Target="../media/image-7-2.jpg"/><Relationship Id="rId5" Type="http://schemas.openxmlformats.org/officeDocument/2006/relationships/image" Target="../media/image-7-3.png"/><Relationship Id="rId7" Type="http://schemas.openxmlformats.org/officeDocument/2006/relationships/image" Target="../media/image-7-4.jpg"/><Relationship Id="rId9" Type="http://schemas.openxmlformats.org/officeDocument/2006/relationships/image" Target="../media/image-7-5.png"/><Relationship Id="rId11" Type="http://schemas.openxmlformats.org/officeDocument/2006/relationships/image" Target="../media/image-7-6.jpg"/><Relationship Id="rId13" Type="http://schemas.openxmlformats.org/officeDocument/2006/relationships/image" Target="../media/image-7-7.png"/><Relationship Id="rId15" Type="http://schemas.openxmlformats.org/officeDocument/2006/relationships/slideLayout" Target="../slideLayouts/slideLayout3.xml"/><Relationship Id="rId1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slide" Target="slide2.xml"/><Relationship Id="rId4" Type="http://schemas.openxmlformats.org/officeDocument/2006/relationships/slide" Target="slide35.xml"/><Relationship Id="rId6" Type="http://schemas.openxmlformats.org/officeDocument/2006/relationships/slide" Target="slide35.xml"/><Relationship Id="rId8" Type="http://schemas.openxmlformats.org/officeDocument/2006/relationships/slide" Target="slide36.xml"/><Relationship Id="rId10" Type="http://schemas.openxmlformats.org/officeDocument/2006/relationships/slide" Target="slide36.xml"/><Relationship Id="rId12" Type="http://schemas.openxmlformats.org/officeDocument/2006/relationships/slide" Target="slide37.xml"/><Relationship Id="rId14" Type="http://schemas.openxmlformats.org/officeDocument/2006/relationships/slide" Target="slide37.xml"/><Relationship Id="rId16" Type="http://schemas.openxmlformats.org/officeDocument/2006/relationships/slide" Target="slide38.xml"/><Relationship Id="rId18" Type="http://schemas.openxmlformats.org/officeDocument/2006/relationships/slide" Target="slide38.xml"/><Relationship Id="rId20" Type="http://schemas.openxmlformats.org/officeDocument/2006/relationships/slide" Target="slide39.xml"/><Relationship Id="rId22" Type="http://schemas.openxmlformats.org/officeDocument/2006/relationships/slide" Target="slide39.xml"/><Relationship Id="rId24" Type="http://schemas.openxmlformats.org/officeDocument/2006/relationships/slide" Target="slide40.xml"/><Relationship Id="rId26" Type="http://schemas.openxmlformats.org/officeDocument/2006/relationships/slide" Target="slide40.xml"/><Relationship Id="rId1" Type="http://schemas.openxmlformats.org/officeDocument/2006/relationships/image" Target="../media/image-8-1.png"/><Relationship Id="rId3" Type="http://schemas.openxmlformats.org/officeDocument/2006/relationships/image" Target="../media/image-8-2.jpg"/><Relationship Id="rId5" Type="http://schemas.openxmlformats.org/officeDocument/2006/relationships/image" Target="../media/image-8-3.png"/><Relationship Id="rId7" Type="http://schemas.openxmlformats.org/officeDocument/2006/relationships/image" Target="../media/image-8-4.jpg"/><Relationship Id="rId9" Type="http://schemas.openxmlformats.org/officeDocument/2006/relationships/image" Target="../media/image-8-5.png"/><Relationship Id="rId11" Type="http://schemas.openxmlformats.org/officeDocument/2006/relationships/image" Target="../media/image-8-6.jpg"/><Relationship Id="rId13" Type="http://schemas.openxmlformats.org/officeDocument/2006/relationships/image" Target="../media/image-8-7.png"/><Relationship Id="rId15" Type="http://schemas.openxmlformats.org/officeDocument/2006/relationships/image" Target="../media/image-8-8.jpg"/><Relationship Id="rId17" Type="http://schemas.openxmlformats.org/officeDocument/2006/relationships/image" Target="../media/image-8-9.png"/><Relationship Id="rId19" Type="http://schemas.openxmlformats.org/officeDocument/2006/relationships/image" Target="../media/image-8-10.jpg"/><Relationship Id="rId21" Type="http://schemas.openxmlformats.org/officeDocument/2006/relationships/image" Target="../media/image-8-11.png"/><Relationship Id="rId23" Type="http://schemas.openxmlformats.org/officeDocument/2006/relationships/image" Target="../media/image-8-12.jpg"/><Relationship Id="rId25" Type="http://schemas.openxmlformats.org/officeDocument/2006/relationships/image" Target="../media/image-8-13.png"/><Relationship Id="rId27" Type="http://schemas.openxmlformats.org/officeDocument/2006/relationships/slideLayout" Target="../slideLayouts/slideLayout3.xml"/><Relationship Id="rId2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slide" Target="slide2.xml"/><Relationship Id="rId4" Type="http://schemas.openxmlformats.org/officeDocument/2006/relationships/slide" Target="slide41.xml"/><Relationship Id="rId6" Type="http://schemas.openxmlformats.org/officeDocument/2006/relationships/slide" Target="slide41.xml"/><Relationship Id="rId8" Type="http://schemas.openxmlformats.org/officeDocument/2006/relationships/slide" Target="slide42.xml"/><Relationship Id="rId10" Type="http://schemas.openxmlformats.org/officeDocument/2006/relationships/slide" Target="slide42.xml"/><Relationship Id="rId12" Type="http://schemas.openxmlformats.org/officeDocument/2006/relationships/slide" Target="slide43.xml"/><Relationship Id="rId14" Type="http://schemas.openxmlformats.org/officeDocument/2006/relationships/slide" Target="slide43.xml"/><Relationship Id="rId16" Type="http://schemas.openxmlformats.org/officeDocument/2006/relationships/slide" Target="slide44.xml"/><Relationship Id="rId18" Type="http://schemas.openxmlformats.org/officeDocument/2006/relationships/slide" Target="slide44.xml"/><Relationship Id="rId20" Type="http://schemas.openxmlformats.org/officeDocument/2006/relationships/slide" Target="slide45.xml"/><Relationship Id="rId22" Type="http://schemas.openxmlformats.org/officeDocument/2006/relationships/slide" Target="slide45.xml"/><Relationship Id="rId1" Type="http://schemas.openxmlformats.org/officeDocument/2006/relationships/image" Target="../media/image-9-1.png"/><Relationship Id="rId3" Type="http://schemas.openxmlformats.org/officeDocument/2006/relationships/image" Target="../media/image-9-2.jpg"/><Relationship Id="rId5" Type="http://schemas.openxmlformats.org/officeDocument/2006/relationships/image" Target="../media/image-9-3.png"/><Relationship Id="rId7" Type="http://schemas.openxmlformats.org/officeDocument/2006/relationships/image" Target="../media/image-9-4.jpg"/><Relationship Id="rId9" Type="http://schemas.openxmlformats.org/officeDocument/2006/relationships/image" Target="../media/image-9-5.png"/><Relationship Id="rId11" Type="http://schemas.openxmlformats.org/officeDocument/2006/relationships/image" Target="../media/image-9-6.jpg"/><Relationship Id="rId13" Type="http://schemas.openxmlformats.org/officeDocument/2006/relationships/image" Target="../media/image-9-7.png"/><Relationship Id="rId15" Type="http://schemas.openxmlformats.org/officeDocument/2006/relationships/image" Target="../media/image-9-8.jpg"/><Relationship Id="rId17" Type="http://schemas.openxmlformats.org/officeDocument/2006/relationships/image" Target="../media/image-9-9.png"/><Relationship Id="rId19" Type="http://schemas.openxmlformats.org/officeDocument/2006/relationships/image" Target="../media/image-9-10.jpg"/><Relationship Id="rId21" Type="http://schemas.openxmlformats.org/officeDocument/2006/relationships/image" Target="../media/image-9-11.png"/><Relationship Id="rId23" Type="http://schemas.openxmlformats.org/officeDocument/2006/relationships/slideLayout" Target="../slideLayouts/slideLayout3.xml"/><Relationship Id="rId2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slide" Target="slide2.xml"/><Relationship Id="rId4" Type="http://schemas.openxmlformats.org/officeDocument/2006/relationships/slide" Target="slide46.xml"/><Relationship Id="rId6" Type="http://schemas.openxmlformats.org/officeDocument/2006/relationships/slide" Target="slide46.xml"/><Relationship Id="rId8" Type="http://schemas.openxmlformats.org/officeDocument/2006/relationships/slide" Target="slide47.xml"/><Relationship Id="rId10" Type="http://schemas.openxmlformats.org/officeDocument/2006/relationships/slide" Target="slide47.xml"/><Relationship Id="rId12" Type="http://schemas.openxmlformats.org/officeDocument/2006/relationships/slide" Target="slide48.xml"/><Relationship Id="rId14" Type="http://schemas.openxmlformats.org/officeDocument/2006/relationships/slide" Target="slide48.xml"/><Relationship Id="rId16" Type="http://schemas.openxmlformats.org/officeDocument/2006/relationships/slide" Target="slide49.xml"/><Relationship Id="rId18" Type="http://schemas.openxmlformats.org/officeDocument/2006/relationships/slide" Target="slide49.xml"/><Relationship Id="rId20" Type="http://schemas.openxmlformats.org/officeDocument/2006/relationships/slide" Target="slide50.xml"/><Relationship Id="rId22" Type="http://schemas.openxmlformats.org/officeDocument/2006/relationships/slide" Target="slide50.xml"/><Relationship Id="rId24" Type="http://schemas.openxmlformats.org/officeDocument/2006/relationships/slide" Target="slide51.xml"/><Relationship Id="rId26" Type="http://schemas.openxmlformats.org/officeDocument/2006/relationships/slide" Target="slide51.xml"/><Relationship Id="rId1" Type="http://schemas.openxmlformats.org/officeDocument/2006/relationships/image" Target="../media/image-10-1.png"/><Relationship Id="rId3" Type="http://schemas.openxmlformats.org/officeDocument/2006/relationships/image" Target="../media/image-10-2.jpg"/><Relationship Id="rId5" Type="http://schemas.openxmlformats.org/officeDocument/2006/relationships/image" Target="../media/image-10-3.png"/><Relationship Id="rId7" Type="http://schemas.openxmlformats.org/officeDocument/2006/relationships/image" Target="../media/image-10-4.jpg"/><Relationship Id="rId9" Type="http://schemas.openxmlformats.org/officeDocument/2006/relationships/image" Target="../media/image-10-5.png"/><Relationship Id="rId11" Type="http://schemas.openxmlformats.org/officeDocument/2006/relationships/image" Target="../media/image-10-6.jpg"/><Relationship Id="rId13" Type="http://schemas.openxmlformats.org/officeDocument/2006/relationships/image" Target="../media/image-10-7.png"/><Relationship Id="rId15" Type="http://schemas.openxmlformats.org/officeDocument/2006/relationships/image" Target="../media/image-10-8.jpg"/><Relationship Id="rId17" Type="http://schemas.openxmlformats.org/officeDocument/2006/relationships/image" Target="../media/image-10-9.png"/><Relationship Id="rId19" Type="http://schemas.openxmlformats.org/officeDocument/2006/relationships/image" Target="../media/image-10-10.jpg"/><Relationship Id="rId21" Type="http://schemas.openxmlformats.org/officeDocument/2006/relationships/image" Target="../media/image-10-11.png"/><Relationship Id="rId23" Type="http://schemas.openxmlformats.org/officeDocument/2006/relationships/image" Target="../media/image-10-12.jpg"/><Relationship Id="rId25" Type="http://schemas.openxmlformats.org/officeDocument/2006/relationships/image" Target="../media/image-10-13.png"/><Relationship Id="rId27" Type="http://schemas.openxmlformats.org/officeDocument/2006/relationships/slideLayout" Target="../slideLayouts/slideLayout3.xml"/><Relationship Id="rId2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slide" Target="slide2.xml"/><Relationship Id="rId4" Type="http://schemas.openxmlformats.org/officeDocument/2006/relationships/slide" Target="slide52.xml"/><Relationship Id="rId6" Type="http://schemas.openxmlformats.org/officeDocument/2006/relationships/slide" Target="slide52.xml"/><Relationship Id="rId8" Type="http://schemas.openxmlformats.org/officeDocument/2006/relationships/slide" Target="slide53.xml"/><Relationship Id="rId10" Type="http://schemas.openxmlformats.org/officeDocument/2006/relationships/slide" Target="slide53.xml"/><Relationship Id="rId12" Type="http://schemas.openxmlformats.org/officeDocument/2006/relationships/slide" Target="slide54.xml"/><Relationship Id="rId14" Type="http://schemas.openxmlformats.org/officeDocument/2006/relationships/slide" Target="slide54.xml"/><Relationship Id="rId1" Type="http://schemas.openxmlformats.org/officeDocument/2006/relationships/image" Target="../media/image-11-1.png"/><Relationship Id="rId3" Type="http://schemas.openxmlformats.org/officeDocument/2006/relationships/image" Target="../media/image-11-2.jpg"/><Relationship Id="rId5" Type="http://schemas.openxmlformats.org/officeDocument/2006/relationships/image" Target="../media/image-11-3.png"/><Relationship Id="rId7" Type="http://schemas.openxmlformats.org/officeDocument/2006/relationships/image" Target="../media/image-11-4.jpg"/><Relationship Id="rId9" Type="http://schemas.openxmlformats.org/officeDocument/2006/relationships/image" Target="../media/image-11-5.png"/><Relationship Id="rId11" Type="http://schemas.openxmlformats.org/officeDocument/2006/relationships/image" Target="../media/image-11-6.jpg"/><Relationship Id="rId13" Type="http://schemas.openxmlformats.org/officeDocument/2006/relationships/image" Target="../media/image-11-7.png"/><Relationship Id="rId15" Type="http://schemas.openxmlformats.org/officeDocument/2006/relationships/slideLayout" Target="../slideLayouts/slideLayout3.xml"/><Relationship Id="rId1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slide" Target="slide2.xml"/><Relationship Id="rId4" Type="http://schemas.openxmlformats.org/officeDocument/2006/relationships/slide" Target="slide55.xml"/><Relationship Id="rId6" Type="http://schemas.openxmlformats.org/officeDocument/2006/relationships/slide" Target="slide55.xml"/><Relationship Id="rId8" Type="http://schemas.openxmlformats.org/officeDocument/2006/relationships/slide" Target="slide56.xml"/><Relationship Id="rId10" Type="http://schemas.openxmlformats.org/officeDocument/2006/relationships/slide" Target="slide56.xml"/><Relationship Id="rId12" Type="http://schemas.openxmlformats.org/officeDocument/2006/relationships/slide" Target="slide57.xml"/><Relationship Id="rId14" Type="http://schemas.openxmlformats.org/officeDocument/2006/relationships/slide" Target="slide57.xml"/><Relationship Id="rId16" Type="http://schemas.openxmlformats.org/officeDocument/2006/relationships/slide" Target="slide58.xml"/><Relationship Id="rId18" Type="http://schemas.openxmlformats.org/officeDocument/2006/relationships/slide" Target="slide58.xml"/><Relationship Id="rId20" Type="http://schemas.openxmlformats.org/officeDocument/2006/relationships/slide" Target="slide59.xml"/><Relationship Id="rId22" Type="http://schemas.openxmlformats.org/officeDocument/2006/relationships/slide" Target="slide59.xml"/><Relationship Id="rId24" Type="http://schemas.openxmlformats.org/officeDocument/2006/relationships/slide" Target="slide60.xml"/><Relationship Id="rId26" Type="http://schemas.openxmlformats.org/officeDocument/2006/relationships/slide" Target="slide60.xml"/><Relationship Id="rId1" Type="http://schemas.openxmlformats.org/officeDocument/2006/relationships/image" Target="../media/image-12-1.png"/><Relationship Id="rId3" Type="http://schemas.openxmlformats.org/officeDocument/2006/relationships/image" Target="../media/image-12-2.jpg"/><Relationship Id="rId5" Type="http://schemas.openxmlformats.org/officeDocument/2006/relationships/image" Target="../media/image-12-3.png"/><Relationship Id="rId7" Type="http://schemas.openxmlformats.org/officeDocument/2006/relationships/image" Target="../media/image-12-4.jpg"/><Relationship Id="rId9" Type="http://schemas.openxmlformats.org/officeDocument/2006/relationships/image" Target="../media/image-12-5.png"/><Relationship Id="rId11" Type="http://schemas.openxmlformats.org/officeDocument/2006/relationships/image" Target="../media/image-12-6.jpg"/><Relationship Id="rId13" Type="http://schemas.openxmlformats.org/officeDocument/2006/relationships/image" Target="../media/image-12-7.png"/><Relationship Id="rId15" Type="http://schemas.openxmlformats.org/officeDocument/2006/relationships/image" Target="../media/image-12-8.jpg"/><Relationship Id="rId17" Type="http://schemas.openxmlformats.org/officeDocument/2006/relationships/image" Target="../media/image-12-9.png"/><Relationship Id="rId19" Type="http://schemas.openxmlformats.org/officeDocument/2006/relationships/image" Target="../media/image-12-10.jpg"/><Relationship Id="rId21" Type="http://schemas.openxmlformats.org/officeDocument/2006/relationships/image" Target="../media/image-12-11.png"/><Relationship Id="rId23" Type="http://schemas.openxmlformats.org/officeDocument/2006/relationships/image" Target="../media/image-12-12.jpg"/><Relationship Id="rId25" Type="http://schemas.openxmlformats.org/officeDocument/2006/relationships/image" Target="../media/image-12-13.png"/><Relationship Id="rId27" Type="http://schemas.openxmlformats.org/officeDocument/2006/relationships/slideLayout" Target="../slideLayouts/slideLayout3.xml"/><Relationship Id="rId2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slide" Target="slide2.xml"/><Relationship Id="rId4" Type="http://schemas.openxmlformats.org/officeDocument/2006/relationships/slide" Target="slide61.xml"/><Relationship Id="rId6" Type="http://schemas.openxmlformats.org/officeDocument/2006/relationships/slide" Target="slide61.xml"/><Relationship Id="rId8" Type="http://schemas.openxmlformats.org/officeDocument/2006/relationships/slide" Target="slide62.xml"/><Relationship Id="rId10" Type="http://schemas.openxmlformats.org/officeDocument/2006/relationships/slide" Target="slide62.xml"/><Relationship Id="rId12" Type="http://schemas.openxmlformats.org/officeDocument/2006/relationships/slide" Target="slide63.xml"/><Relationship Id="rId14" Type="http://schemas.openxmlformats.org/officeDocument/2006/relationships/slide" Target="slide63.xml"/><Relationship Id="rId16" Type="http://schemas.openxmlformats.org/officeDocument/2006/relationships/slide" Target="slide64.xml"/><Relationship Id="rId18" Type="http://schemas.openxmlformats.org/officeDocument/2006/relationships/slide" Target="slide64.xml"/><Relationship Id="rId20" Type="http://schemas.openxmlformats.org/officeDocument/2006/relationships/slide" Target="slide65.xml"/><Relationship Id="rId22" Type="http://schemas.openxmlformats.org/officeDocument/2006/relationships/slide" Target="slide65.xml"/><Relationship Id="rId1" Type="http://schemas.openxmlformats.org/officeDocument/2006/relationships/image" Target="../media/image-13-1.png"/><Relationship Id="rId3" Type="http://schemas.openxmlformats.org/officeDocument/2006/relationships/image" Target="../media/image-13-2.jpg"/><Relationship Id="rId5" Type="http://schemas.openxmlformats.org/officeDocument/2006/relationships/image" Target="../media/image-13-3.png"/><Relationship Id="rId7" Type="http://schemas.openxmlformats.org/officeDocument/2006/relationships/image" Target="../media/image-13-4.jpg"/><Relationship Id="rId9" Type="http://schemas.openxmlformats.org/officeDocument/2006/relationships/image" Target="../media/image-13-5.png"/><Relationship Id="rId11" Type="http://schemas.openxmlformats.org/officeDocument/2006/relationships/image" Target="../media/image-13-6.jpg"/><Relationship Id="rId13" Type="http://schemas.openxmlformats.org/officeDocument/2006/relationships/image" Target="../media/image-13-7.png"/><Relationship Id="rId15" Type="http://schemas.openxmlformats.org/officeDocument/2006/relationships/image" Target="../media/image-13-8.jpg"/><Relationship Id="rId17" Type="http://schemas.openxmlformats.org/officeDocument/2006/relationships/image" Target="../media/image-13-9.png"/><Relationship Id="rId19" Type="http://schemas.openxmlformats.org/officeDocument/2006/relationships/image" Target="../media/image-13-10.jpg"/><Relationship Id="rId21" Type="http://schemas.openxmlformats.org/officeDocument/2006/relationships/image" Target="../media/image-13-11.png"/><Relationship Id="rId23" Type="http://schemas.openxmlformats.org/officeDocument/2006/relationships/slideLayout" Target="../slideLayouts/slideLayout3.xml"/><Relationship Id="rId2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slide" Target="slide2.xml"/><Relationship Id="rId4" Type="http://schemas.openxmlformats.org/officeDocument/2006/relationships/slide" Target="slide66.xml"/><Relationship Id="rId6" Type="http://schemas.openxmlformats.org/officeDocument/2006/relationships/slide" Target="slide66.xml"/><Relationship Id="rId8" Type="http://schemas.openxmlformats.org/officeDocument/2006/relationships/slide" Target="slide67.xml"/><Relationship Id="rId10" Type="http://schemas.openxmlformats.org/officeDocument/2006/relationships/slide" Target="slide67.xml"/><Relationship Id="rId12" Type="http://schemas.openxmlformats.org/officeDocument/2006/relationships/slide" Target="slide68.xml"/><Relationship Id="rId14" Type="http://schemas.openxmlformats.org/officeDocument/2006/relationships/slide" Target="slide68.xml"/><Relationship Id="rId1" Type="http://schemas.openxmlformats.org/officeDocument/2006/relationships/image" Target="../media/image-14-1.png"/><Relationship Id="rId3" Type="http://schemas.openxmlformats.org/officeDocument/2006/relationships/image" Target="../media/image-14-2.jpg"/><Relationship Id="rId5" Type="http://schemas.openxmlformats.org/officeDocument/2006/relationships/image" Target="../media/image-14-3.png"/><Relationship Id="rId7" Type="http://schemas.openxmlformats.org/officeDocument/2006/relationships/image" Target="../media/image-14-4.jpg"/><Relationship Id="rId9" Type="http://schemas.openxmlformats.org/officeDocument/2006/relationships/image" Target="../media/image-14-5.png"/><Relationship Id="rId11" Type="http://schemas.openxmlformats.org/officeDocument/2006/relationships/image" Target="../media/image-14-6.jpg"/><Relationship Id="rId13" Type="http://schemas.openxmlformats.org/officeDocument/2006/relationships/image" Target="../media/image-14-7.png"/><Relationship Id="rId15" Type="http://schemas.openxmlformats.org/officeDocument/2006/relationships/slideLayout" Target="../slideLayouts/slideLayout3.xml"/><Relationship Id="rId1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slide" Target="slide2.xml"/><Relationship Id="rId4" Type="http://schemas.openxmlformats.org/officeDocument/2006/relationships/slide" Target="slide69.xml"/><Relationship Id="rId6" Type="http://schemas.openxmlformats.org/officeDocument/2006/relationships/slide" Target="slide69.xml"/><Relationship Id="rId8" Type="http://schemas.openxmlformats.org/officeDocument/2006/relationships/slide" Target="slide70.xml"/><Relationship Id="rId10" Type="http://schemas.openxmlformats.org/officeDocument/2006/relationships/slide" Target="slide70.xml"/><Relationship Id="rId12" Type="http://schemas.openxmlformats.org/officeDocument/2006/relationships/slide" Target="slide71.xml"/><Relationship Id="rId14" Type="http://schemas.openxmlformats.org/officeDocument/2006/relationships/slide" Target="slide71.xml"/><Relationship Id="rId16" Type="http://schemas.openxmlformats.org/officeDocument/2006/relationships/slide" Target="slide72.xml"/><Relationship Id="rId18" Type="http://schemas.openxmlformats.org/officeDocument/2006/relationships/slide" Target="slide72.xml"/><Relationship Id="rId20" Type="http://schemas.openxmlformats.org/officeDocument/2006/relationships/slide" Target="slide73.xml"/><Relationship Id="rId22" Type="http://schemas.openxmlformats.org/officeDocument/2006/relationships/slide" Target="slide73.xml"/><Relationship Id="rId24" Type="http://schemas.openxmlformats.org/officeDocument/2006/relationships/slide" Target="slide74.xml"/><Relationship Id="rId26" Type="http://schemas.openxmlformats.org/officeDocument/2006/relationships/slide" Target="slide74.xml"/><Relationship Id="rId1" Type="http://schemas.openxmlformats.org/officeDocument/2006/relationships/image" Target="../media/image-15-1.png"/><Relationship Id="rId3" Type="http://schemas.openxmlformats.org/officeDocument/2006/relationships/image" Target="../media/image-15-2.jpg"/><Relationship Id="rId5" Type="http://schemas.openxmlformats.org/officeDocument/2006/relationships/image" Target="../media/image-15-3.png"/><Relationship Id="rId7" Type="http://schemas.openxmlformats.org/officeDocument/2006/relationships/image" Target="../media/image-15-4.jpg"/><Relationship Id="rId9" Type="http://schemas.openxmlformats.org/officeDocument/2006/relationships/image" Target="../media/image-15-5.png"/><Relationship Id="rId11" Type="http://schemas.openxmlformats.org/officeDocument/2006/relationships/image" Target="../media/image-15-6.jpg"/><Relationship Id="rId13" Type="http://schemas.openxmlformats.org/officeDocument/2006/relationships/image" Target="../media/image-15-7.png"/><Relationship Id="rId15" Type="http://schemas.openxmlformats.org/officeDocument/2006/relationships/image" Target="../media/image-15-8.jpg"/><Relationship Id="rId17" Type="http://schemas.openxmlformats.org/officeDocument/2006/relationships/image" Target="../media/image-15-9.png"/><Relationship Id="rId19" Type="http://schemas.openxmlformats.org/officeDocument/2006/relationships/image" Target="../media/image-15-10.jpg"/><Relationship Id="rId21" Type="http://schemas.openxmlformats.org/officeDocument/2006/relationships/image" Target="../media/image-15-11.png"/><Relationship Id="rId23" Type="http://schemas.openxmlformats.org/officeDocument/2006/relationships/image" Target="../media/image-15-12.jpg"/><Relationship Id="rId25" Type="http://schemas.openxmlformats.org/officeDocument/2006/relationships/image" Target="../media/image-15-13.png"/><Relationship Id="rId27" Type="http://schemas.openxmlformats.org/officeDocument/2006/relationships/slideLayout" Target="../slideLayouts/slideLayout3.xml"/><Relationship Id="rId2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slide" Target="slide5.xml"/><Relationship Id="rId4" Type="http://schemas.openxmlformats.org/officeDocument/2006/relationships/slide" Target="slide5.xml"/><Relationship Id="rId6" Type="http://schemas.openxmlformats.org/officeDocument/2006/relationships/slide" Target="slide7.xml"/><Relationship Id="rId8" Type="http://schemas.openxmlformats.org/officeDocument/2006/relationships/slide" Target="slide10.xml"/><Relationship Id="rId10" Type="http://schemas.openxmlformats.org/officeDocument/2006/relationships/slide" Target="slide10.xml"/><Relationship Id="rId12" Type="http://schemas.openxmlformats.org/officeDocument/2006/relationships/slide" Target="slide12.xml"/><Relationship Id="rId14" Type="http://schemas.openxmlformats.org/officeDocument/2006/relationships/slide" Target="slide13.xml"/><Relationship Id="rId16" Type="http://schemas.openxmlformats.org/officeDocument/2006/relationships/slide" Target="slide5.xml"/><Relationship Id="rId1" Type="http://schemas.openxmlformats.org/officeDocument/2006/relationships/image" Target="../media/image-16-1.png"/><Relationship Id="rId3" Type="http://schemas.openxmlformats.org/officeDocument/2006/relationships/image" Target="../media/image-16-2.png"/><Relationship Id="rId5" Type="http://schemas.openxmlformats.org/officeDocument/2006/relationships/image" Target="../media/image-16-3.png"/><Relationship Id="rId7" Type="http://schemas.openxmlformats.org/officeDocument/2006/relationships/image" Target="../media/image-16-4.png"/><Relationship Id="rId9" Type="http://schemas.openxmlformats.org/officeDocument/2006/relationships/image" Target="../media/image-16-5.png"/><Relationship Id="rId11" Type="http://schemas.openxmlformats.org/officeDocument/2006/relationships/image" Target="../media/image-16-6.png"/><Relationship Id="rId13" Type="http://schemas.openxmlformats.org/officeDocument/2006/relationships/image" Target="../media/image-16-7.png"/><Relationship Id="rId15" Type="http://schemas.openxmlformats.org/officeDocument/2006/relationships/image" Target="../media/image-16-8.png"/><Relationship Id="rId17" Type="http://schemas.openxmlformats.org/officeDocument/2006/relationships/slideLayout" Target="../slideLayouts/slideLayout2.xml"/><Relationship Id="rId1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slide" Target="slide3.xml"/><Relationship Id="rId4" Type="http://schemas.openxmlformats.org/officeDocument/2006/relationships/slide" Target="slide3.xml"/><Relationship Id="rId7" Type="http://schemas.openxmlformats.org/officeDocument/2006/relationships/slide" Target="slide18.xml"/><Relationship Id="rId1" Type="http://schemas.openxmlformats.org/officeDocument/2006/relationships/image" Target="../media/image-17-1.jpg"/><Relationship Id="rId2" Type="http://schemas.openxmlformats.org/officeDocument/2006/relationships/image" Target="../media/image-17-2.png"/><Relationship Id="rId5" Type="http://schemas.openxmlformats.org/officeDocument/2006/relationships/image" Target="../media/image-17-3.png"/><Relationship Id="rId6" Type="http://schemas.openxmlformats.org/officeDocument/2006/relationships/image" Target="../media/image-17-4.png"/><Relationship Id="rId8" Type="http://schemas.openxmlformats.org/officeDocument/2006/relationships/slideLayout" Target="../slideLayouts/slideLayout4.xml"/><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slide" Target="slide3.xml"/><Relationship Id="rId4" Type="http://schemas.openxmlformats.org/officeDocument/2006/relationships/slide" Target="slide3.xml"/><Relationship Id="rId6" Type="http://schemas.openxmlformats.org/officeDocument/2006/relationships/slide" Target="slide17.xml"/><Relationship Id="rId8" Type="http://schemas.openxmlformats.org/officeDocument/2006/relationships/slide" Target="slide19.xml"/><Relationship Id="rId1" Type="http://schemas.openxmlformats.org/officeDocument/2006/relationships/image" Target="../media/image-18-1.jpg"/><Relationship Id="rId2" Type="http://schemas.openxmlformats.org/officeDocument/2006/relationships/image" Target="../media/image-18-2.png"/><Relationship Id="rId5" Type="http://schemas.openxmlformats.org/officeDocument/2006/relationships/image" Target="../media/image-18-3.png"/><Relationship Id="rId7" Type="http://schemas.openxmlformats.org/officeDocument/2006/relationships/image" Target="../media/image-18-4.png"/><Relationship Id="rId9" Type="http://schemas.openxmlformats.org/officeDocument/2006/relationships/slideLayout" Target="../slideLayouts/slideLayout4.xml"/><Relationship Id="rId1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slide" Target="slide3.xml"/><Relationship Id="rId4" Type="http://schemas.openxmlformats.org/officeDocument/2006/relationships/slide" Target="slide3.xml"/><Relationship Id="rId6" Type="http://schemas.openxmlformats.org/officeDocument/2006/relationships/slide" Target="slide18.xml"/><Relationship Id="rId8" Type="http://schemas.openxmlformats.org/officeDocument/2006/relationships/slide" Target="slide20.xml"/><Relationship Id="rId1" Type="http://schemas.openxmlformats.org/officeDocument/2006/relationships/image" Target="../media/image-19-1.jpg"/><Relationship Id="rId2" Type="http://schemas.openxmlformats.org/officeDocument/2006/relationships/image" Target="../media/image-19-2.png"/><Relationship Id="rId5" Type="http://schemas.openxmlformats.org/officeDocument/2006/relationships/image" Target="../media/image-19-3.png"/><Relationship Id="rId7" Type="http://schemas.openxmlformats.org/officeDocument/2006/relationships/image" Target="../media/image-19-4.png"/><Relationship Id="rId9" Type="http://schemas.openxmlformats.org/officeDocument/2006/relationships/slideLayout" Target="../slideLayouts/slideLayout4.xml"/><Relationship Id="rId10"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slide" Target="slide3.xml"/><Relationship Id="rId4" Type="http://schemas.openxmlformats.org/officeDocument/2006/relationships/slide" Target="slide3.xml"/><Relationship Id="rId6" Type="http://schemas.openxmlformats.org/officeDocument/2006/relationships/slide" Target="slide19.xml"/><Relationship Id="rId1" Type="http://schemas.openxmlformats.org/officeDocument/2006/relationships/image" Target="../media/image-20-1.jpg"/><Relationship Id="rId2" Type="http://schemas.openxmlformats.org/officeDocument/2006/relationships/image" Target="../media/image-20-2.png"/><Relationship Id="rId5" Type="http://schemas.openxmlformats.org/officeDocument/2006/relationships/image" Target="../media/image-20-3.png"/><Relationship Id="rId7" Type="http://schemas.openxmlformats.org/officeDocument/2006/relationships/image" Target="../media/image-20-4.png"/><Relationship Id="rId8" Type="http://schemas.openxmlformats.org/officeDocument/2006/relationships/slideLayout" Target="../slideLayouts/slideLayout4.xml"/><Relationship Id="rId9"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slide" Target="slide4.xml"/><Relationship Id="rId4" Type="http://schemas.openxmlformats.org/officeDocument/2006/relationships/slide" Target="slide4.xml"/><Relationship Id="rId7" Type="http://schemas.openxmlformats.org/officeDocument/2006/relationships/slide" Target="slide22.xml"/><Relationship Id="rId1" Type="http://schemas.openxmlformats.org/officeDocument/2006/relationships/image" Target="../media/image-21-1.jpg"/><Relationship Id="rId2" Type="http://schemas.openxmlformats.org/officeDocument/2006/relationships/image" Target="../media/image-21-2.png"/><Relationship Id="rId5" Type="http://schemas.openxmlformats.org/officeDocument/2006/relationships/image" Target="../media/image-21-3.png"/><Relationship Id="rId6" Type="http://schemas.openxmlformats.org/officeDocument/2006/relationships/image" Target="../media/image-21-4.png"/><Relationship Id="rId8" Type="http://schemas.openxmlformats.org/officeDocument/2006/relationships/slideLayout" Target="../slideLayouts/slideLayout4.xml"/><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slide" Target="slide4.xml"/><Relationship Id="rId4" Type="http://schemas.openxmlformats.org/officeDocument/2006/relationships/slide" Target="slide4.xml"/><Relationship Id="rId6" Type="http://schemas.openxmlformats.org/officeDocument/2006/relationships/slide" Target="slide21.xml"/><Relationship Id="rId8" Type="http://schemas.openxmlformats.org/officeDocument/2006/relationships/slide" Target="slide23.xml"/><Relationship Id="rId1" Type="http://schemas.openxmlformats.org/officeDocument/2006/relationships/image" Target="../media/image-22-1.jpg"/><Relationship Id="rId2" Type="http://schemas.openxmlformats.org/officeDocument/2006/relationships/image" Target="../media/image-22-2.png"/><Relationship Id="rId5" Type="http://schemas.openxmlformats.org/officeDocument/2006/relationships/image" Target="../media/image-22-3.png"/><Relationship Id="rId7" Type="http://schemas.openxmlformats.org/officeDocument/2006/relationships/image" Target="../media/image-22-4.png"/><Relationship Id="rId9" Type="http://schemas.openxmlformats.org/officeDocument/2006/relationships/slideLayout" Target="../slideLayouts/slideLayout4.xml"/><Relationship Id="rId10"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slide" Target="slide4.xml"/><Relationship Id="rId4" Type="http://schemas.openxmlformats.org/officeDocument/2006/relationships/slide" Target="slide4.xml"/><Relationship Id="rId6" Type="http://schemas.openxmlformats.org/officeDocument/2006/relationships/slide" Target="slide22.xml"/><Relationship Id="rId8" Type="http://schemas.openxmlformats.org/officeDocument/2006/relationships/slide" Target="slide24.xml"/><Relationship Id="rId1" Type="http://schemas.openxmlformats.org/officeDocument/2006/relationships/image" Target="../media/image-23-1.jpg"/><Relationship Id="rId2" Type="http://schemas.openxmlformats.org/officeDocument/2006/relationships/image" Target="../media/image-23-2.png"/><Relationship Id="rId5" Type="http://schemas.openxmlformats.org/officeDocument/2006/relationships/image" Target="../media/image-23-3.png"/><Relationship Id="rId7" Type="http://schemas.openxmlformats.org/officeDocument/2006/relationships/image" Target="../media/image-23-4.png"/><Relationship Id="rId9" Type="http://schemas.openxmlformats.org/officeDocument/2006/relationships/slideLayout" Target="../slideLayouts/slideLayout4.xml"/><Relationship Id="rId10"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slide" Target="slide4.xml"/><Relationship Id="rId4" Type="http://schemas.openxmlformats.org/officeDocument/2006/relationships/slide" Target="slide4.xml"/><Relationship Id="rId6" Type="http://schemas.openxmlformats.org/officeDocument/2006/relationships/slide" Target="slide23.xml"/><Relationship Id="rId1" Type="http://schemas.openxmlformats.org/officeDocument/2006/relationships/image" Target="../media/image-24-1.jpg"/><Relationship Id="rId2" Type="http://schemas.openxmlformats.org/officeDocument/2006/relationships/image" Target="../media/image-24-2.png"/><Relationship Id="rId5" Type="http://schemas.openxmlformats.org/officeDocument/2006/relationships/image" Target="../media/image-24-3.png"/><Relationship Id="rId7" Type="http://schemas.openxmlformats.org/officeDocument/2006/relationships/image" Target="../media/image-24-4.png"/><Relationship Id="rId8" Type="http://schemas.openxmlformats.org/officeDocument/2006/relationships/slideLayout" Target="../slideLayouts/slideLayout4.xml"/><Relationship Id="rId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slide" Target="slide5.xml"/><Relationship Id="rId4" Type="http://schemas.openxmlformats.org/officeDocument/2006/relationships/slide" Target="slide5.xml"/><Relationship Id="rId7" Type="http://schemas.openxmlformats.org/officeDocument/2006/relationships/slide" Target="slide26.xml"/><Relationship Id="rId1" Type="http://schemas.openxmlformats.org/officeDocument/2006/relationships/image" Target="../media/image-25-1.jpg"/><Relationship Id="rId2" Type="http://schemas.openxmlformats.org/officeDocument/2006/relationships/image" Target="../media/image-25-2.png"/><Relationship Id="rId5" Type="http://schemas.openxmlformats.org/officeDocument/2006/relationships/image" Target="../media/image-25-3.png"/><Relationship Id="rId6" Type="http://schemas.openxmlformats.org/officeDocument/2006/relationships/image" Target="../media/image-25-4.png"/><Relationship Id="rId8" Type="http://schemas.openxmlformats.org/officeDocument/2006/relationships/slideLayout" Target="../slideLayouts/slideLayout4.xml"/><Relationship Id="rId9"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slide" Target="slide5.xml"/><Relationship Id="rId4" Type="http://schemas.openxmlformats.org/officeDocument/2006/relationships/slide" Target="slide5.xml"/><Relationship Id="rId6" Type="http://schemas.openxmlformats.org/officeDocument/2006/relationships/slide" Target="slide25.xml"/><Relationship Id="rId8" Type="http://schemas.openxmlformats.org/officeDocument/2006/relationships/slide" Target="slide27.xml"/><Relationship Id="rId1" Type="http://schemas.openxmlformats.org/officeDocument/2006/relationships/image" Target="../media/image-26-1.jpg"/><Relationship Id="rId2" Type="http://schemas.openxmlformats.org/officeDocument/2006/relationships/image" Target="../media/image-26-2.png"/><Relationship Id="rId5" Type="http://schemas.openxmlformats.org/officeDocument/2006/relationships/image" Target="../media/image-26-3.png"/><Relationship Id="rId7" Type="http://schemas.openxmlformats.org/officeDocument/2006/relationships/image" Target="../media/image-26-4.png"/><Relationship Id="rId9" Type="http://schemas.openxmlformats.org/officeDocument/2006/relationships/slideLayout" Target="../slideLayouts/slideLayout4.xml"/><Relationship Id="rId10"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slide" Target="slide5.xml"/><Relationship Id="rId4" Type="http://schemas.openxmlformats.org/officeDocument/2006/relationships/slide" Target="slide5.xml"/><Relationship Id="rId6" Type="http://schemas.openxmlformats.org/officeDocument/2006/relationships/slide" Target="slide26.xml"/><Relationship Id="rId8" Type="http://schemas.openxmlformats.org/officeDocument/2006/relationships/slide" Target="slide28.xml"/><Relationship Id="rId1" Type="http://schemas.openxmlformats.org/officeDocument/2006/relationships/image" Target="../media/image-27-1.jpg"/><Relationship Id="rId2" Type="http://schemas.openxmlformats.org/officeDocument/2006/relationships/image" Target="../media/image-27-2.png"/><Relationship Id="rId5" Type="http://schemas.openxmlformats.org/officeDocument/2006/relationships/image" Target="../media/image-27-3.png"/><Relationship Id="rId7" Type="http://schemas.openxmlformats.org/officeDocument/2006/relationships/image" Target="../media/image-27-4.png"/><Relationship Id="rId9" Type="http://schemas.openxmlformats.org/officeDocument/2006/relationships/slideLayout" Target="../slideLayouts/slideLayout4.xml"/><Relationship Id="rId10"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slide" Target="slide5.xml"/><Relationship Id="rId4" Type="http://schemas.openxmlformats.org/officeDocument/2006/relationships/slide" Target="slide5.xml"/><Relationship Id="rId6" Type="http://schemas.openxmlformats.org/officeDocument/2006/relationships/slide" Target="slide27.xml"/><Relationship Id="rId8" Type="http://schemas.openxmlformats.org/officeDocument/2006/relationships/slide" Target="slide29.xml"/><Relationship Id="rId1" Type="http://schemas.openxmlformats.org/officeDocument/2006/relationships/image" Target="../media/image-28-1.jpg"/><Relationship Id="rId2" Type="http://schemas.openxmlformats.org/officeDocument/2006/relationships/image" Target="../media/image-28-2.png"/><Relationship Id="rId5" Type="http://schemas.openxmlformats.org/officeDocument/2006/relationships/image" Target="../media/image-28-3.png"/><Relationship Id="rId7" Type="http://schemas.openxmlformats.org/officeDocument/2006/relationships/image" Target="../media/image-28-4.png"/><Relationship Id="rId9" Type="http://schemas.openxmlformats.org/officeDocument/2006/relationships/slideLayout" Target="../slideLayouts/slideLayout4.xml"/><Relationship Id="rId10"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slide" Target="slide5.xml"/><Relationship Id="rId4" Type="http://schemas.openxmlformats.org/officeDocument/2006/relationships/slide" Target="slide5.xml"/><Relationship Id="rId6" Type="http://schemas.openxmlformats.org/officeDocument/2006/relationships/slide" Target="slide28.xml"/><Relationship Id="rId8" Type="http://schemas.openxmlformats.org/officeDocument/2006/relationships/slide" Target="slide30.xml"/><Relationship Id="rId1" Type="http://schemas.openxmlformats.org/officeDocument/2006/relationships/image" Target="../media/image-29-1.jpg"/><Relationship Id="rId2" Type="http://schemas.openxmlformats.org/officeDocument/2006/relationships/image" Target="../media/image-29-2.png"/><Relationship Id="rId5" Type="http://schemas.openxmlformats.org/officeDocument/2006/relationships/image" Target="../media/image-29-3.png"/><Relationship Id="rId7" Type="http://schemas.openxmlformats.org/officeDocument/2006/relationships/image" Target="../media/image-29-4.png"/><Relationship Id="rId9" Type="http://schemas.openxmlformats.org/officeDocument/2006/relationships/slideLayout" Target="../slideLayouts/slideLayout4.xml"/><Relationship Id="rId10"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3" Type="http://schemas.openxmlformats.org/officeDocument/2006/relationships/slide" Target="slide6.xml"/><Relationship Id="rId4" Type="http://schemas.openxmlformats.org/officeDocument/2006/relationships/slide" Target="slide6.xml"/><Relationship Id="rId6" Type="http://schemas.openxmlformats.org/officeDocument/2006/relationships/slide" Target="slide29.xml"/><Relationship Id="rId8" Type="http://schemas.openxmlformats.org/officeDocument/2006/relationships/slide" Target="slide31.xml"/><Relationship Id="rId1" Type="http://schemas.openxmlformats.org/officeDocument/2006/relationships/image" Target="../media/image-30-1.jpg"/><Relationship Id="rId2" Type="http://schemas.openxmlformats.org/officeDocument/2006/relationships/image" Target="../media/image-30-2.png"/><Relationship Id="rId5" Type="http://schemas.openxmlformats.org/officeDocument/2006/relationships/image" Target="../media/image-30-3.png"/><Relationship Id="rId7" Type="http://schemas.openxmlformats.org/officeDocument/2006/relationships/image" Target="../media/image-30-4.png"/><Relationship Id="rId9" Type="http://schemas.openxmlformats.org/officeDocument/2006/relationships/slideLayout" Target="../slideLayouts/slideLayout4.xml"/><Relationship Id="rId10"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3" Type="http://schemas.openxmlformats.org/officeDocument/2006/relationships/slide" Target="slide6.xml"/><Relationship Id="rId4" Type="http://schemas.openxmlformats.org/officeDocument/2006/relationships/slide" Target="slide6.xml"/><Relationship Id="rId6" Type="http://schemas.openxmlformats.org/officeDocument/2006/relationships/slide" Target="slide30.xml"/><Relationship Id="rId1" Type="http://schemas.openxmlformats.org/officeDocument/2006/relationships/image" Target="../media/image-31-1.jpg"/><Relationship Id="rId2" Type="http://schemas.openxmlformats.org/officeDocument/2006/relationships/image" Target="../media/image-31-2.png"/><Relationship Id="rId5" Type="http://schemas.openxmlformats.org/officeDocument/2006/relationships/image" Target="../media/image-31-3.png"/><Relationship Id="rId7" Type="http://schemas.openxmlformats.org/officeDocument/2006/relationships/image" Target="../media/image-31-4.png"/><Relationship Id="rId8" Type="http://schemas.openxmlformats.org/officeDocument/2006/relationships/slideLayout" Target="../slideLayouts/slideLayout4.xml"/><Relationship Id="rId9"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slide" Target="slide7.xml"/><Relationship Id="rId4" Type="http://schemas.openxmlformats.org/officeDocument/2006/relationships/slide" Target="slide7.xml"/><Relationship Id="rId7" Type="http://schemas.openxmlformats.org/officeDocument/2006/relationships/slide" Target="slide33.xml"/><Relationship Id="rId1" Type="http://schemas.openxmlformats.org/officeDocument/2006/relationships/image" Target="../media/image-32-1.jpg"/><Relationship Id="rId2" Type="http://schemas.openxmlformats.org/officeDocument/2006/relationships/image" Target="../media/image-32-2.png"/><Relationship Id="rId5" Type="http://schemas.openxmlformats.org/officeDocument/2006/relationships/image" Target="../media/image-32-3.png"/><Relationship Id="rId6" Type="http://schemas.openxmlformats.org/officeDocument/2006/relationships/image" Target="../media/image-32-4.png"/><Relationship Id="rId8" Type="http://schemas.openxmlformats.org/officeDocument/2006/relationships/slideLayout" Target="../slideLayouts/slideLayout4.xml"/><Relationship Id="rId9"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3" Type="http://schemas.openxmlformats.org/officeDocument/2006/relationships/slide" Target="slide7.xml"/><Relationship Id="rId4" Type="http://schemas.openxmlformats.org/officeDocument/2006/relationships/slide" Target="slide7.xml"/><Relationship Id="rId6" Type="http://schemas.openxmlformats.org/officeDocument/2006/relationships/slide" Target="slide32.xml"/><Relationship Id="rId8" Type="http://schemas.openxmlformats.org/officeDocument/2006/relationships/slide" Target="slide34.xml"/><Relationship Id="rId1" Type="http://schemas.openxmlformats.org/officeDocument/2006/relationships/image" Target="../media/image-33-1.jpg"/><Relationship Id="rId2" Type="http://schemas.openxmlformats.org/officeDocument/2006/relationships/image" Target="../media/image-33-2.png"/><Relationship Id="rId5" Type="http://schemas.openxmlformats.org/officeDocument/2006/relationships/image" Target="../media/image-33-3.png"/><Relationship Id="rId7" Type="http://schemas.openxmlformats.org/officeDocument/2006/relationships/image" Target="../media/image-33-4.png"/><Relationship Id="rId9" Type="http://schemas.openxmlformats.org/officeDocument/2006/relationships/slideLayout" Target="../slideLayouts/slideLayout4.xml"/><Relationship Id="rId10"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3" Type="http://schemas.openxmlformats.org/officeDocument/2006/relationships/slide" Target="slide7.xml"/><Relationship Id="rId4" Type="http://schemas.openxmlformats.org/officeDocument/2006/relationships/slide" Target="slide7.xml"/><Relationship Id="rId6" Type="http://schemas.openxmlformats.org/officeDocument/2006/relationships/slide" Target="slide33.xml"/><Relationship Id="rId1" Type="http://schemas.openxmlformats.org/officeDocument/2006/relationships/image" Target="../media/image-34-1.jpg"/><Relationship Id="rId2" Type="http://schemas.openxmlformats.org/officeDocument/2006/relationships/image" Target="../media/image-34-2.png"/><Relationship Id="rId5" Type="http://schemas.openxmlformats.org/officeDocument/2006/relationships/image" Target="../media/image-34-3.png"/><Relationship Id="rId7" Type="http://schemas.openxmlformats.org/officeDocument/2006/relationships/image" Target="../media/image-34-4.png"/><Relationship Id="rId8" Type="http://schemas.openxmlformats.org/officeDocument/2006/relationships/slideLayout" Target="../slideLayouts/slideLayout4.xml"/><Relationship Id="rId9"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3" Type="http://schemas.openxmlformats.org/officeDocument/2006/relationships/slide" Target="slide8.xml"/><Relationship Id="rId4" Type="http://schemas.openxmlformats.org/officeDocument/2006/relationships/slide" Target="slide8.xml"/><Relationship Id="rId7" Type="http://schemas.openxmlformats.org/officeDocument/2006/relationships/slide" Target="slide36.xml"/><Relationship Id="rId1" Type="http://schemas.openxmlformats.org/officeDocument/2006/relationships/image" Target="../media/image-35-1.jpg"/><Relationship Id="rId2" Type="http://schemas.openxmlformats.org/officeDocument/2006/relationships/image" Target="../media/image-35-2.png"/><Relationship Id="rId5" Type="http://schemas.openxmlformats.org/officeDocument/2006/relationships/image" Target="../media/image-35-3.png"/><Relationship Id="rId6" Type="http://schemas.openxmlformats.org/officeDocument/2006/relationships/image" Target="../media/image-35-4.png"/><Relationship Id="rId8" Type="http://schemas.openxmlformats.org/officeDocument/2006/relationships/slideLayout" Target="../slideLayouts/slideLayout4.xml"/><Relationship Id="rId9"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3" Type="http://schemas.openxmlformats.org/officeDocument/2006/relationships/slide" Target="slide8.xml"/><Relationship Id="rId4" Type="http://schemas.openxmlformats.org/officeDocument/2006/relationships/slide" Target="slide8.xml"/><Relationship Id="rId6" Type="http://schemas.openxmlformats.org/officeDocument/2006/relationships/slide" Target="slide35.xml"/><Relationship Id="rId8" Type="http://schemas.openxmlformats.org/officeDocument/2006/relationships/slide" Target="slide37.xml"/><Relationship Id="rId1" Type="http://schemas.openxmlformats.org/officeDocument/2006/relationships/image" Target="../media/image-36-1.jpg"/><Relationship Id="rId2" Type="http://schemas.openxmlformats.org/officeDocument/2006/relationships/image" Target="../media/image-36-2.png"/><Relationship Id="rId5" Type="http://schemas.openxmlformats.org/officeDocument/2006/relationships/image" Target="../media/image-36-3.png"/><Relationship Id="rId7" Type="http://schemas.openxmlformats.org/officeDocument/2006/relationships/image" Target="../media/image-36-4.png"/><Relationship Id="rId9" Type="http://schemas.openxmlformats.org/officeDocument/2006/relationships/slideLayout" Target="../slideLayouts/slideLayout4.xml"/><Relationship Id="rId10"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3" Type="http://schemas.openxmlformats.org/officeDocument/2006/relationships/slide" Target="slide8.xml"/><Relationship Id="rId4" Type="http://schemas.openxmlformats.org/officeDocument/2006/relationships/slide" Target="slide8.xml"/><Relationship Id="rId6" Type="http://schemas.openxmlformats.org/officeDocument/2006/relationships/slide" Target="slide36.xml"/><Relationship Id="rId8" Type="http://schemas.openxmlformats.org/officeDocument/2006/relationships/slide" Target="slide38.xml"/><Relationship Id="rId1" Type="http://schemas.openxmlformats.org/officeDocument/2006/relationships/image" Target="../media/image-37-1.jpg"/><Relationship Id="rId2" Type="http://schemas.openxmlformats.org/officeDocument/2006/relationships/image" Target="../media/image-37-2.png"/><Relationship Id="rId5" Type="http://schemas.openxmlformats.org/officeDocument/2006/relationships/image" Target="../media/image-37-3.png"/><Relationship Id="rId7" Type="http://schemas.openxmlformats.org/officeDocument/2006/relationships/image" Target="../media/image-37-4.png"/><Relationship Id="rId9" Type="http://schemas.openxmlformats.org/officeDocument/2006/relationships/slideLayout" Target="../slideLayouts/slideLayout4.xml"/><Relationship Id="rId10"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3" Type="http://schemas.openxmlformats.org/officeDocument/2006/relationships/slide" Target="slide8.xml"/><Relationship Id="rId4" Type="http://schemas.openxmlformats.org/officeDocument/2006/relationships/slide" Target="slide8.xml"/><Relationship Id="rId6" Type="http://schemas.openxmlformats.org/officeDocument/2006/relationships/slide" Target="slide37.xml"/><Relationship Id="rId8" Type="http://schemas.openxmlformats.org/officeDocument/2006/relationships/slide" Target="slide39.xml"/><Relationship Id="rId1" Type="http://schemas.openxmlformats.org/officeDocument/2006/relationships/image" Target="../media/image-38-1.jpg"/><Relationship Id="rId2" Type="http://schemas.openxmlformats.org/officeDocument/2006/relationships/image" Target="../media/image-38-2.png"/><Relationship Id="rId5" Type="http://schemas.openxmlformats.org/officeDocument/2006/relationships/image" Target="../media/image-38-3.png"/><Relationship Id="rId7" Type="http://schemas.openxmlformats.org/officeDocument/2006/relationships/image" Target="../media/image-38-4.png"/><Relationship Id="rId9" Type="http://schemas.openxmlformats.org/officeDocument/2006/relationships/slideLayout" Target="../slideLayouts/slideLayout4.xml"/><Relationship Id="rId10"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3" Type="http://schemas.openxmlformats.org/officeDocument/2006/relationships/slide" Target="slide8.xml"/><Relationship Id="rId4" Type="http://schemas.openxmlformats.org/officeDocument/2006/relationships/slide" Target="slide8.xml"/><Relationship Id="rId6" Type="http://schemas.openxmlformats.org/officeDocument/2006/relationships/slide" Target="slide38.xml"/><Relationship Id="rId8" Type="http://schemas.openxmlformats.org/officeDocument/2006/relationships/slide" Target="slide40.xml"/><Relationship Id="rId1" Type="http://schemas.openxmlformats.org/officeDocument/2006/relationships/image" Target="../media/image-39-1.jpg"/><Relationship Id="rId2" Type="http://schemas.openxmlformats.org/officeDocument/2006/relationships/image" Target="../media/image-39-2.png"/><Relationship Id="rId5" Type="http://schemas.openxmlformats.org/officeDocument/2006/relationships/image" Target="../media/image-39-3.png"/><Relationship Id="rId7" Type="http://schemas.openxmlformats.org/officeDocument/2006/relationships/image" Target="../media/image-39-4.png"/><Relationship Id="rId9" Type="http://schemas.openxmlformats.org/officeDocument/2006/relationships/slideLayout" Target="../slideLayouts/slideLayout4.xml"/><Relationship Id="rId10"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3" Type="http://schemas.openxmlformats.org/officeDocument/2006/relationships/slide" Target="slide8.xml"/><Relationship Id="rId4" Type="http://schemas.openxmlformats.org/officeDocument/2006/relationships/slide" Target="slide8.xml"/><Relationship Id="rId6" Type="http://schemas.openxmlformats.org/officeDocument/2006/relationships/slide" Target="slide39.xml"/><Relationship Id="rId1" Type="http://schemas.openxmlformats.org/officeDocument/2006/relationships/image" Target="../media/image-40-1.jpg"/><Relationship Id="rId2" Type="http://schemas.openxmlformats.org/officeDocument/2006/relationships/image" Target="../media/image-40-2.png"/><Relationship Id="rId5" Type="http://schemas.openxmlformats.org/officeDocument/2006/relationships/image" Target="../media/image-40-3.png"/><Relationship Id="rId7" Type="http://schemas.openxmlformats.org/officeDocument/2006/relationships/image" Target="../media/image-40-4.png"/><Relationship Id="rId8" Type="http://schemas.openxmlformats.org/officeDocument/2006/relationships/slideLayout" Target="../slideLayouts/slideLayout4.xml"/><Relationship Id="rId9"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3" Type="http://schemas.openxmlformats.org/officeDocument/2006/relationships/slide" Target="slide9.xml"/><Relationship Id="rId4" Type="http://schemas.openxmlformats.org/officeDocument/2006/relationships/slide" Target="slide9.xml"/><Relationship Id="rId7" Type="http://schemas.openxmlformats.org/officeDocument/2006/relationships/slide" Target="slide42.xml"/><Relationship Id="rId1" Type="http://schemas.openxmlformats.org/officeDocument/2006/relationships/image" Target="../media/image-41-1.jpg"/><Relationship Id="rId2" Type="http://schemas.openxmlformats.org/officeDocument/2006/relationships/image" Target="../media/image-41-2.png"/><Relationship Id="rId5" Type="http://schemas.openxmlformats.org/officeDocument/2006/relationships/image" Target="../media/image-41-3.png"/><Relationship Id="rId6" Type="http://schemas.openxmlformats.org/officeDocument/2006/relationships/image" Target="../media/image-41-4.png"/><Relationship Id="rId8" Type="http://schemas.openxmlformats.org/officeDocument/2006/relationships/slideLayout" Target="../slideLayouts/slideLayout4.xml"/><Relationship Id="rId9"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3" Type="http://schemas.openxmlformats.org/officeDocument/2006/relationships/slide" Target="slide9.xml"/><Relationship Id="rId4" Type="http://schemas.openxmlformats.org/officeDocument/2006/relationships/slide" Target="slide9.xml"/><Relationship Id="rId6" Type="http://schemas.openxmlformats.org/officeDocument/2006/relationships/slide" Target="slide41.xml"/><Relationship Id="rId8" Type="http://schemas.openxmlformats.org/officeDocument/2006/relationships/slide" Target="slide43.xml"/><Relationship Id="rId1" Type="http://schemas.openxmlformats.org/officeDocument/2006/relationships/image" Target="../media/image-42-1.jpg"/><Relationship Id="rId2" Type="http://schemas.openxmlformats.org/officeDocument/2006/relationships/image" Target="../media/image-42-2.png"/><Relationship Id="rId5" Type="http://schemas.openxmlformats.org/officeDocument/2006/relationships/image" Target="../media/image-42-3.png"/><Relationship Id="rId7" Type="http://schemas.openxmlformats.org/officeDocument/2006/relationships/image" Target="../media/image-42-4.png"/><Relationship Id="rId9" Type="http://schemas.openxmlformats.org/officeDocument/2006/relationships/slideLayout" Target="../slideLayouts/slideLayout4.xml"/><Relationship Id="rId10"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3" Type="http://schemas.openxmlformats.org/officeDocument/2006/relationships/slide" Target="slide9.xml"/><Relationship Id="rId4" Type="http://schemas.openxmlformats.org/officeDocument/2006/relationships/slide" Target="slide9.xml"/><Relationship Id="rId6" Type="http://schemas.openxmlformats.org/officeDocument/2006/relationships/slide" Target="slide42.xml"/><Relationship Id="rId8" Type="http://schemas.openxmlformats.org/officeDocument/2006/relationships/slide" Target="slide44.xml"/><Relationship Id="rId1" Type="http://schemas.openxmlformats.org/officeDocument/2006/relationships/image" Target="../media/image-43-1.jpg"/><Relationship Id="rId2" Type="http://schemas.openxmlformats.org/officeDocument/2006/relationships/image" Target="../media/image-43-2.png"/><Relationship Id="rId5" Type="http://schemas.openxmlformats.org/officeDocument/2006/relationships/image" Target="../media/image-43-3.png"/><Relationship Id="rId7" Type="http://schemas.openxmlformats.org/officeDocument/2006/relationships/image" Target="../media/image-43-4.png"/><Relationship Id="rId9" Type="http://schemas.openxmlformats.org/officeDocument/2006/relationships/slideLayout" Target="../slideLayouts/slideLayout4.xml"/><Relationship Id="rId10"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3" Type="http://schemas.openxmlformats.org/officeDocument/2006/relationships/slide" Target="slide9.xml"/><Relationship Id="rId4" Type="http://schemas.openxmlformats.org/officeDocument/2006/relationships/slide" Target="slide9.xml"/><Relationship Id="rId6" Type="http://schemas.openxmlformats.org/officeDocument/2006/relationships/slide" Target="slide43.xml"/><Relationship Id="rId8" Type="http://schemas.openxmlformats.org/officeDocument/2006/relationships/slide" Target="slide45.xml"/><Relationship Id="rId1" Type="http://schemas.openxmlformats.org/officeDocument/2006/relationships/image" Target="../media/image-44-1.jpg"/><Relationship Id="rId2" Type="http://schemas.openxmlformats.org/officeDocument/2006/relationships/image" Target="../media/image-44-2.png"/><Relationship Id="rId5" Type="http://schemas.openxmlformats.org/officeDocument/2006/relationships/image" Target="../media/image-44-3.png"/><Relationship Id="rId7" Type="http://schemas.openxmlformats.org/officeDocument/2006/relationships/image" Target="../media/image-44-4.png"/><Relationship Id="rId9" Type="http://schemas.openxmlformats.org/officeDocument/2006/relationships/slideLayout" Target="../slideLayouts/slideLayout4.xml"/><Relationship Id="rId10"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3" Type="http://schemas.openxmlformats.org/officeDocument/2006/relationships/slide" Target="slide9.xml"/><Relationship Id="rId4" Type="http://schemas.openxmlformats.org/officeDocument/2006/relationships/slide" Target="slide9.xml"/><Relationship Id="rId6" Type="http://schemas.openxmlformats.org/officeDocument/2006/relationships/slide" Target="slide44.xml"/><Relationship Id="rId1" Type="http://schemas.openxmlformats.org/officeDocument/2006/relationships/image" Target="../media/image-45-1.jpg"/><Relationship Id="rId2" Type="http://schemas.openxmlformats.org/officeDocument/2006/relationships/image" Target="../media/image-45-2.png"/><Relationship Id="rId5" Type="http://schemas.openxmlformats.org/officeDocument/2006/relationships/image" Target="../media/image-45-3.png"/><Relationship Id="rId7" Type="http://schemas.openxmlformats.org/officeDocument/2006/relationships/image" Target="../media/image-45-4.png"/><Relationship Id="rId8" Type="http://schemas.openxmlformats.org/officeDocument/2006/relationships/slideLayout" Target="../slideLayouts/slideLayout4.xml"/><Relationship Id="rId9"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3" Type="http://schemas.openxmlformats.org/officeDocument/2006/relationships/slide" Target="slide10.xml"/><Relationship Id="rId4" Type="http://schemas.openxmlformats.org/officeDocument/2006/relationships/slide" Target="slide10.xml"/><Relationship Id="rId7" Type="http://schemas.openxmlformats.org/officeDocument/2006/relationships/slide" Target="slide47.xml"/><Relationship Id="rId1" Type="http://schemas.openxmlformats.org/officeDocument/2006/relationships/image" Target="../media/image-46-1.jpg"/><Relationship Id="rId2" Type="http://schemas.openxmlformats.org/officeDocument/2006/relationships/image" Target="../media/image-46-2.png"/><Relationship Id="rId5" Type="http://schemas.openxmlformats.org/officeDocument/2006/relationships/image" Target="../media/image-46-3.png"/><Relationship Id="rId6" Type="http://schemas.openxmlformats.org/officeDocument/2006/relationships/image" Target="../media/image-46-4.png"/><Relationship Id="rId8" Type="http://schemas.openxmlformats.org/officeDocument/2006/relationships/slideLayout" Target="../slideLayouts/slideLayout4.xml"/><Relationship Id="rId9"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3" Type="http://schemas.openxmlformats.org/officeDocument/2006/relationships/slide" Target="slide10.xml"/><Relationship Id="rId4" Type="http://schemas.openxmlformats.org/officeDocument/2006/relationships/slide" Target="slide10.xml"/><Relationship Id="rId6" Type="http://schemas.openxmlformats.org/officeDocument/2006/relationships/slide" Target="slide46.xml"/><Relationship Id="rId8" Type="http://schemas.openxmlformats.org/officeDocument/2006/relationships/slide" Target="slide48.xml"/><Relationship Id="rId1" Type="http://schemas.openxmlformats.org/officeDocument/2006/relationships/image" Target="../media/image-47-1.jpg"/><Relationship Id="rId2" Type="http://schemas.openxmlformats.org/officeDocument/2006/relationships/image" Target="../media/image-47-2.png"/><Relationship Id="rId5" Type="http://schemas.openxmlformats.org/officeDocument/2006/relationships/image" Target="../media/image-47-3.png"/><Relationship Id="rId7" Type="http://schemas.openxmlformats.org/officeDocument/2006/relationships/image" Target="../media/image-47-4.png"/><Relationship Id="rId9" Type="http://schemas.openxmlformats.org/officeDocument/2006/relationships/slideLayout" Target="../slideLayouts/slideLayout4.xml"/><Relationship Id="rId10"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3" Type="http://schemas.openxmlformats.org/officeDocument/2006/relationships/slide" Target="slide10.xml"/><Relationship Id="rId4" Type="http://schemas.openxmlformats.org/officeDocument/2006/relationships/slide" Target="slide10.xml"/><Relationship Id="rId6" Type="http://schemas.openxmlformats.org/officeDocument/2006/relationships/slide" Target="slide47.xml"/><Relationship Id="rId8" Type="http://schemas.openxmlformats.org/officeDocument/2006/relationships/slide" Target="slide49.xml"/><Relationship Id="rId1" Type="http://schemas.openxmlformats.org/officeDocument/2006/relationships/image" Target="../media/image-48-1.jpg"/><Relationship Id="rId2" Type="http://schemas.openxmlformats.org/officeDocument/2006/relationships/image" Target="../media/image-48-2.png"/><Relationship Id="rId5" Type="http://schemas.openxmlformats.org/officeDocument/2006/relationships/image" Target="../media/image-48-3.png"/><Relationship Id="rId7" Type="http://schemas.openxmlformats.org/officeDocument/2006/relationships/image" Target="../media/image-48-4.png"/><Relationship Id="rId9" Type="http://schemas.openxmlformats.org/officeDocument/2006/relationships/slideLayout" Target="../slideLayouts/slideLayout4.xml"/><Relationship Id="rId10"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3" Type="http://schemas.openxmlformats.org/officeDocument/2006/relationships/slide" Target="slide10.xml"/><Relationship Id="rId4" Type="http://schemas.openxmlformats.org/officeDocument/2006/relationships/slide" Target="slide10.xml"/><Relationship Id="rId6" Type="http://schemas.openxmlformats.org/officeDocument/2006/relationships/slide" Target="slide48.xml"/><Relationship Id="rId8" Type="http://schemas.openxmlformats.org/officeDocument/2006/relationships/slide" Target="slide50.xml"/><Relationship Id="rId1" Type="http://schemas.openxmlformats.org/officeDocument/2006/relationships/image" Target="../media/image-49-1.jpg"/><Relationship Id="rId2" Type="http://schemas.openxmlformats.org/officeDocument/2006/relationships/image" Target="../media/image-49-2.png"/><Relationship Id="rId5" Type="http://schemas.openxmlformats.org/officeDocument/2006/relationships/image" Target="../media/image-49-3.png"/><Relationship Id="rId7" Type="http://schemas.openxmlformats.org/officeDocument/2006/relationships/image" Target="../media/image-49-4.png"/><Relationship Id="rId9" Type="http://schemas.openxmlformats.org/officeDocument/2006/relationships/slideLayout" Target="../slideLayouts/slideLayout4.xml"/><Relationship Id="rId10"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3" Type="http://schemas.openxmlformats.org/officeDocument/2006/relationships/slide" Target="slide10.xml"/><Relationship Id="rId4" Type="http://schemas.openxmlformats.org/officeDocument/2006/relationships/slide" Target="slide10.xml"/><Relationship Id="rId6" Type="http://schemas.openxmlformats.org/officeDocument/2006/relationships/slide" Target="slide49.xml"/><Relationship Id="rId8" Type="http://schemas.openxmlformats.org/officeDocument/2006/relationships/slide" Target="slide51.xml"/><Relationship Id="rId1" Type="http://schemas.openxmlformats.org/officeDocument/2006/relationships/image" Target="../media/image-50-1.jpg"/><Relationship Id="rId2" Type="http://schemas.openxmlformats.org/officeDocument/2006/relationships/image" Target="../media/image-50-2.png"/><Relationship Id="rId5" Type="http://schemas.openxmlformats.org/officeDocument/2006/relationships/image" Target="../media/image-50-3.png"/><Relationship Id="rId7" Type="http://schemas.openxmlformats.org/officeDocument/2006/relationships/image" Target="../media/image-50-4.png"/><Relationship Id="rId9" Type="http://schemas.openxmlformats.org/officeDocument/2006/relationships/slideLayout" Target="../slideLayouts/slideLayout4.xml"/><Relationship Id="rId10"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3" Type="http://schemas.openxmlformats.org/officeDocument/2006/relationships/slide" Target="slide10.xml"/><Relationship Id="rId4" Type="http://schemas.openxmlformats.org/officeDocument/2006/relationships/slide" Target="slide10.xml"/><Relationship Id="rId6" Type="http://schemas.openxmlformats.org/officeDocument/2006/relationships/slide" Target="slide50.xml"/><Relationship Id="rId8" Type="http://schemas.openxmlformats.org/officeDocument/2006/relationships/slide" Target="slide52.xml"/><Relationship Id="rId1" Type="http://schemas.openxmlformats.org/officeDocument/2006/relationships/image" Target="../media/image-51-1.jpg"/><Relationship Id="rId2" Type="http://schemas.openxmlformats.org/officeDocument/2006/relationships/image" Target="../media/image-51-2.png"/><Relationship Id="rId5" Type="http://schemas.openxmlformats.org/officeDocument/2006/relationships/image" Target="../media/image-51-3.png"/><Relationship Id="rId7" Type="http://schemas.openxmlformats.org/officeDocument/2006/relationships/image" Target="../media/image-51-4.png"/><Relationship Id="rId9" Type="http://schemas.openxmlformats.org/officeDocument/2006/relationships/slideLayout" Target="../slideLayouts/slideLayout4.xml"/><Relationship Id="rId10"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3" Type="http://schemas.openxmlformats.org/officeDocument/2006/relationships/slide" Target="slide11.xml"/><Relationship Id="rId4" Type="http://schemas.openxmlformats.org/officeDocument/2006/relationships/slide" Target="slide11.xml"/><Relationship Id="rId6" Type="http://schemas.openxmlformats.org/officeDocument/2006/relationships/slide" Target="slide51.xml"/><Relationship Id="rId8" Type="http://schemas.openxmlformats.org/officeDocument/2006/relationships/slide" Target="slide53.xml"/><Relationship Id="rId1" Type="http://schemas.openxmlformats.org/officeDocument/2006/relationships/image" Target="../media/image-52-1.jpg"/><Relationship Id="rId2" Type="http://schemas.openxmlformats.org/officeDocument/2006/relationships/image" Target="../media/image-52-2.png"/><Relationship Id="rId5" Type="http://schemas.openxmlformats.org/officeDocument/2006/relationships/image" Target="../media/image-52-3.png"/><Relationship Id="rId7" Type="http://schemas.openxmlformats.org/officeDocument/2006/relationships/image" Target="../media/image-52-4.png"/><Relationship Id="rId9" Type="http://schemas.openxmlformats.org/officeDocument/2006/relationships/slideLayout" Target="../slideLayouts/slideLayout4.xml"/><Relationship Id="rId10"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3" Type="http://schemas.openxmlformats.org/officeDocument/2006/relationships/slide" Target="slide11.xml"/><Relationship Id="rId4" Type="http://schemas.openxmlformats.org/officeDocument/2006/relationships/slide" Target="slide11.xml"/><Relationship Id="rId6" Type="http://schemas.openxmlformats.org/officeDocument/2006/relationships/slide" Target="slide52.xml"/><Relationship Id="rId8" Type="http://schemas.openxmlformats.org/officeDocument/2006/relationships/slide" Target="slide54.xml"/><Relationship Id="rId1" Type="http://schemas.openxmlformats.org/officeDocument/2006/relationships/image" Target="../media/image-53-1.jpg"/><Relationship Id="rId2" Type="http://schemas.openxmlformats.org/officeDocument/2006/relationships/image" Target="../media/image-53-2.png"/><Relationship Id="rId5" Type="http://schemas.openxmlformats.org/officeDocument/2006/relationships/image" Target="../media/image-53-3.png"/><Relationship Id="rId7" Type="http://schemas.openxmlformats.org/officeDocument/2006/relationships/image" Target="../media/image-53-4.png"/><Relationship Id="rId9" Type="http://schemas.openxmlformats.org/officeDocument/2006/relationships/slideLayout" Target="../slideLayouts/slideLayout4.xml"/><Relationship Id="rId10"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3" Type="http://schemas.openxmlformats.org/officeDocument/2006/relationships/slide" Target="slide11.xml"/><Relationship Id="rId4" Type="http://schemas.openxmlformats.org/officeDocument/2006/relationships/slide" Target="slide11.xml"/><Relationship Id="rId6" Type="http://schemas.openxmlformats.org/officeDocument/2006/relationships/slide" Target="slide53.xml"/><Relationship Id="rId1" Type="http://schemas.openxmlformats.org/officeDocument/2006/relationships/image" Target="../media/image-54-1.jpg"/><Relationship Id="rId2" Type="http://schemas.openxmlformats.org/officeDocument/2006/relationships/image" Target="../media/image-54-2.png"/><Relationship Id="rId5" Type="http://schemas.openxmlformats.org/officeDocument/2006/relationships/image" Target="../media/image-54-3.png"/><Relationship Id="rId7" Type="http://schemas.openxmlformats.org/officeDocument/2006/relationships/image" Target="../media/image-54-4.png"/><Relationship Id="rId8" Type="http://schemas.openxmlformats.org/officeDocument/2006/relationships/slideLayout" Target="../slideLayouts/slideLayout4.xml"/><Relationship Id="rId9"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3" Type="http://schemas.openxmlformats.org/officeDocument/2006/relationships/slide" Target="slide12.xml"/><Relationship Id="rId4" Type="http://schemas.openxmlformats.org/officeDocument/2006/relationships/slide" Target="slide12.xml"/><Relationship Id="rId7" Type="http://schemas.openxmlformats.org/officeDocument/2006/relationships/slide" Target="slide56.xml"/><Relationship Id="rId1" Type="http://schemas.openxmlformats.org/officeDocument/2006/relationships/image" Target="../media/image-55-1.jpg"/><Relationship Id="rId2" Type="http://schemas.openxmlformats.org/officeDocument/2006/relationships/image" Target="../media/image-55-2.png"/><Relationship Id="rId5" Type="http://schemas.openxmlformats.org/officeDocument/2006/relationships/image" Target="../media/image-55-3.png"/><Relationship Id="rId6" Type="http://schemas.openxmlformats.org/officeDocument/2006/relationships/image" Target="../media/image-55-4.png"/><Relationship Id="rId8" Type="http://schemas.openxmlformats.org/officeDocument/2006/relationships/slideLayout" Target="../slideLayouts/slideLayout4.xml"/><Relationship Id="rId9"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3" Type="http://schemas.openxmlformats.org/officeDocument/2006/relationships/slide" Target="slide12.xml"/><Relationship Id="rId4" Type="http://schemas.openxmlformats.org/officeDocument/2006/relationships/slide" Target="slide12.xml"/><Relationship Id="rId6" Type="http://schemas.openxmlformats.org/officeDocument/2006/relationships/slide" Target="slide55.xml"/><Relationship Id="rId8" Type="http://schemas.openxmlformats.org/officeDocument/2006/relationships/slide" Target="slide57.xml"/><Relationship Id="rId1" Type="http://schemas.openxmlformats.org/officeDocument/2006/relationships/image" Target="../media/image-56-1.jpg"/><Relationship Id="rId2" Type="http://schemas.openxmlformats.org/officeDocument/2006/relationships/image" Target="../media/image-56-2.png"/><Relationship Id="rId5" Type="http://schemas.openxmlformats.org/officeDocument/2006/relationships/image" Target="../media/image-56-3.png"/><Relationship Id="rId7" Type="http://schemas.openxmlformats.org/officeDocument/2006/relationships/image" Target="../media/image-56-4.png"/><Relationship Id="rId9" Type="http://schemas.openxmlformats.org/officeDocument/2006/relationships/slideLayout" Target="../slideLayouts/slideLayout4.xml"/><Relationship Id="rId10"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3" Type="http://schemas.openxmlformats.org/officeDocument/2006/relationships/slide" Target="slide12.xml"/><Relationship Id="rId4" Type="http://schemas.openxmlformats.org/officeDocument/2006/relationships/slide" Target="slide12.xml"/><Relationship Id="rId6" Type="http://schemas.openxmlformats.org/officeDocument/2006/relationships/slide" Target="slide56.xml"/><Relationship Id="rId8" Type="http://schemas.openxmlformats.org/officeDocument/2006/relationships/slide" Target="slide58.xml"/><Relationship Id="rId1" Type="http://schemas.openxmlformats.org/officeDocument/2006/relationships/image" Target="../media/image-57-1.jpg"/><Relationship Id="rId2" Type="http://schemas.openxmlformats.org/officeDocument/2006/relationships/image" Target="../media/image-57-2.png"/><Relationship Id="rId5" Type="http://schemas.openxmlformats.org/officeDocument/2006/relationships/image" Target="../media/image-57-3.png"/><Relationship Id="rId7" Type="http://schemas.openxmlformats.org/officeDocument/2006/relationships/image" Target="../media/image-57-4.png"/><Relationship Id="rId9" Type="http://schemas.openxmlformats.org/officeDocument/2006/relationships/slideLayout" Target="../slideLayouts/slideLayout4.xml"/><Relationship Id="rId10"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3" Type="http://schemas.openxmlformats.org/officeDocument/2006/relationships/slide" Target="slide12.xml"/><Relationship Id="rId4" Type="http://schemas.openxmlformats.org/officeDocument/2006/relationships/slide" Target="slide12.xml"/><Relationship Id="rId6" Type="http://schemas.openxmlformats.org/officeDocument/2006/relationships/slide" Target="slide57.xml"/><Relationship Id="rId8" Type="http://schemas.openxmlformats.org/officeDocument/2006/relationships/slide" Target="slide59.xml"/><Relationship Id="rId1" Type="http://schemas.openxmlformats.org/officeDocument/2006/relationships/image" Target="../media/image-58-1.jpg"/><Relationship Id="rId2" Type="http://schemas.openxmlformats.org/officeDocument/2006/relationships/image" Target="../media/image-58-2.png"/><Relationship Id="rId5" Type="http://schemas.openxmlformats.org/officeDocument/2006/relationships/image" Target="../media/image-58-3.png"/><Relationship Id="rId7" Type="http://schemas.openxmlformats.org/officeDocument/2006/relationships/image" Target="../media/image-58-4.png"/><Relationship Id="rId9" Type="http://schemas.openxmlformats.org/officeDocument/2006/relationships/slideLayout" Target="../slideLayouts/slideLayout4.xml"/><Relationship Id="rId10"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3" Type="http://schemas.openxmlformats.org/officeDocument/2006/relationships/slide" Target="slide12.xml"/><Relationship Id="rId4" Type="http://schemas.openxmlformats.org/officeDocument/2006/relationships/slide" Target="slide12.xml"/><Relationship Id="rId6" Type="http://schemas.openxmlformats.org/officeDocument/2006/relationships/slide" Target="slide58.xml"/><Relationship Id="rId8" Type="http://schemas.openxmlformats.org/officeDocument/2006/relationships/slide" Target="slide60.xml"/><Relationship Id="rId1" Type="http://schemas.openxmlformats.org/officeDocument/2006/relationships/image" Target="../media/image-59-1.jpg"/><Relationship Id="rId2" Type="http://schemas.openxmlformats.org/officeDocument/2006/relationships/image" Target="../media/image-59-2.png"/><Relationship Id="rId5" Type="http://schemas.openxmlformats.org/officeDocument/2006/relationships/image" Target="../media/image-59-3.png"/><Relationship Id="rId7" Type="http://schemas.openxmlformats.org/officeDocument/2006/relationships/image" Target="../media/image-59-4.png"/><Relationship Id="rId9" Type="http://schemas.openxmlformats.org/officeDocument/2006/relationships/slideLayout" Target="../slideLayouts/slideLayout4.xml"/><Relationship Id="rId10"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3" Type="http://schemas.openxmlformats.org/officeDocument/2006/relationships/slide" Target="slide12.xml"/><Relationship Id="rId4" Type="http://schemas.openxmlformats.org/officeDocument/2006/relationships/slide" Target="slide12.xml"/><Relationship Id="rId6" Type="http://schemas.openxmlformats.org/officeDocument/2006/relationships/slide" Target="slide59.xml"/><Relationship Id="rId1" Type="http://schemas.openxmlformats.org/officeDocument/2006/relationships/image" Target="../media/image-60-1.jpg"/><Relationship Id="rId2" Type="http://schemas.openxmlformats.org/officeDocument/2006/relationships/image" Target="../media/image-60-2.png"/><Relationship Id="rId5" Type="http://schemas.openxmlformats.org/officeDocument/2006/relationships/image" Target="../media/image-60-3.png"/><Relationship Id="rId7" Type="http://schemas.openxmlformats.org/officeDocument/2006/relationships/image" Target="../media/image-60-4.png"/><Relationship Id="rId8" Type="http://schemas.openxmlformats.org/officeDocument/2006/relationships/slideLayout" Target="../slideLayouts/slideLayout4.xml"/><Relationship Id="rId9"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3" Type="http://schemas.openxmlformats.org/officeDocument/2006/relationships/slide" Target="slide13.xml"/><Relationship Id="rId4" Type="http://schemas.openxmlformats.org/officeDocument/2006/relationships/slide" Target="slide13.xml"/><Relationship Id="rId7" Type="http://schemas.openxmlformats.org/officeDocument/2006/relationships/slide" Target="slide62.xml"/><Relationship Id="rId1" Type="http://schemas.openxmlformats.org/officeDocument/2006/relationships/image" Target="../media/image-61-1.jpg"/><Relationship Id="rId2" Type="http://schemas.openxmlformats.org/officeDocument/2006/relationships/image" Target="../media/image-61-2.png"/><Relationship Id="rId5" Type="http://schemas.openxmlformats.org/officeDocument/2006/relationships/image" Target="../media/image-61-3.png"/><Relationship Id="rId6" Type="http://schemas.openxmlformats.org/officeDocument/2006/relationships/image" Target="../media/image-61-4.png"/><Relationship Id="rId8" Type="http://schemas.openxmlformats.org/officeDocument/2006/relationships/slideLayout" Target="../slideLayouts/slideLayout4.xml"/><Relationship Id="rId9"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3" Type="http://schemas.openxmlformats.org/officeDocument/2006/relationships/slide" Target="slide13.xml"/><Relationship Id="rId4" Type="http://schemas.openxmlformats.org/officeDocument/2006/relationships/slide" Target="slide13.xml"/><Relationship Id="rId6" Type="http://schemas.openxmlformats.org/officeDocument/2006/relationships/slide" Target="slide61.xml"/><Relationship Id="rId8" Type="http://schemas.openxmlformats.org/officeDocument/2006/relationships/slide" Target="slide63.xml"/><Relationship Id="rId1" Type="http://schemas.openxmlformats.org/officeDocument/2006/relationships/image" Target="../media/image-62-1.jpg"/><Relationship Id="rId2" Type="http://schemas.openxmlformats.org/officeDocument/2006/relationships/image" Target="../media/image-62-2.png"/><Relationship Id="rId5" Type="http://schemas.openxmlformats.org/officeDocument/2006/relationships/image" Target="../media/image-62-3.png"/><Relationship Id="rId7" Type="http://schemas.openxmlformats.org/officeDocument/2006/relationships/image" Target="../media/image-62-4.png"/><Relationship Id="rId9" Type="http://schemas.openxmlformats.org/officeDocument/2006/relationships/slideLayout" Target="../slideLayouts/slideLayout4.xml"/><Relationship Id="rId10"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3" Type="http://schemas.openxmlformats.org/officeDocument/2006/relationships/slide" Target="slide13.xml"/><Relationship Id="rId4" Type="http://schemas.openxmlformats.org/officeDocument/2006/relationships/slide" Target="slide13.xml"/><Relationship Id="rId6" Type="http://schemas.openxmlformats.org/officeDocument/2006/relationships/slide" Target="slide62.xml"/><Relationship Id="rId8" Type="http://schemas.openxmlformats.org/officeDocument/2006/relationships/slide" Target="slide64.xml"/><Relationship Id="rId1" Type="http://schemas.openxmlformats.org/officeDocument/2006/relationships/image" Target="../media/image-63-1.jpg"/><Relationship Id="rId2" Type="http://schemas.openxmlformats.org/officeDocument/2006/relationships/image" Target="../media/image-63-2.png"/><Relationship Id="rId5" Type="http://schemas.openxmlformats.org/officeDocument/2006/relationships/image" Target="../media/image-63-3.png"/><Relationship Id="rId7" Type="http://schemas.openxmlformats.org/officeDocument/2006/relationships/image" Target="../media/image-63-4.png"/><Relationship Id="rId9" Type="http://schemas.openxmlformats.org/officeDocument/2006/relationships/slideLayout" Target="../slideLayouts/slideLayout4.xml"/><Relationship Id="rId10"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3" Type="http://schemas.openxmlformats.org/officeDocument/2006/relationships/slide" Target="slide13.xml"/><Relationship Id="rId4" Type="http://schemas.openxmlformats.org/officeDocument/2006/relationships/slide" Target="slide13.xml"/><Relationship Id="rId6" Type="http://schemas.openxmlformats.org/officeDocument/2006/relationships/slide" Target="slide63.xml"/><Relationship Id="rId8" Type="http://schemas.openxmlformats.org/officeDocument/2006/relationships/slide" Target="slide65.xml"/><Relationship Id="rId1" Type="http://schemas.openxmlformats.org/officeDocument/2006/relationships/image" Target="../media/image-64-1.jpg"/><Relationship Id="rId2" Type="http://schemas.openxmlformats.org/officeDocument/2006/relationships/image" Target="../media/image-64-2.png"/><Relationship Id="rId5" Type="http://schemas.openxmlformats.org/officeDocument/2006/relationships/image" Target="../media/image-64-3.png"/><Relationship Id="rId7" Type="http://schemas.openxmlformats.org/officeDocument/2006/relationships/image" Target="../media/image-64-4.png"/><Relationship Id="rId9" Type="http://schemas.openxmlformats.org/officeDocument/2006/relationships/slideLayout" Target="../slideLayouts/slideLayout4.xml"/><Relationship Id="rId10"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3" Type="http://schemas.openxmlformats.org/officeDocument/2006/relationships/slide" Target="slide13.xml"/><Relationship Id="rId4" Type="http://schemas.openxmlformats.org/officeDocument/2006/relationships/slide" Target="slide13.xml"/><Relationship Id="rId6" Type="http://schemas.openxmlformats.org/officeDocument/2006/relationships/slide" Target="slide64.xml"/><Relationship Id="rId8" Type="http://schemas.openxmlformats.org/officeDocument/2006/relationships/slide" Target="slide66.xml"/><Relationship Id="rId1" Type="http://schemas.openxmlformats.org/officeDocument/2006/relationships/image" Target="../media/image-65-1.jpg"/><Relationship Id="rId2" Type="http://schemas.openxmlformats.org/officeDocument/2006/relationships/image" Target="../media/image-65-2.png"/><Relationship Id="rId5" Type="http://schemas.openxmlformats.org/officeDocument/2006/relationships/image" Target="../media/image-65-3.png"/><Relationship Id="rId7" Type="http://schemas.openxmlformats.org/officeDocument/2006/relationships/image" Target="../media/image-65-4.png"/><Relationship Id="rId9" Type="http://schemas.openxmlformats.org/officeDocument/2006/relationships/slideLayout" Target="../slideLayouts/slideLayout4.xml"/><Relationship Id="rId10"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3" Type="http://schemas.openxmlformats.org/officeDocument/2006/relationships/slide" Target="slide14.xml"/><Relationship Id="rId4" Type="http://schemas.openxmlformats.org/officeDocument/2006/relationships/slide" Target="slide14.xml"/><Relationship Id="rId6" Type="http://schemas.openxmlformats.org/officeDocument/2006/relationships/slide" Target="slide65.xml"/><Relationship Id="rId8" Type="http://schemas.openxmlformats.org/officeDocument/2006/relationships/slide" Target="slide67.xml"/><Relationship Id="rId1" Type="http://schemas.openxmlformats.org/officeDocument/2006/relationships/image" Target="../media/image-66-1.jpg"/><Relationship Id="rId2" Type="http://schemas.openxmlformats.org/officeDocument/2006/relationships/image" Target="../media/image-66-2.png"/><Relationship Id="rId5" Type="http://schemas.openxmlformats.org/officeDocument/2006/relationships/image" Target="../media/image-66-3.png"/><Relationship Id="rId7" Type="http://schemas.openxmlformats.org/officeDocument/2006/relationships/image" Target="../media/image-66-4.png"/><Relationship Id="rId9" Type="http://schemas.openxmlformats.org/officeDocument/2006/relationships/slideLayout" Target="../slideLayouts/slideLayout4.xml"/><Relationship Id="rId10"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3" Type="http://schemas.openxmlformats.org/officeDocument/2006/relationships/slide" Target="slide14.xml"/><Relationship Id="rId4" Type="http://schemas.openxmlformats.org/officeDocument/2006/relationships/slide" Target="slide14.xml"/><Relationship Id="rId6" Type="http://schemas.openxmlformats.org/officeDocument/2006/relationships/slide" Target="slide66.xml"/><Relationship Id="rId8" Type="http://schemas.openxmlformats.org/officeDocument/2006/relationships/slide" Target="slide68.xml"/><Relationship Id="rId1" Type="http://schemas.openxmlformats.org/officeDocument/2006/relationships/image" Target="../media/image-67-1.jpg"/><Relationship Id="rId2" Type="http://schemas.openxmlformats.org/officeDocument/2006/relationships/image" Target="../media/image-67-2.png"/><Relationship Id="rId5" Type="http://schemas.openxmlformats.org/officeDocument/2006/relationships/image" Target="../media/image-67-3.png"/><Relationship Id="rId7" Type="http://schemas.openxmlformats.org/officeDocument/2006/relationships/image" Target="../media/image-67-4.png"/><Relationship Id="rId9" Type="http://schemas.openxmlformats.org/officeDocument/2006/relationships/slideLayout" Target="../slideLayouts/slideLayout4.xml"/><Relationship Id="rId10"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3" Type="http://schemas.openxmlformats.org/officeDocument/2006/relationships/slide" Target="slide14.xml"/><Relationship Id="rId4" Type="http://schemas.openxmlformats.org/officeDocument/2006/relationships/slide" Target="slide14.xml"/><Relationship Id="rId6" Type="http://schemas.openxmlformats.org/officeDocument/2006/relationships/slide" Target="slide67.xml"/><Relationship Id="rId1" Type="http://schemas.openxmlformats.org/officeDocument/2006/relationships/image" Target="../media/image-68-1.jpg"/><Relationship Id="rId2" Type="http://schemas.openxmlformats.org/officeDocument/2006/relationships/image" Target="../media/image-68-2.png"/><Relationship Id="rId5" Type="http://schemas.openxmlformats.org/officeDocument/2006/relationships/image" Target="../media/image-68-3.png"/><Relationship Id="rId7" Type="http://schemas.openxmlformats.org/officeDocument/2006/relationships/image" Target="../media/image-68-4.png"/><Relationship Id="rId8" Type="http://schemas.openxmlformats.org/officeDocument/2006/relationships/slideLayout" Target="../slideLayouts/slideLayout4.xml"/><Relationship Id="rId9"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3" Type="http://schemas.openxmlformats.org/officeDocument/2006/relationships/slide" Target="slide15.xml"/><Relationship Id="rId4" Type="http://schemas.openxmlformats.org/officeDocument/2006/relationships/slide" Target="slide15.xml"/><Relationship Id="rId7" Type="http://schemas.openxmlformats.org/officeDocument/2006/relationships/slide" Target="slide70.xml"/><Relationship Id="rId1" Type="http://schemas.openxmlformats.org/officeDocument/2006/relationships/image" Target="../media/image-69-1.jpg"/><Relationship Id="rId2" Type="http://schemas.openxmlformats.org/officeDocument/2006/relationships/image" Target="../media/image-69-2.png"/><Relationship Id="rId5" Type="http://schemas.openxmlformats.org/officeDocument/2006/relationships/image" Target="../media/image-69-3.png"/><Relationship Id="rId6" Type="http://schemas.openxmlformats.org/officeDocument/2006/relationships/image" Target="../media/image-69-4.png"/><Relationship Id="rId8" Type="http://schemas.openxmlformats.org/officeDocument/2006/relationships/slideLayout" Target="../slideLayouts/slideLayout4.xml"/><Relationship Id="rId9"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3" Type="http://schemas.openxmlformats.org/officeDocument/2006/relationships/slide" Target="slide15.xml"/><Relationship Id="rId4" Type="http://schemas.openxmlformats.org/officeDocument/2006/relationships/slide" Target="slide15.xml"/><Relationship Id="rId6" Type="http://schemas.openxmlformats.org/officeDocument/2006/relationships/slide" Target="slide69.xml"/><Relationship Id="rId8" Type="http://schemas.openxmlformats.org/officeDocument/2006/relationships/slide" Target="slide71.xml"/><Relationship Id="rId1" Type="http://schemas.openxmlformats.org/officeDocument/2006/relationships/image" Target="../media/image-70-1.jpg"/><Relationship Id="rId2" Type="http://schemas.openxmlformats.org/officeDocument/2006/relationships/image" Target="../media/image-70-2.png"/><Relationship Id="rId5" Type="http://schemas.openxmlformats.org/officeDocument/2006/relationships/image" Target="../media/image-70-3.png"/><Relationship Id="rId7" Type="http://schemas.openxmlformats.org/officeDocument/2006/relationships/image" Target="../media/image-70-4.png"/><Relationship Id="rId9" Type="http://schemas.openxmlformats.org/officeDocument/2006/relationships/slideLayout" Target="../slideLayouts/slideLayout4.xml"/><Relationship Id="rId10"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3" Type="http://schemas.openxmlformats.org/officeDocument/2006/relationships/slide" Target="slide15.xml"/><Relationship Id="rId4" Type="http://schemas.openxmlformats.org/officeDocument/2006/relationships/slide" Target="slide15.xml"/><Relationship Id="rId6" Type="http://schemas.openxmlformats.org/officeDocument/2006/relationships/slide" Target="slide70.xml"/><Relationship Id="rId8" Type="http://schemas.openxmlformats.org/officeDocument/2006/relationships/slide" Target="slide72.xml"/><Relationship Id="rId1" Type="http://schemas.openxmlformats.org/officeDocument/2006/relationships/image" Target="../media/image-71-1.jpg"/><Relationship Id="rId2" Type="http://schemas.openxmlformats.org/officeDocument/2006/relationships/image" Target="../media/image-71-2.png"/><Relationship Id="rId5" Type="http://schemas.openxmlformats.org/officeDocument/2006/relationships/image" Target="../media/image-71-3.png"/><Relationship Id="rId7" Type="http://schemas.openxmlformats.org/officeDocument/2006/relationships/image" Target="../media/image-71-4.png"/><Relationship Id="rId9" Type="http://schemas.openxmlformats.org/officeDocument/2006/relationships/slideLayout" Target="../slideLayouts/slideLayout4.xml"/><Relationship Id="rId10"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3" Type="http://schemas.openxmlformats.org/officeDocument/2006/relationships/slide" Target="slide15.xml"/><Relationship Id="rId4" Type="http://schemas.openxmlformats.org/officeDocument/2006/relationships/slide" Target="slide15.xml"/><Relationship Id="rId6" Type="http://schemas.openxmlformats.org/officeDocument/2006/relationships/slide" Target="slide71.xml"/><Relationship Id="rId8" Type="http://schemas.openxmlformats.org/officeDocument/2006/relationships/slide" Target="slide73.xml"/><Relationship Id="rId1" Type="http://schemas.openxmlformats.org/officeDocument/2006/relationships/image" Target="../media/image-72-1.jpg"/><Relationship Id="rId2" Type="http://schemas.openxmlformats.org/officeDocument/2006/relationships/image" Target="../media/image-72-2.png"/><Relationship Id="rId5" Type="http://schemas.openxmlformats.org/officeDocument/2006/relationships/image" Target="../media/image-72-3.png"/><Relationship Id="rId7" Type="http://schemas.openxmlformats.org/officeDocument/2006/relationships/image" Target="../media/image-72-4.png"/><Relationship Id="rId9" Type="http://schemas.openxmlformats.org/officeDocument/2006/relationships/slideLayout" Target="../slideLayouts/slideLayout4.xml"/><Relationship Id="rId10"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3" Type="http://schemas.openxmlformats.org/officeDocument/2006/relationships/slide" Target="slide15.xml"/><Relationship Id="rId4" Type="http://schemas.openxmlformats.org/officeDocument/2006/relationships/slide" Target="slide15.xml"/><Relationship Id="rId6" Type="http://schemas.openxmlformats.org/officeDocument/2006/relationships/slide" Target="slide72.xml"/><Relationship Id="rId8" Type="http://schemas.openxmlformats.org/officeDocument/2006/relationships/slide" Target="slide74.xml"/><Relationship Id="rId1" Type="http://schemas.openxmlformats.org/officeDocument/2006/relationships/image" Target="../media/image-73-1.jpg"/><Relationship Id="rId2" Type="http://schemas.openxmlformats.org/officeDocument/2006/relationships/image" Target="../media/image-73-2.png"/><Relationship Id="rId5" Type="http://schemas.openxmlformats.org/officeDocument/2006/relationships/image" Target="../media/image-73-3.png"/><Relationship Id="rId7" Type="http://schemas.openxmlformats.org/officeDocument/2006/relationships/image" Target="../media/image-73-4.png"/><Relationship Id="rId9" Type="http://schemas.openxmlformats.org/officeDocument/2006/relationships/slideLayout" Target="../slideLayouts/slideLayout4.xml"/><Relationship Id="rId10"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3" Type="http://schemas.openxmlformats.org/officeDocument/2006/relationships/slide" Target="slide15.xml"/><Relationship Id="rId4" Type="http://schemas.openxmlformats.org/officeDocument/2006/relationships/slide" Target="slide15.xml"/><Relationship Id="rId6" Type="http://schemas.openxmlformats.org/officeDocument/2006/relationships/slide" Target="slide73.xml"/><Relationship Id="rId1" Type="http://schemas.openxmlformats.org/officeDocument/2006/relationships/image" Target="../media/image-74-1.jpg"/><Relationship Id="rId2" Type="http://schemas.openxmlformats.org/officeDocument/2006/relationships/image" Target="../media/image-74-2.png"/><Relationship Id="rId5" Type="http://schemas.openxmlformats.org/officeDocument/2006/relationships/image" Target="../media/image-74-3.png"/><Relationship Id="rId7" Type="http://schemas.openxmlformats.org/officeDocument/2006/relationships/image" Target="../media/image-74-4.png"/><Relationship Id="rId8" Type="http://schemas.openxmlformats.org/officeDocument/2006/relationships/slideLayout" Target="../slideLayouts/slideLayout4.xml"/><Relationship Id="rId9" Type="http://schemas.openxmlformats.org/officeDocument/2006/relationships/notesSlide" Target="../notesSlides/notesSlide7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AssetTrack wordmark" descr="/home/claude/ais-assettrack/server/app/static/wordmark-on-dark.png">    </p:cNvPr>
          <p:cNvPicPr>
            <a:picLocks noChangeAspect="1"/>
          </p:cNvPicPr>
          <p:nvPr/>
        </p:nvPicPr>
        <p:blipFill>
          <a:blip r:embed="rId1"/>
          <a:stretch>
            <a:fillRect/>
          </a:stretch>
        </p:blipFill>
        <p:spPr>
          <a:xfrm>
            <a:off x="731520" y="914400"/>
            <a:ext cx="3840480" cy="1090825"/>
          </a:xfrm>
          <a:prstGeom prst="rect">
            <a:avLst/>
          </a:prstGeom>
        </p:spPr>
      </p:pic>
      <p:sp>
        <p:nvSpPr>
          <p:cNvPr id="3" name="Title"/>
          <p:cNvSpPr txBox="1"/>
          <p:nvPr/>
        </p:nvSpPr>
        <p:spPr>
          <a:xfrm>
            <a:off x="731520" y="2331720"/>
            <a:ext cx="7863840" cy="822960"/>
          </a:xfrm>
          <a:prstGeom prst="rect">
            <a:avLst/>
          </a:prstGeom>
          <a:noFill/>
          <a:ln/>
        </p:spPr>
        <p:txBody>
          <a:bodyPr wrap="square" lIns="0" tIns="0" rIns="0" bIns="0" rtlCol="0" anchor="ctr"/>
          <a:lstStyle/>
          <a:p>
            <a:pPr indent="0" marL="0">
              <a:buNone/>
            </a:pPr>
            <a:r>
              <a:rPr lang="en-US" sz="4400" b="1" dirty="0">
                <a:solidFill>
                  <a:schemeClr val="bg1"/>
                </a:solidFill>
              </a:rPr>
              <a:t>Process walkthrough</a:t>
            </a:r>
            <a:endParaRPr lang="en-US" sz="4400" dirty="0"/>
          </a:p>
        </p:txBody>
      </p:sp>
      <p:sp>
        <p:nvSpPr>
          <p:cNvPr id="4" name="Subtitle"/>
          <p:cNvSpPr txBox="1"/>
          <p:nvPr/>
        </p:nvSpPr>
        <p:spPr>
          <a:xfrm>
            <a:off x="731520" y="3200400"/>
            <a:ext cx="7863840" cy="914400"/>
          </a:xfrm>
          <a:prstGeom prst="rect">
            <a:avLst/>
          </a:prstGeom>
          <a:noFill/>
          <a:ln/>
        </p:spPr>
        <p:txBody>
          <a:bodyPr wrap="square" lIns="0" tIns="0" rIns="0" bIns="0" rtlCol="0" anchor="ctr"/>
          <a:lstStyle/>
          <a:p>
            <a:pPr indent="0" marL="0">
              <a:buNone/>
            </a:pPr>
            <a:r>
              <a:rPr lang="en-US" sz="2000" dirty="0">
                <a:solidFill>
                  <a:srgbClr val="C9D3F0"/>
                </a:solidFill>
              </a:rPr>
              <a:t>Every step with the actual HHT screen, web page and printed output - from dispatch to the pallet coming back home</a:t>
            </a:r>
            <a:endParaRPr lang="en-US" sz="2000" dirty="0"/>
          </a:p>
        </p:txBody>
      </p:sp>
      <p:sp>
        <p:nvSpPr>
          <p:cNvPr id="5" name="Version"/>
          <p:cNvSpPr txBox="1"/>
          <p:nvPr/>
        </p:nvSpPr>
        <p:spPr>
          <a:xfrm>
            <a:off x="731520" y="5394960"/>
            <a:ext cx="7315200" cy="731520"/>
          </a:xfrm>
          <a:prstGeom prst="rect">
            <a:avLst/>
          </a:prstGeom>
          <a:noFill/>
          <a:ln/>
        </p:spPr>
        <p:txBody>
          <a:bodyPr wrap="square" lIns="0" tIns="0" rIns="0" bIns="0" rtlCol="0" anchor="ctr"/>
          <a:lstStyle/>
          <a:p>
            <a:pPr indent="0" marL="0">
              <a:buNone/>
            </a:pPr>
            <a:r>
              <a:rPr lang="en-US" sz="1400" dirty="0">
                <a:solidFill>
                  <a:srgbClr val="C9D3F0"/>
                </a:solidFill>
              </a:rPr>
              <a:t>Server 1.22 · HHT 2.12</a:t>
            </a:r>
            <a:endParaRPr lang="en-US" sz="1400" dirty="0"/>
          </a:p>
          <a:p>
            <a:pPr indent="0" marL="0">
              <a:buNone/>
            </a:pPr>
            <a:r>
              <a:rPr lang="en-US" sz="1400" dirty="0">
                <a:solidFill>
                  <a:srgbClr val="C9D3F0"/>
                </a:solidFill>
              </a:rPr>
              <a:t>Asahi India Glass Ltd. · Developed by DT</a:t>
            </a:r>
            <a:endParaRPr lang="en-US" sz="1400" dirty="0"/>
          </a:p>
        </p:txBody>
      </p:sp>
      <p:pic>
        <p:nvPicPr>
          <p:cNvPr id="6" name="Title screen sample" descr="/tmp/claude-0/-home-claude/604fe074-c4a3-59f5-a7f0-a4d942adf429/scratchpad/deck/th/d04_stop_do_pdi.jpg">    </p:cNvPr>
          <p:cNvPicPr>
            <a:picLocks noChangeAspect="1"/>
          </p:cNvPicPr>
          <p:nvPr/>
        </p:nvPicPr>
        <p:blipFill>
          <a:blip r:embed="rId2"/>
          <a:stretch>
            <a:fillRect/>
          </a:stretch>
        </p:blipFill>
        <p:spPr>
          <a:xfrm>
            <a:off x="9144000" y="731520"/>
            <a:ext cx="2581874" cy="5394960"/>
          </a:xfrm>
          <a:prstGeom prst="rect">
            <a:avLst/>
          </a:prstGeom>
          <a:effectLst>
            <a:outerShdw sx="100000" sy="100000" kx="0" ky="0" algn="bl" rotWithShape="0" blurRad="152400" dist="50800" dir="5400000">
              <a:srgbClr val="000000">
                <a:alpha val="35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400" b="1" dirty="0">
                <a:solidFill>
                  <a:schemeClr val="tx2"/>
                </a:solidFill>
              </a:rPr>
              <a:t>Process map</a:t>
            </a:r>
            <a:endParaRPr lang="en-US" sz="3400" dirty="0"/>
          </a:p>
        </p:txBody>
      </p:sp>
      <p:pic>
        <p:nvPicPr>
          <p:cNvPr id="3" name="Click hint icon" descr="preencoded.png">    </p:cNvPr>
          <p:cNvPicPr>
            <a:picLocks noChangeAspect="1"/>
          </p:cNvPicPr>
          <p:nvPr/>
        </p:nvPicPr>
        <p:blipFill>
          <a:blip r:embed="rId1"/>
          <a:stretch>
            <a:fillRect/>
          </a:stretch>
        </p:blipFill>
        <p:spPr>
          <a:xfrm>
            <a:off x="457200" y="1097280"/>
            <a:ext cx="347472" cy="347472"/>
          </a:xfrm>
          <a:prstGeom prst="rect">
            <a:avLst/>
          </a:prstGeom>
        </p:spPr>
      </p:pic>
      <p:sp>
        <p:nvSpPr>
          <p:cNvPr id="4" name="How to use"/>
          <p:cNvSpPr txBox="1"/>
          <p:nvPr/>
        </p:nvSpPr>
        <p:spPr>
          <a:xfrm>
            <a:off x="914400" y="1051560"/>
            <a:ext cx="10515600" cy="457200"/>
          </a:xfrm>
          <a:prstGeom prst="rect">
            <a:avLst/>
          </a:prstGeom>
          <a:noFill/>
          <a:ln/>
        </p:spPr>
        <p:txBody>
          <a:bodyPr wrap="square" lIns="0" tIns="0" rIns="0" bIns="0" rtlCol="0" anchor="ctr"/>
          <a:lstStyle/>
          <a:p>
            <a:pPr indent="0" marL="0">
              <a:buNone/>
            </a:pPr>
            <a:r>
              <a:rPr lang="en-US" sz="1600" dirty="0">
                <a:solidFill>
                  <a:schemeClr val="tx1"/>
                </a:solidFill>
              </a:rPr>
              <a:t>In slideshow, click a process to open it. On a step, click </a:t>
            </a:r>
            <a:pPr indent="0" marL="0">
              <a:buNone/>
            </a:pPr>
            <a:r>
              <a:rPr lang="en-US" sz="1600" b="1" dirty="0">
                <a:solidFill>
                  <a:schemeClr val="accent2"/>
                </a:solidFill>
              </a:rPr>
              <a:t>▶</a:t>
            </a:r>
            <a:pPr indent="0" marL="0">
              <a:buNone/>
            </a:pPr>
            <a:r>
              <a:rPr lang="en-US" sz="1600" dirty="0">
                <a:solidFill>
                  <a:schemeClr val="tx1"/>
                </a:solidFill>
              </a:rPr>
              <a:t> (or the small screen) to see the actual picture; click </a:t>
            </a:r>
            <a:pPr indent="0" marL="0">
              <a:buNone/>
            </a:pPr>
            <a:r>
              <a:rPr lang="en-US" sz="1600" b="1" dirty="0">
                <a:solidFill>
                  <a:schemeClr val="accent1"/>
                </a:solidFill>
              </a:rPr>
              <a:t>◀ Back</a:t>
            </a:r>
            <a:pPr indent="0" marL="0">
              <a:buNone/>
            </a:pPr>
            <a:r>
              <a:rPr lang="en-US" sz="1600" dirty="0">
                <a:solidFill>
                  <a:schemeClr val="tx1"/>
                </a:solidFill>
              </a:rPr>
              <a:t> to return.</a:t>
            </a:r>
            <a:endParaRPr lang="en-US" sz="1600" dirty="0"/>
          </a:p>
        </p:txBody>
      </p:sp>
      <p:sp>
        <p:nvSpPr>
          <p:cNvPr id="5" name="Map tile 1"/>
          <p:cNvSpPr/>
          <p:nvPr/>
        </p:nvSpPr>
        <p:spPr>
          <a:xfrm>
            <a:off x="457200" y="1783080"/>
            <a:ext cx="2130552" cy="2057400"/>
          </a:xfrm>
          <a:prstGeom prst="roundRect">
            <a:avLst>
              <a:gd name="adj" fmla="val 5333"/>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sp>
        <p:nvSpPr>
          <p:cNvPr id="6" name="Map number 1"/>
          <p:cNvSpPr/>
          <p:nvPr/>
        </p:nvSpPr>
        <p:spPr>
          <a:xfrm>
            <a:off x="640080" y="196596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Map text 1"/>
          <p:cNvSpPr txBox="1"/>
          <p:nvPr/>
        </p:nvSpPr>
        <p:spPr>
          <a:xfrm>
            <a:off x="640080" y="2560320"/>
            <a:ext cx="1764792" cy="1143000"/>
          </a:xfrm>
          <a:prstGeom prst="rect">
            <a:avLst/>
          </a:prstGeom>
          <a:noFill/>
          <a:ln/>
        </p:spPr>
        <p:txBody>
          <a:bodyPr wrap="square" lIns="0" tIns="0" rIns="0" bIns="0" rtlCol="0" anchor="t"/>
          <a:lstStyle/>
          <a:p>
            <a:pPr indent="0" marL="0">
              <a:buNone/>
            </a:pPr>
            <a:r>
              <a:rPr lang="en-US" sz="1500" b="1" u="sng" dirty="0">
                <a:solidFill>
                  <a:schemeClr val="tx2"/>
                </a:solidFill>
                <a:hlinkClick r:id="rId4" action="ppaction://hlinksldjump" tooltip="Open Setup and sign-in">
                  <a:extLst>
                    <a:ext uri="{A12FA001-AC4F-418D-AE19-62706E023703}">
                      <ahyp:hlinkClr xmlns:ahyp="http://schemas.microsoft.com/office/drawing/2018/hyperlinkcolor" val="tx"/>
                    </a:ext>
                  </a:extLst>
                </a:hlinkClick>
              </a:rPr>
              <a:t>Setup and sign-in</a:t>
            </a:r>
            <a:endParaRPr lang="en-US" sz="1500" dirty="0"/>
          </a:p>
          <a:p>
            <a:pPr indent="0" marL="0">
              <a:buNone/>
            </a:pPr>
            <a:r>
              <a:rPr lang="en-US" sz="1100" u="sng" dirty="0">
                <a:solidFill>
                  <a:srgbClr val="5C6478"/>
                </a:solidFill>
                <a:hlinkClick r:id="rId4" action="ppaction://hlinksldjump" tooltip="Open Setup and sign-in">
                  <a:extLst>
                    <a:ext uri="{A12FA001-AC4F-418D-AE19-62706E023703}">
                      <ahyp:hlinkClr xmlns:ahyp="http://schemas.microsoft.com/office/drawing/2018/hyperlinkcolor" val="tx"/>
                    </a:ext>
                  </a:extLst>
                </a:hlinkClick>
              </a:rPr>
              <a:t>Every HHT user</a:t>
            </a:r>
            <a:endParaRPr lang="en-US" sz="1500" dirty="0"/>
          </a:p>
        </p:txBody>
      </p:sp>
      <p:pic>
        <p:nvPicPr>
          <p:cNvPr id="8" name="Map open 1" descr="preencoded.png">
            <a:hlinkClick r:id="rId4" tooltip="Open Setup and sign-in" action="ppaction://hlinksldjump"/>
          </p:cNvPr>
          <p:cNvPicPr>
            <a:picLocks noChangeAspect="1"/>
          </p:cNvPicPr>
          <p:nvPr/>
        </p:nvPicPr>
        <p:blipFill>
          <a:blip r:embed="rId3"/>
          <a:stretch>
            <a:fillRect/>
          </a:stretch>
        </p:blipFill>
        <p:spPr>
          <a:xfrm>
            <a:off x="2084832" y="1984248"/>
            <a:ext cx="329184" cy="329184"/>
          </a:xfrm>
          <a:prstGeom prst="rect">
            <a:avLst/>
          </a:prstGeom>
        </p:spPr>
      </p:pic>
      <p:sp>
        <p:nvSpPr>
          <p:cNvPr id="9" name="Map tile 2"/>
          <p:cNvSpPr/>
          <p:nvPr/>
        </p:nvSpPr>
        <p:spPr>
          <a:xfrm>
            <a:off x="2743200" y="1783080"/>
            <a:ext cx="2130552" cy="2057400"/>
          </a:xfrm>
          <a:prstGeom prst="roundRect">
            <a:avLst>
              <a:gd name="adj" fmla="val 5333"/>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sp>
        <p:nvSpPr>
          <p:cNvPr id="10" name="Map number 2"/>
          <p:cNvSpPr/>
          <p:nvPr/>
        </p:nvSpPr>
        <p:spPr>
          <a:xfrm>
            <a:off x="2926080" y="1965960"/>
            <a:ext cx="457200" cy="457200"/>
          </a:xfrm>
          <a:prstGeom prst="ellipse">
            <a:avLst/>
          </a:prstGeom>
          <a:solidFill>
            <a:schemeClr val="accent6"/>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Map text 2"/>
          <p:cNvSpPr txBox="1"/>
          <p:nvPr/>
        </p:nvSpPr>
        <p:spPr>
          <a:xfrm>
            <a:off x="2926080" y="2560320"/>
            <a:ext cx="1764792" cy="1143000"/>
          </a:xfrm>
          <a:prstGeom prst="rect">
            <a:avLst/>
          </a:prstGeom>
          <a:noFill/>
          <a:ln/>
        </p:spPr>
        <p:txBody>
          <a:bodyPr wrap="square" lIns="0" tIns="0" rIns="0" bIns="0" rtlCol="0" anchor="t"/>
          <a:lstStyle/>
          <a:p>
            <a:pPr indent="0" marL="0">
              <a:buNone/>
            </a:pPr>
            <a:r>
              <a:rPr lang="en-US" sz="1500" b="1" u="sng" dirty="0">
                <a:solidFill>
                  <a:schemeClr val="tx2"/>
                </a:solidFill>
                <a:hlinkClick r:id="rId7" action="ppaction://hlinksldjump" tooltip="Open Dispatch planning → GCS loading sheet">
                  <a:extLst>
                    <a:ext uri="{A12FA001-AC4F-418D-AE19-62706E023703}">
                      <ahyp:hlinkClr xmlns:ahyp="http://schemas.microsoft.com/office/drawing/2018/hyperlinkcolor" val="tx"/>
                    </a:ext>
                  </a:extLst>
                </a:hlinkClick>
              </a:rPr>
              <a:t>Dispatch planning → GCS loading sheet</a:t>
            </a:r>
            <a:endParaRPr lang="en-US" sz="1500" dirty="0"/>
          </a:p>
          <a:p>
            <a:pPr indent="0" marL="0">
              <a:buNone/>
            </a:pPr>
            <a:r>
              <a:rPr lang="en-US" sz="1100" u="sng" dirty="0">
                <a:solidFill>
                  <a:srgbClr val="5C6478"/>
                </a:solidFill>
                <a:hlinkClick r:id="rId7" action="ppaction://hlinksldjump" tooltip="Open Dispatch planning → GCS loading sheet">
                  <a:extLst>
                    <a:ext uri="{A12FA001-AC4F-418D-AE19-62706E023703}">
                      <ahyp:hlinkClr xmlns:ahyp="http://schemas.microsoft.com/office/drawing/2018/hyperlinkcolor" val="tx"/>
                    </a:ext>
                  </a:extLst>
                </a:hlinkClick>
              </a:rPr>
              <a:t>Dispatch Bench · ERP · Logistics</a:t>
            </a:r>
            <a:endParaRPr lang="en-US" sz="1500" dirty="0"/>
          </a:p>
        </p:txBody>
      </p:sp>
      <p:pic>
        <p:nvPicPr>
          <p:cNvPr id="12" name="Map open 2" descr="preencoded.png">
            <a:hlinkClick r:id="rId7" tooltip="Open Dispatch planning → GCS loading sheet" action="ppaction://hlinksldjump"/>
          </p:cNvPr>
          <p:cNvPicPr>
            <a:picLocks noChangeAspect="1"/>
          </p:cNvPicPr>
          <p:nvPr/>
        </p:nvPicPr>
        <p:blipFill>
          <a:blip r:embed="rId6"/>
          <a:stretch>
            <a:fillRect/>
          </a:stretch>
        </p:blipFill>
        <p:spPr>
          <a:xfrm>
            <a:off x="4370832" y="1984248"/>
            <a:ext cx="329184" cy="329184"/>
          </a:xfrm>
          <a:prstGeom prst="rect">
            <a:avLst/>
          </a:prstGeom>
        </p:spPr>
      </p:pic>
      <p:sp>
        <p:nvSpPr>
          <p:cNvPr id="13" name="Map tile 3"/>
          <p:cNvSpPr/>
          <p:nvPr/>
        </p:nvSpPr>
        <p:spPr>
          <a:xfrm>
            <a:off x="5029200" y="1783080"/>
            <a:ext cx="2130552" cy="2057400"/>
          </a:xfrm>
          <a:prstGeom prst="roundRect">
            <a:avLst>
              <a:gd name="adj" fmla="val 5333"/>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sp>
        <p:nvSpPr>
          <p:cNvPr id="14" name="Map number 3"/>
          <p:cNvSpPr/>
          <p:nvPr/>
        </p:nvSpPr>
        <p:spPr>
          <a:xfrm>
            <a:off x="5212080" y="196596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Map text 3"/>
          <p:cNvSpPr txBox="1"/>
          <p:nvPr/>
        </p:nvSpPr>
        <p:spPr>
          <a:xfrm>
            <a:off x="5212080" y="2560320"/>
            <a:ext cx="1764792" cy="1143000"/>
          </a:xfrm>
          <a:prstGeom prst="rect">
            <a:avLst/>
          </a:prstGeom>
          <a:noFill/>
          <a:ln/>
        </p:spPr>
        <p:txBody>
          <a:bodyPr wrap="square" lIns="0" tIns="0" rIns="0" bIns="0" rtlCol="0" anchor="t"/>
          <a:lstStyle/>
          <a:p>
            <a:pPr indent="0" marL="0">
              <a:buNone/>
            </a:pPr>
            <a:r>
              <a:rPr lang="en-US" sz="1500" b="1" u="sng" dirty="0">
                <a:solidFill>
                  <a:schemeClr val="tx2"/>
                </a:solidFill>
                <a:hlinkClick r:id="rId10" action="ppaction://hlinksldjump" tooltip="Open Vehicle loading against the GCS">
                  <a:extLst>
                    <a:ext uri="{A12FA001-AC4F-418D-AE19-62706E023703}">
                      <ahyp:hlinkClr xmlns:ahyp="http://schemas.microsoft.com/office/drawing/2018/hyperlinkcolor" val="tx"/>
                    </a:ext>
                  </a:extLst>
                </a:hlinkClick>
              </a:rPr>
              <a:t>Vehicle loading against the GCS</a:t>
            </a:r>
            <a:endParaRPr lang="en-US" sz="1500" dirty="0"/>
          </a:p>
          <a:p>
            <a:pPr indent="0" marL="0">
              <a:buNone/>
            </a:pPr>
            <a:r>
              <a:rPr lang="en-US" sz="1100" u="sng" dirty="0">
                <a:solidFill>
                  <a:srgbClr val="5C6478"/>
                </a:solidFill>
                <a:hlinkClick r:id="rId10" action="ppaction://hlinksldjump" tooltip="Open Vehicle loading against the GCS">
                  <a:extLst>
                    <a:ext uri="{A12FA001-AC4F-418D-AE19-62706E023703}">
                      <ahyp:hlinkClr xmlns:ahyp="http://schemas.microsoft.com/office/drawing/2018/hyperlinkcolor" val="tx"/>
                    </a:ext>
                  </a:extLst>
                </a:hlinkClick>
              </a:rPr>
              <a:t>FG Warehouse</a:t>
            </a:r>
            <a:endParaRPr lang="en-US" sz="1500" dirty="0"/>
          </a:p>
        </p:txBody>
      </p:sp>
      <p:pic>
        <p:nvPicPr>
          <p:cNvPr id="16" name="Map open 3" descr="preencoded.png">
            <a:hlinkClick r:id="rId10" tooltip="Open Vehicle loading against the GCS" action="ppaction://hlinksldjump"/>
          </p:cNvPr>
          <p:cNvPicPr>
            <a:picLocks noChangeAspect="1"/>
          </p:cNvPicPr>
          <p:nvPr/>
        </p:nvPicPr>
        <p:blipFill>
          <a:blip r:embed="rId9"/>
          <a:stretch>
            <a:fillRect/>
          </a:stretch>
        </p:blipFill>
        <p:spPr>
          <a:xfrm>
            <a:off x="6656832" y="1984248"/>
            <a:ext cx="329184" cy="329184"/>
          </a:xfrm>
          <a:prstGeom prst="rect">
            <a:avLst/>
          </a:prstGeom>
        </p:spPr>
      </p:pic>
      <p:sp>
        <p:nvSpPr>
          <p:cNvPr id="17" name="Map tile 4"/>
          <p:cNvSpPr/>
          <p:nvPr/>
        </p:nvSpPr>
        <p:spPr>
          <a:xfrm>
            <a:off x="7315200" y="1783080"/>
            <a:ext cx="2130552" cy="2057400"/>
          </a:xfrm>
          <a:prstGeom prst="roundRect">
            <a:avLst>
              <a:gd name="adj" fmla="val 5333"/>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sp>
        <p:nvSpPr>
          <p:cNvPr id="18" name="Map number 4"/>
          <p:cNvSpPr/>
          <p:nvPr/>
        </p:nvSpPr>
        <p:spPr>
          <a:xfrm>
            <a:off x="7498080" y="196596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9" name="Map text 4"/>
          <p:cNvSpPr txBox="1"/>
          <p:nvPr/>
        </p:nvSpPr>
        <p:spPr>
          <a:xfrm>
            <a:off x="7498080" y="2560320"/>
            <a:ext cx="1764792" cy="1143000"/>
          </a:xfrm>
          <a:prstGeom prst="rect">
            <a:avLst/>
          </a:prstGeom>
          <a:noFill/>
          <a:ln/>
        </p:spPr>
        <p:txBody>
          <a:bodyPr wrap="square" lIns="0" tIns="0" rIns="0" bIns="0" rtlCol="0" anchor="t"/>
          <a:lstStyle/>
          <a:p>
            <a:pPr indent="0" marL="0">
              <a:buNone/>
            </a:pPr>
            <a:r>
              <a:rPr lang="en-US" sz="1500" b="1" u="sng" dirty="0">
                <a:solidFill>
                  <a:schemeClr val="tx2"/>
                </a:solidFill>
                <a:hlinkClick r:id="rId13" action="ppaction://hlinksldjump" tooltip="Open OUT gate">
                  <a:extLst>
                    <a:ext uri="{A12FA001-AC4F-418D-AE19-62706E023703}">
                      <ahyp:hlinkClr xmlns:ahyp="http://schemas.microsoft.com/office/drawing/2018/hyperlinkcolor" val="tx"/>
                    </a:ext>
                  </a:extLst>
                </a:hlinkClick>
              </a:rPr>
              <a:t>OUT gate</a:t>
            </a:r>
            <a:endParaRPr lang="en-US" sz="1500" dirty="0"/>
          </a:p>
          <a:p>
            <a:pPr indent="0" marL="0">
              <a:buNone/>
            </a:pPr>
            <a:r>
              <a:rPr lang="en-US" sz="1100" u="sng" dirty="0">
                <a:solidFill>
                  <a:srgbClr val="5C6478"/>
                </a:solidFill>
                <a:hlinkClick r:id="rId13" action="ppaction://hlinksldjump" tooltip="Open OUT gate">
                  <a:extLst>
                    <a:ext uri="{A12FA001-AC4F-418D-AE19-62706E023703}">
                      <ahyp:hlinkClr xmlns:ahyp="http://schemas.microsoft.com/office/drawing/2018/hyperlinkcolor" val="tx"/>
                    </a:ext>
                  </a:extLst>
                </a:hlinkClick>
              </a:rPr>
              <a:t>Security - OUT gate</a:t>
            </a:r>
            <a:endParaRPr lang="en-US" sz="1500" dirty="0"/>
          </a:p>
        </p:txBody>
      </p:sp>
      <p:pic>
        <p:nvPicPr>
          <p:cNvPr id="20" name="Map open 4" descr="preencoded.png">
            <a:hlinkClick r:id="rId13" tooltip="Open OUT gate" action="ppaction://hlinksldjump"/>
          </p:cNvPr>
          <p:cNvPicPr>
            <a:picLocks noChangeAspect="1"/>
          </p:cNvPicPr>
          <p:nvPr/>
        </p:nvPicPr>
        <p:blipFill>
          <a:blip r:embed="rId12"/>
          <a:stretch>
            <a:fillRect/>
          </a:stretch>
        </p:blipFill>
        <p:spPr>
          <a:xfrm>
            <a:off x="8942832" y="1984248"/>
            <a:ext cx="329184" cy="329184"/>
          </a:xfrm>
          <a:prstGeom prst="rect">
            <a:avLst/>
          </a:prstGeom>
        </p:spPr>
      </p:pic>
      <p:sp>
        <p:nvSpPr>
          <p:cNvPr id="21" name="Map tile 5"/>
          <p:cNvSpPr/>
          <p:nvPr/>
        </p:nvSpPr>
        <p:spPr>
          <a:xfrm>
            <a:off x="9601200" y="1783080"/>
            <a:ext cx="2130552" cy="2057400"/>
          </a:xfrm>
          <a:prstGeom prst="roundRect">
            <a:avLst>
              <a:gd name="adj" fmla="val 5333"/>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sp>
        <p:nvSpPr>
          <p:cNvPr id="22" name="Map number 5"/>
          <p:cNvSpPr/>
          <p:nvPr/>
        </p:nvSpPr>
        <p:spPr>
          <a:xfrm>
            <a:off x="9784080" y="1965960"/>
            <a:ext cx="457200" cy="457200"/>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3" name="Map text 5"/>
          <p:cNvSpPr txBox="1"/>
          <p:nvPr/>
        </p:nvSpPr>
        <p:spPr>
          <a:xfrm>
            <a:off x="9784080" y="2560320"/>
            <a:ext cx="1764792" cy="1143000"/>
          </a:xfrm>
          <a:prstGeom prst="rect">
            <a:avLst/>
          </a:prstGeom>
          <a:noFill/>
          <a:ln/>
        </p:spPr>
        <p:txBody>
          <a:bodyPr wrap="square" lIns="0" tIns="0" rIns="0" bIns="0" rtlCol="0" anchor="t"/>
          <a:lstStyle/>
          <a:p>
            <a:pPr indent="0" marL="0">
              <a:buNone/>
            </a:pPr>
            <a:r>
              <a:rPr lang="en-US" sz="1500" b="1" u="sng" dirty="0">
                <a:solidFill>
                  <a:schemeClr val="tx2"/>
                </a:solidFill>
                <a:hlinkClick r:id="rId16" action="ppaction://hlinksldjump" tooltip="Open At the customer - receive delivery">
                  <a:extLst>
                    <a:ext uri="{A12FA001-AC4F-418D-AE19-62706E023703}">
                      <ahyp:hlinkClr xmlns:ahyp="http://schemas.microsoft.com/office/drawing/2018/hyperlinkcolor" val="tx"/>
                    </a:ext>
                  </a:extLst>
                </a:hlinkClick>
              </a:rPr>
              <a:t>At the customer - receive delivery</a:t>
            </a:r>
            <a:endParaRPr lang="en-US" sz="1500" dirty="0"/>
          </a:p>
          <a:p>
            <a:pPr indent="0" marL="0">
              <a:buNone/>
            </a:pPr>
            <a:r>
              <a:rPr lang="en-US" sz="1100" u="sng" dirty="0">
                <a:solidFill>
                  <a:srgbClr val="5C6478"/>
                </a:solidFill>
                <a:hlinkClick r:id="rId16" action="ppaction://hlinksldjump" tooltip="Open At the customer - receive delivery">
                  <a:extLst>
                    <a:ext uri="{A12FA001-AC4F-418D-AE19-62706E023703}">
                      <ahyp:hlinkClr xmlns:ahyp="http://schemas.microsoft.com/office/drawing/2018/hyperlinkcolor" val="tx"/>
                    </a:ext>
                  </a:extLst>
                </a:hlinkClick>
              </a:rPr>
              <a:t>Customer staff (customer HHT)</a:t>
            </a:r>
            <a:endParaRPr lang="en-US" sz="1500" dirty="0"/>
          </a:p>
        </p:txBody>
      </p:sp>
      <p:pic>
        <p:nvPicPr>
          <p:cNvPr id="24" name="Map open 5" descr="preencoded.png">
            <a:hlinkClick r:id="rId16" tooltip="Open At the customer - receive delivery" action="ppaction://hlinksldjump"/>
          </p:cNvPr>
          <p:cNvPicPr>
            <a:picLocks noChangeAspect="1"/>
          </p:cNvPicPr>
          <p:nvPr/>
        </p:nvPicPr>
        <p:blipFill>
          <a:blip r:embed="rId15"/>
          <a:stretch>
            <a:fillRect/>
          </a:stretch>
        </p:blipFill>
        <p:spPr>
          <a:xfrm>
            <a:off x="11228832" y="1984248"/>
            <a:ext cx="329184" cy="329184"/>
          </a:xfrm>
          <a:prstGeom prst="rect">
            <a:avLst/>
          </a:prstGeom>
        </p:spPr>
      </p:pic>
      <p:sp>
        <p:nvSpPr>
          <p:cNvPr id="25" name="Map tile 6"/>
          <p:cNvSpPr/>
          <p:nvPr/>
        </p:nvSpPr>
        <p:spPr>
          <a:xfrm>
            <a:off x="457200" y="4069080"/>
            <a:ext cx="2130552" cy="2057400"/>
          </a:xfrm>
          <a:prstGeom prst="roundRect">
            <a:avLst>
              <a:gd name="adj" fmla="val 5333"/>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sp>
        <p:nvSpPr>
          <p:cNvPr id="26" name="Map number 6"/>
          <p:cNvSpPr/>
          <p:nvPr/>
        </p:nvSpPr>
        <p:spPr>
          <a:xfrm>
            <a:off x="640080" y="4251960"/>
            <a:ext cx="457200" cy="457200"/>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7" name="Map text 6"/>
          <p:cNvSpPr txBox="1"/>
          <p:nvPr/>
        </p:nvSpPr>
        <p:spPr>
          <a:xfrm>
            <a:off x="640080" y="4846320"/>
            <a:ext cx="1764792" cy="1143000"/>
          </a:xfrm>
          <a:prstGeom prst="rect">
            <a:avLst/>
          </a:prstGeom>
          <a:noFill/>
          <a:ln/>
        </p:spPr>
        <p:txBody>
          <a:bodyPr wrap="square" lIns="0" tIns="0" rIns="0" bIns="0" rtlCol="0" anchor="t"/>
          <a:lstStyle/>
          <a:p>
            <a:pPr indent="0" marL="0">
              <a:buNone/>
            </a:pPr>
            <a:r>
              <a:rPr lang="en-US" sz="1500" b="1" u="sng" dirty="0">
                <a:solidFill>
                  <a:schemeClr val="tx2"/>
                </a:solidFill>
                <a:hlinkClick r:id="rId19" action="ppaction://hlinksldjump" tooltip="Open Return empty pallets - Option A (customer)">
                  <a:extLst>
                    <a:ext uri="{A12FA001-AC4F-418D-AE19-62706E023703}">
                      <ahyp:hlinkClr xmlns:ahyp="http://schemas.microsoft.com/office/drawing/2018/hyperlinkcolor" val="tx"/>
                    </a:ext>
                  </a:extLst>
                </a:hlinkClick>
              </a:rPr>
              <a:t>Return empty pallets - Option A (customer)</a:t>
            </a:r>
            <a:endParaRPr lang="en-US" sz="1500" dirty="0"/>
          </a:p>
          <a:p>
            <a:pPr indent="0" marL="0">
              <a:buNone/>
            </a:pPr>
            <a:r>
              <a:rPr lang="en-US" sz="1100" u="sng" dirty="0">
                <a:solidFill>
                  <a:srgbClr val="5C6478"/>
                </a:solidFill>
                <a:hlinkClick r:id="rId19" action="ppaction://hlinksldjump" tooltip="Open Return empty pallets - Option A (customer)">
                  <a:extLst>
                    <a:ext uri="{A12FA001-AC4F-418D-AE19-62706E023703}">
                      <ahyp:hlinkClr xmlns:ahyp="http://schemas.microsoft.com/office/drawing/2018/hyperlinkcolor" val="tx"/>
                    </a:ext>
                  </a:extLst>
                </a:hlinkClick>
              </a:rPr>
              <a:t>Customer staff (customer HHT)</a:t>
            </a:r>
            <a:endParaRPr lang="en-US" sz="1500" dirty="0"/>
          </a:p>
        </p:txBody>
      </p:sp>
      <p:pic>
        <p:nvPicPr>
          <p:cNvPr id="28" name="Map open 6" descr="preencoded.png">
            <a:hlinkClick r:id="rId19" tooltip="Open Return empty pallets - Option A (customer)" action="ppaction://hlinksldjump"/>
          </p:cNvPr>
          <p:cNvPicPr>
            <a:picLocks noChangeAspect="1"/>
          </p:cNvPicPr>
          <p:nvPr/>
        </p:nvPicPr>
        <p:blipFill>
          <a:blip r:embed="rId18"/>
          <a:stretch>
            <a:fillRect/>
          </a:stretch>
        </p:blipFill>
        <p:spPr>
          <a:xfrm>
            <a:off x="2084832" y="4270248"/>
            <a:ext cx="329184" cy="329184"/>
          </a:xfrm>
          <a:prstGeom prst="rect">
            <a:avLst/>
          </a:prstGeom>
        </p:spPr>
      </p:pic>
      <p:sp>
        <p:nvSpPr>
          <p:cNvPr id="29" name="Map tile 7"/>
          <p:cNvSpPr/>
          <p:nvPr/>
        </p:nvSpPr>
        <p:spPr>
          <a:xfrm>
            <a:off x="2743200" y="4069080"/>
            <a:ext cx="2130552" cy="2057400"/>
          </a:xfrm>
          <a:prstGeom prst="roundRect">
            <a:avLst>
              <a:gd name="adj" fmla="val 5333"/>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sp>
        <p:nvSpPr>
          <p:cNvPr id="30" name="Map number 7"/>
          <p:cNvSpPr/>
          <p:nvPr/>
        </p:nvSpPr>
        <p:spPr>
          <a:xfrm>
            <a:off x="2926080" y="4251960"/>
            <a:ext cx="457200" cy="45720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31" name="Map text 7"/>
          <p:cNvSpPr txBox="1"/>
          <p:nvPr/>
        </p:nvSpPr>
        <p:spPr>
          <a:xfrm>
            <a:off x="2926080" y="4846320"/>
            <a:ext cx="1764792" cy="1143000"/>
          </a:xfrm>
          <a:prstGeom prst="rect">
            <a:avLst/>
          </a:prstGeom>
          <a:noFill/>
          <a:ln/>
        </p:spPr>
        <p:txBody>
          <a:bodyPr wrap="square" lIns="0" tIns="0" rIns="0" bIns="0" rtlCol="0" anchor="t"/>
          <a:lstStyle/>
          <a:p>
            <a:pPr indent="0" marL="0">
              <a:buNone/>
            </a:pPr>
            <a:r>
              <a:rPr lang="en-US" sz="1500" b="1" u="sng" dirty="0">
                <a:solidFill>
                  <a:schemeClr val="tx2"/>
                </a:solidFill>
                <a:hlinkClick r:id="rId22" action="ppaction://hlinksldjump" tooltip="Open IN gate - every inward is registered">
                  <a:extLst>
                    <a:ext uri="{A12FA001-AC4F-418D-AE19-62706E023703}">
                      <ahyp:hlinkClr xmlns:ahyp="http://schemas.microsoft.com/office/drawing/2018/hyperlinkcolor" val="tx"/>
                    </a:ext>
                  </a:extLst>
                </a:hlinkClick>
              </a:rPr>
              <a:t>IN gate - every inward is registered</a:t>
            </a:r>
            <a:endParaRPr lang="en-US" sz="1500" dirty="0"/>
          </a:p>
          <a:p>
            <a:pPr indent="0" marL="0">
              <a:buNone/>
            </a:pPr>
            <a:r>
              <a:rPr lang="en-US" sz="1100" u="sng" dirty="0">
                <a:solidFill>
                  <a:srgbClr val="5C6478"/>
                </a:solidFill>
                <a:hlinkClick r:id="rId22" action="ppaction://hlinksldjump" tooltip="Open IN gate - every inward is registered">
                  <a:extLst>
                    <a:ext uri="{A12FA001-AC4F-418D-AE19-62706E023703}">
                      <ahyp:hlinkClr xmlns:ahyp="http://schemas.microsoft.com/office/drawing/2018/hyperlinkcolor" val="tx"/>
                    </a:ext>
                  </a:extLst>
                </a:hlinkClick>
              </a:rPr>
              <a:t>Security - IN gate</a:t>
            </a:r>
            <a:endParaRPr lang="en-US" sz="1500" dirty="0"/>
          </a:p>
        </p:txBody>
      </p:sp>
      <p:pic>
        <p:nvPicPr>
          <p:cNvPr id="32" name="Map open 7" descr="preencoded.png">
            <a:hlinkClick r:id="rId22" tooltip="Open IN gate - every inward is registered" action="ppaction://hlinksldjump"/>
          </p:cNvPr>
          <p:cNvPicPr>
            <a:picLocks noChangeAspect="1"/>
          </p:cNvPicPr>
          <p:nvPr/>
        </p:nvPicPr>
        <p:blipFill>
          <a:blip r:embed="rId21"/>
          <a:stretch>
            <a:fillRect/>
          </a:stretch>
        </p:blipFill>
        <p:spPr>
          <a:xfrm>
            <a:off x="4370832" y="4270248"/>
            <a:ext cx="329184" cy="329184"/>
          </a:xfrm>
          <a:prstGeom prst="rect">
            <a:avLst/>
          </a:prstGeom>
        </p:spPr>
      </p:pic>
      <p:sp>
        <p:nvSpPr>
          <p:cNvPr id="33" name="Map tile 8"/>
          <p:cNvSpPr/>
          <p:nvPr/>
        </p:nvSpPr>
        <p:spPr>
          <a:xfrm>
            <a:off x="5029200" y="4069080"/>
            <a:ext cx="2130552" cy="2057400"/>
          </a:xfrm>
          <a:prstGeom prst="roundRect">
            <a:avLst>
              <a:gd name="adj" fmla="val 5333"/>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sp>
        <p:nvSpPr>
          <p:cNvPr id="34" name="Map number 8"/>
          <p:cNvSpPr/>
          <p:nvPr/>
        </p:nvSpPr>
        <p:spPr>
          <a:xfrm>
            <a:off x="5212080" y="4251960"/>
            <a:ext cx="457200" cy="457200"/>
          </a:xfrm>
          <a:prstGeom prst="ellipse">
            <a:avLst/>
          </a:prstGeom>
          <a:solidFill>
            <a:schemeClr val="accent5"/>
          </a:solidFill>
          <a:ln/>
        </p:spPr>
        <p:txBody>
          <a:bodyPr wrap="square" lIns="0" tIns="0" rIns="0" bIns="0" rtlCol="0" anchor="ctr"/>
          <a:lstStyle/>
          <a:p>
            <a:pPr algn="ctr" indent="0" marL="0">
              <a:buNone/>
            </a:pPr>
            <a:r>
              <a:rPr lang="en-US" sz="1600" b="1" dirty="0">
                <a:solidFill>
                  <a:schemeClr val="bg1"/>
                </a:solidFill>
              </a:rPr>
              <a:t>8</a:t>
            </a:r>
            <a:endParaRPr lang="en-US" sz="1600" dirty="0"/>
          </a:p>
        </p:txBody>
      </p:sp>
      <p:sp>
        <p:nvSpPr>
          <p:cNvPr id="35" name="Map text 8"/>
          <p:cNvSpPr txBox="1"/>
          <p:nvPr/>
        </p:nvSpPr>
        <p:spPr>
          <a:xfrm>
            <a:off x="5212080" y="4846320"/>
            <a:ext cx="1764792" cy="1143000"/>
          </a:xfrm>
          <a:prstGeom prst="rect">
            <a:avLst/>
          </a:prstGeom>
          <a:noFill/>
          <a:ln/>
        </p:spPr>
        <p:txBody>
          <a:bodyPr wrap="square" lIns="0" tIns="0" rIns="0" bIns="0" rtlCol="0" anchor="t"/>
          <a:lstStyle/>
          <a:p>
            <a:pPr indent="0" marL="0">
              <a:buNone/>
            </a:pPr>
            <a:r>
              <a:rPr lang="en-US" sz="1500" b="1" u="sng" dirty="0">
                <a:solidFill>
                  <a:schemeClr val="tx2"/>
                </a:solidFill>
                <a:hlinkClick r:id="rId25" action="ppaction://hlinksldjump" tooltip="Open Pallet yard in-ward">
                  <a:extLst>
                    <a:ext uri="{A12FA001-AC4F-418D-AE19-62706E023703}">
                      <ahyp:hlinkClr xmlns:ahyp="http://schemas.microsoft.com/office/drawing/2018/hyperlinkcolor" val="tx"/>
                    </a:ext>
                  </a:extLst>
                </a:hlinkClick>
              </a:rPr>
              <a:t>Pallet yard in-ward</a:t>
            </a:r>
            <a:endParaRPr lang="en-US" sz="1500" dirty="0"/>
          </a:p>
          <a:p>
            <a:pPr indent="0" marL="0">
              <a:buNone/>
            </a:pPr>
            <a:r>
              <a:rPr lang="en-US" sz="1100" u="sng" dirty="0">
                <a:solidFill>
                  <a:srgbClr val="5C6478"/>
                </a:solidFill>
                <a:hlinkClick r:id="rId25" action="ppaction://hlinksldjump" tooltip="Open Pallet yard in-ward">
                  <a:extLst>
                    <a:ext uri="{A12FA001-AC4F-418D-AE19-62706E023703}">
                      <ahyp:hlinkClr xmlns:ahyp="http://schemas.microsoft.com/office/drawing/2018/hyperlinkcolor" val="tx"/>
                    </a:ext>
                  </a:extLst>
                </a:hlinkClick>
              </a:rPr>
              <a:t>Pallet yard</a:t>
            </a:r>
            <a:endParaRPr lang="en-US" sz="1500" dirty="0"/>
          </a:p>
        </p:txBody>
      </p:sp>
      <p:pic>
        <p:nvPicPr>
          <p:cNvPr id="36" name="Map open 8" descr="preencoded.png">
            <a:hlinkClick r:id="rId25" tooltip="Open Pallet yard in-ward" action="ppaction://hlinksldjump"/>
          </p:cNvPr>
          <p:cNvPicPr>
            <a:picLocks noChangeAspect="1"/>
          </p:cNvPicPr>
          <p:nvPr/>
        </p:nvPicPr>
        <p:blipFill>
          <a:blip r:embed="rId24"/>
          <a:stretch>
            <a:fillRect/>
          </a:stretch>
        </p:blipFill>
        <p:spPr>
          <a:xfrm>
            <a:off x="6656832" y="4270248"/>
            <a:ext cx="329184" cy="329184"/>
          </a:xfrm>
          <a:prstGeom prst="rect">
            <a:avLst/>
          </a:prstGeom>
        </p:spPr>
      </p:pic>
      <p:sp>
        <p:nvSpPr>
          <p:cNvPr id="37" name="Map tile 9"/>
          <p:cNvSpPr/>
          <p:nvPr/>
        </p:nvSpPr>
        <p:spPr>
          <a:xfrm>
            <a:off x="7315200" y="4069080"/>
            <a:ext cx="2130552" cy="2057400"/>
          </a:xfrm>
          <a:prstGeom prst="roundRect">
            <a:avLst>
              <a:gd name="adj" fmla="val 5333"/>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sp>
        <p:nvSpPr>
          <p:cNvPr id="38" name="Map number 9"/>
          <p:cNvSpPr/>
          <p:nvPr/>
        </p:nvSpPr>
        <p:spPr>
          <a:xfrm>
            <a:off x="7498080" y="4251960"/>
            <a:ext cx="457200" cy="457200"/>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bg1"/>
                </a:solidFill>
              </a:rPr>
              <a:t>9</a:t>
            </a:r>
            <a:endParaRPr lang="en-US" sz="1600" dirty="0"/>
          </a:p>
        </p:txBody>
      </p:sp>
      <p:sp>
        <p:nvSpPr>
          <p:cNvPr id="39" name="Map text 9"/>
          <p:cNvSpPr txBox="1"/>
          <p:nvPr/>
        </p:nvSpPr>
        <p:spPr>
          <a:xfrm>
            <a:off x="7498080" y="4846320"/>
            <a:ext cx="1764792" cy="1143000"/>
          </a:xfrm>
          <a:prstGeom prst="rect">
            <a:avLst/>
          </a:prstGeom>
          <a:noFill/>
          <a:ln/>
        </p:spPr>
        <p:txBody>
          <a:bodyPr wrap="square" lIns="0" tIns="0" rIns="0" bIns="0" rtlCol="0" anchor="t"/>
          <a:lstStyle/>
          <a:p>
            <a:pPr indent="0" marL="0">
              <a:buNone/>
            </a:pPr>
            <a:r>
              <a:rPr lang="en-US" sz="1500" b="1" u="sng" dirty="0">
                <a:solidFill>
                  <a:schemeClr val="tx2"/>
                </a:solidFill>
                <a:hlinkClick r:id="rId28" action="ppaction://hlinksldjump" tooltip="Open Plant to plant - other plants’ pallets">
                  <a:extLst>
                    <a:ext uri="{A12FA001-AC4F-418D-AE19-62706E023703}">
                      <ahyp:hlinkClr xmlns:ahyp="http://schemas.microsoft.com/office/drawing/2018/hyperlinkcolor" val="tx"/>
                    </a:ext>
                  </a:extLst>
                </a:hlinkClick>
              </a:rPr>
              <a:t>Plant to plant - other plants’ pallets</a:t>
            </a:r>
            <a:endParaRPr lang="en-US" sz="1500" dirty="0"/>
          </a:p>
          <a:p>
            <a:pPr indent="0" marL="0">
              <a:buNone/>
            </a:pPr>
            <a:r>
              <a:rPr lang="en-US" sz="1100" u="sng" dirty="0">
                <a:solidFill>
                  <a:srgbClr val="5C6478"/>
                </a:solidFill>
                <a:hlinkClick r:id="rId28" action="ppaction://hlinksldjump" tooltip="Open Plant to plant - other plants’ pallets">
                  <a:extLst>
                    <a:ext uri="{A12FA001-AC4F-418D-AE19-62706E023703}">
                      <ahyp:hlinkClr xmlns:ahyp="http://schemas.microsoft.com/office/drawing/2018/hyperlinkcolor" val="tx"/>
                    </a:ext>
                  </a:extLst>
                </a:hlinkClick>
              </a:rPr>
              <a:t>Pallet yard · Logistics · Security</a:t>
            </a:r>
            <a:endParaRPr lang="en-US" sz="1500" dirty="0"/>
          </a:p>
        </p:txBody>
      </p:sp>
      <p:pic>
        <p:nvPicPr>
          <p:cNvPr id="40" name="Map open 9" descr="preencoded.png">
            <a:hlinkClick r:id="rId28" tooltip="Open Plant to plant - other plants’ pallets" action="ppaction://hlinksldjump"/>
          </p:cNvPr>
          <p:cNvPicPr>
            <a:picLocks noChangeAspect="1"/>
          </p:cNvPicPr>
          <p:nvPr/>
        </p:nvPicPr>
        <p:blipFill>
          <a:blip r:embed="rId27"/>
          <a:stretch>
            <a:fillRect/>
          </a:stretch>
        </p:blipFill>
        <p:spPr>
          <a:xfrm>
            <a:off x="8942832" y="4270248"/>
            <a:ext cx="329184" cy="329184"/>
          </a:xfrm>
          <a:prstGeom prst="rect">
            <a:avLst/>
          </a:prstGeom>
        </p:spPr>
      </p:pic>
      <p:sp>
        <p:nvSpPr>
          <p:cNvPr id="41" name="Map tile 10"/>
          <p:cNvSpPr/>
          <p:nvPr/>
        </p:nvSpPr>
        <p:spPr>
          <a:xfrm>
            <a:off x="9601200" y="4069080"/>
            <a:ext cx="2130552" cy="2057400"/>
          </a:xfrm>
          <a:prstGeom prst="roundRect">
            <a:avLst>
              <a:gd name="adj" fmla="val 5333"/>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sp>
        <p:nvSpPr>
          <p:cNvPr id="42" name="Map number 10"/>
          <p:cNvSpPr/>
          <p:nvPr/>
        </p:nvSpPr>
        <p:spPr>
          <a:xfrm>
            <a:off x="9784080" y="425196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10</a:t>
            </a:r>
            <a:endParaRPr lang="en-US" sz="1600" dirty="0"/>
          </a:p>
        </p:txBody>
      </p:sp>
      <p:sp>
        <p:nvSpPr>
          <p:cNvPr id="43" name="Map text 10"/>
          <p:cNvSpPr txBox="1"/>
          <p:nvPr/>
        </p:nvSpPr>
        <p:spPr>
          <a:xfrm>
            <a:off x="9784080" y="4846320"/>
            <a:ext cx="1764792" cy="1143000"/>
          </a:xfrm>
          <a:prstGeom prst="rect">
            <a:avLst/>
          </a:prstGeom>
          <a:noFill/>
          <a:ln/>
        </p:spPr>
        <p:txBody>
          <a:bodyPr wrap="square" lIns="0" tIns="0" rIns="0" bIns="0" rtlCol="0" anchor="t"/>
          <a:lstStyle/>
          <a:p>
            <a:pPr indent="0" marL="0">
              <a:buNone/>
            </a:pPr>
            <a:r>
              <a:rPr lang="en-US" sz="1500" b="1" u="sng" dirty="0">
                <a:solidFill>
                  <a:schemeClr val="tx2"/>
                </a:solidFill>
                <a:hlinkClick r:id="rId31" action="ppaction://hlinksldjump" tooltip="Open Monitoring on the web">
                  <a:extLst>
                    <a:ext uri="{A12FA001-AC4F-418D-AE19-62706E023703}">
                      <ahyp:hlinkClr xmlns:ahyp="http://schemas.microsoft.com/office/drawing/2018/hyperlinkcolor" val="tx"/>
                    </a:ext>
                  </a:extLst>
                </a:hlinkClick>
              </a:rPr>
              <a:t>Monitoring on the web</a:t>
            </a:r>
            <a:endParaRPr lang="en-US" sz="1500" dirty="0"/>
          </a:p>
          <a:p>
            <a:pPr indent="0" marL="0">
              <a:buNone/>
            </a:pPr>
            <a:r>
              <a:rPr lang="en-US" sz="1100" u="sng" dirty="0">
                <a:solidFill>
                  <a:srgbClr val="5C6478"/>
                </a:solidFill>
                <a:hlinkClick r:id="rId31" action="ppaction://hlinksldjump" tooltip="Open Monitoring on the web">
                  <a:extLst>
                    <a:ext uri="{A12FA001-AC4F-418D-AE19-62706E023703}">
                      <ahyp:hlinkClr xmlns:ahyp="http://schemas.microsoft.com/office/drawing/2018/hyperlinkcolor" val="tx"/>
                    </a:ext>
                  </a:extLst>
                </a:hlinkClick>
              </a:rPr>
              <a:t>Plant · Logistics · Management</a:t>
            </a:r>
            <a:endParaRPr lang="en-US" sz="1500" dirty="0"/>
          </a:p>
        </p:txBody>
      </p:sp>
      <p:pic>
        <p:nvPicPr>
          <p:cNvPr id="44" name="Map open 10" descr="preencoded.png">
            <a:hlinkClick r:id="rId31" tooltip="Open Monitoring on the web" action="ppaction://hlinksldjump"/>
          </p:cNvPr>
          <p:cNvPicPr>
            <a:picLocks noChangeAspect="1"/>
          </p:cNvPicPr>
          <p:nvPr/>
        </p:nvPicPr>
        <p:blipFill>
          <a:blip r:embed="rId30"/>
          <a:stretch>
            <a:fillRect/>
          </a:stretch>
        </p:blipFill>
        <p:spPr>
          <a:xfrm>
            <a:off x="11228832" y="4270248"/>
            <a:ext cx="329184" cy="329184"/>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457200" y="320040"/>
            <a:ext cx="9509760" cy="640080"/>
          </a:xfrm>
          <a:prstGeom prst="rect">
            <a:avLst/>
          </a:prstGeom>
          <a:noFill/>
          <a:ln/>
        </p:spPr>
        <p:txBody>
          <a:bodyPr wrap="square" lIns="0" tIns="0" rIns="0" bIns="0" rtlCol="0" anchor="ctr"/>
          <a:lstStyle/>
          <a:p>
            <a:pPr indent="0" marL="0">
              <a:buNone/>
            </a:pPr>
            <a:r>
              <a:rPr lang="en-US" sz="3200" b="1" dirty="0">
                <a:solidFill>
                  <a:schemeClr val="tx2"/>
                </a:solidFill>
              </a:rPr>
              <a:t>Setup and sign-in</a:t>
            </a:r>
            <a:endParaRPr lang="en-US" sz="3200" dirty="0"/>
          </a:p>
        </p:txBody>
      </p:sp>
      <p:sp>
        <p:nvSpPr>
          <p:cNvPr id="3" name="Subtitle"/>
          <p:cNvSpPr txBox="1"/>
          <p:nvPr/>
        </p:nvSpPr>
        <p:spPr>
          <a:xfrm>
            <a:off x="457200" y="960120"/>
            <a:ext cx="9692640" cy="411480"/>
          </a:xfrm>
          <a:prstGeom prst="rect">
            <a:avLst/>
          </a:prstGeom>
          <a:noFill/>
          <a:ln/>
        </p:spPr>
        <p:txBody>
          <a:bodyPr wrap="square" lIns="0" tIns="0" rIns="0" bIns="0" rtlCol="0" anchor="ctr"/>
          <a:lstStyle/>
          <a:p>
            <a:pPr indent="0" marL="0">
              <a:buNone/>
            </a:pPr>
            <a:r>
              <a:rPr lang="en-US" sz="1500" dirty="0">
                <a:solidFill>
                  <a:srgbClr val="4A5266"/>
                </a:solidFill>
              </a:rPr>
              <a:t>Connect the HHT to the server once, then sign in and pick the plant</a:t>
            </a:r>
            <a:endParaRPr lang="en-US" sz="1500" dirty="0"/>
          </a:p>
        </p:txBody>
      </p:sp>
      <p:sp>
        <p:nvSpPr>
          <p:cNvPr id="4" name="Who"/>
          <p:cNvSpPr/>
          <p:nvPr/>
        </p:nvSpPr>
        <p:spPr>
          <a:xfrm>
            <a:off x="9966960" y="384048"/>
            <a:ext cx="1783080" cy="457200"/>
          </a:xfrm>
          <a:prstGeom prst="roundRect">
            <a:avLst>
              <a:gd name="adj" fmla="val 20000"/>
            </a:avLst>
          </a:prstGeom>
          <a:solidFill>
            <a:schemeClr val="accent1"/>
          </a:solidFill>
          <a:ln/>
        </p:spPr>
        <p:txBody>
          <a:bodyPr wrap="square" lIns="38100" tIns="38100" rIns="38100" bIns="38100" rtlCol="0" anchor="ctr"/>
          <a:lstStyle/>
          <a:p>
            <a:pPr algn="ctr" indent="0" marL="0">
              <a:buNone/>
            </a:pPr>
            <a:r>
              <a:rPr lang="en-US" sz="1100" b="1" dirty="0">
                <a:solidFill>
                  <a:schemeClr val="bg1"/>
                </a:solidFill>
              </a:rPr>
              <a:t>Every HHT user</a:t>
            </a:r>
            <a:endParaRPr lang="en-US" sz="1100" dirty="0"/>
          </a:p>
        </p:txBody>
      </p:sp>
      <p:pic>
        <p:nvPicPr>
          <p:cNvPr id="5" name="Back to map" descr="preencoded.png">
            <a:hlinkClick r:id="rId2" tooltip="Process map" action="ppaction://hlinksldjump"/>
          </p:cNvPr>
          <p:cNvPicPr>
            <a:picLocks noChangeAspect="1"/>
          </p:cNvPicPr>
          <p:nvPr/>
        </p:nvPicPr>
        <p:blipFill>
          <a:blip r:embed="rId1"/>
          <a:stretch>
            <a:fillRect/>
          </a:stretch>
        </p:blipFill>
        <p:spPr>
          <a:xfrm>
            <a:off x="11384280" y="987552"/>
            <a:ext cx="329184" cy="329184"/>
          </a:xfrm>
          <a:prstGeom prst="rect">
            <a:avLst/>
          </a:prstGeom>
        </p:spPr>
      </p:pic>
      <p:sp>
        <p:nvSpPr>
          <p:cNvPr id="6" name="Step card 1"/>
          <p:cNvSpPr/>
          <p:nvPr/>
        </p:nvSpPr>
        <p:spPr>
          <a:xfrm>
            <a:off x="457200" y="1600200"/>
            <a:ext cx="2626614" cy="4709160"/>
          </a:xfrm>
          <a:prstGeom prst="roundRect">
            <a:avLst>
              <a:gd name="adj" fmla="val 3481"/>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7" name="Step screen 1" descr="/tmp/claude-0/-home-claude/604fe074-c4a3-59f5-a7f0-a4d942adf429/scratchpad/deck/th/s02_setup_server.jpg">
            <a:hlinkClick r:id="rId6" tooltip="Open picture: Connect to the server" action="ppaction://hlinksldjump"/>
          </p:cNvPr>
          <p:cNvPicPr>
            <a:picLocks noChangeAspect="1"/>
          </p:cNvPicPr>
          <p:nvPr/>
        </p:nvPicPr>
        <p:blipFill>
          <a:blip r:embed="rId3"/>
          <a:stretch>
            <a:fillRect/>
          </a:stretch>
        </p:blipFill>
        <p:spPr>
          <a:xfrm>
            <a:off x="1103158" y="1737360"/>
            <a:ext cx="1334697" cy="2788920"/>
          </a:xfrm>
          <a:prstGeom prst="rect">
            <a:avLst/>
          </a:prstGeom>
        </p:spPr>
      </p:pic>
      <p:sp>
        <p:nvSpPr>
          <p:cNvPr id="8" name="Step number 1"/>
          <p:cNvSpPr/>
          <p:nvPr/>
        </p:nvSpPr>
        <p:spPr>
          <a:xfrm>
            <a:off x="594360" y="4690872"/>
            <a:ext cx="347472" cy="347472"/>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Step title 1"/>
          <p:cNvSpPr txBox="1"/>
          <p:nvPr/>
        </p:nvSpPr>
        <p:spPr>
          <a:xfrm>
            <a:off x="1005840" y="4636008"/>
            <a:ext cx="1986534"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Connect to the server</a:t>
            </a:r>
            <a:endParaRPr lang="en-US" sz="1300" dirty="0"/>
          </a:p>
        </p:txBody>
      </p:sp>
      <p:sp>
        <p:nvSpPr>
          <p:cNvPr id="10" name="Step text 1"/>
          <p:cNvSpPr txBox="1"/>
          <p:nvPr/>
        </p:nvSpPr>
        <p:spPr>
          <a:xfrm>
            <a:off x="594360" y="5166360"/>
            <a:ext cx="2352294" cy="658368"/>
          </a:xfrm>
          <a:prstGeom prst="rect">
            <a:avLst/>
          </a:prstGeom>
          <a:noFill/>
          <a:ln/>
        </p:spPr>
        <p:txBody>
          <a:bodyPr wrap="square" lIns="0" tIns="0" rIns="0" bIns="0" rtlCol="0" anchor="t"/>
          <a:lstStyle/>
          <a:p>
            <a:pPr indent="0" marL="0">
              <a:buNone/>
            </a:pPr>
            <a:r>
              <a:rPr lang="en-US" sz="1100" dirty="0">
                <a:solidFill>
                  <a:srgbClr val="4A5266"/>
                </a:solidFill>
              </a:rPr>
              <a:t>Scan the server QR from the tray icon - no IP typing</a:t>
            </a:r>
            <a:endParaRPr lang="en-US" sz="1100" dirty="0"/>
          </a:p>
        </p:txBody>
      </p:sp>
      <p:pic>
        <p:nvPicPr>
          <p:cNvPr id="11" name="Open step 1" descr="preencoded.png">
            <a:hlinkClick r:id="rId6" tooltip="Open picture: Connect to the server" action="ppaction://hlinksldjump"/>
          </p:cNvPr>
          <p:cNvPicPr>
            <a:picLocks noChangeAspect="1"/>
          </p:cNvPicPr>
          <p:nvPr/>
        </p:nvPicPr>
        <p:blipFill>
          <a:blip r:embed="rId5"/>
          <a:stretch>
            <a:fillRect/>
          </a:stretch>
        </p:blipFill>
        <p:spPr>
          <a:xfrm>
            <a:off x="2608326" y="5852160"/>
            <a:ext cx="329184" cy="329184"/>
          </a:xfrm>
          <a:prstGeom prst="rect">
            <a:avLst/>
          </a:prstGeom>
        </p:spPr>
      </p:pic>
      <p:sp>
        <p:nvSpPr>
          <p:cNvPr id="12" name="Flow arrow 1"/>
          <p:cNvSpPr txBox="1"/>
          <p:nvPr/>
        </p:nvSpPr>
        <p:spPr>
          <a:xfrm>
            <a:off x="3065526" y="2880360"/>
            <a:ext cx="292608" cy="457200"/>
          </a:xfrm>
          <a:prstGeom prst="rect">
            <a:avLst/>
          </a:prstGeom>
          <a:noFill/>
          <a:ln/>
        </p:spPr>
        <p:txBody>
          <a:bodyPr wrap="square" lIns="0" tIns="0" rIns="0" bIns="0" rtlCol="0" anchor="ctr"/>
          <a:lstStyle/>
          <a:p>
            <a:pPr algn="ctr" indent="0" marL="0">
              <a:buNone/>
            </a:pPr>
            <a:r>
              <a:rPr lang="en-US" sz="2400" b="1" dirty="0">
                <a:solidFill>
                  <a:schemeClr val="accent1"/>
                </a:solidFill>
              </a:rPr>
              <a:t>›</a:t>
            </a:r>
            <a:endParaRPr lang="en-US" sz="2400" dirty="0"/>
          </a:p>
        </p:txBody>
      </p:sp>
      <p:sp>
        <p:nvSpPr>
          <p:cNvPr id="13" name="Step card 2"/>
          <p:cNvSpPr/>
          <p:nvPr/>
        </p:nvSpPr>
        <p:spPr>
          <a:xfrm>
            <a:off x="3339846" y="1600200"/>
            <a:ext cx="2626614" cy="4709160"/>
          </a:xfrm>
          <a:prstGeom prst="roundRect">
            <a:avLst>
              <a:gd name="adj" fmla="val 3481"/>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14" name="Step screen 2" descr="/tmp/claude-0/-home-claude/604fe074-c4a3-59f5-a7f0-a4d942adf429/scratchpad/deck/th/s05_login_online.jpg">
            <a:hlinkClick r:id="rId10" tooltip="Open picture: Sign in" action="ppaction://hlinksldjump"/>
          </p:cNvPr>
          <p:cNvPicPr>
            <a:picLocks noChangeAspect="1"/>
          </p:cNvPicPr>
          <p:nvPr/>
        </p:nvPicPr>
        <p:blipFill>
          <a:blip r:embed="rId7"/>
          <a:stretch>
            <a:fillRect/>
          </a:stretch>
        </p:blipFill>
        <p:spPr>
          <a:xfrm>
            <a:off x="3985804" y="1737360"/>
            <a:ext cx="1334697" cy="2788920"/>
          </a:xfrm>
          <a:prstGeom prst="rect">
            <a:avLst/>
          </a:prstGeom>
        </p:spPr>
      </p:pic>
      <p:sp>
        <p:nvSpPr>
          <p:cNvPr id="15" name="Step number 2"/>
          <p:cNvSpPr/>
          <p:nvPr/>
        </p:nvSpPr>
        <p:spPr>
          <a:xfrm>
            <a:off x="3477006" y="4690872"/>
            <a:ext cx="347472" cy="347472"/>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6" name="Step title 2"/>
          <p:cNvSpPr txBox="1"/>
          <p:nvPr/>
        </p:nvSpPr>
        <p:spPr>
          <a:xfrm>
            <a:off x="3888486" y="4636008"/>
            <a:ext cx="1986534"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Sign in</a:t>
            </a:r>
            <a:endParaRPr lang="en-US" sz="1300" dirty="0"/>
          </a:p>
        </p:txBody>
      </p:sp>
      <p:sp>
        <p:nvSpPr>
          <p:cNvPr id="17" name="Step text 2"/>
          <p:cNvSpPr txBox="1"/>
          <p:nvPr/>
        </p:nvSpPr>
        <p:spPr>
          <a:xfrm>
            <a:off x="3477006" y="5166360"/>
            <a:ext cx="2352294" cy="658368"/>
          </a:xfrm>
          <a:prstGeom prst="rect">
            <a:avLst/>
          </a:prstGeom>
          <a:noFill/>
          <a:ln/>
        </p:spPr>
        <p:txBody>
          <a:bodyPr wrap="square" lIns="0" tIns="0" rIns="0" bIns="0" rtlCol="0" anchor="t"/>
          <a:lstStyle/>
          <a:p>
            <a:pPr indent="0" marL="0">
              <a:buNone/>
            </a:pPr>
            <a:r>
              <a:rPr lang="en-US" sz="1100" dirty="0">
                <a:solidFill>
                  <a:srgbClr val="4A5266"/>
                </a:solidFill>
              </a:rPr>
              <a:t>Green dot = server online. Setup and Test printer work before sign-in</a:t>
            </a:r>
            <a:endParaRPr lang="en-US" sz="1100" dirty="0"/>
          </a:p>
        </p:txBody>
      </p:sp>
      <p:pic>
        <p:nvPicPr>
          <p:cNvPr id="18" name="Open step 2" descr="preencoded.png">
            <a:hlinkClick r:id="rId10" tooltip="Open picture: Sign in" action="ppaction://hlinksldjump"/>
          </p:cNvPr>
          <p:cNvPicPr>
            <a:picLocks noChangeAspect="1"/>
          </p:cNvPicPr>
          <p:nvPr/>
        </p:nvPicPr>
        <p:blipFill>
          <a:blip r:embed="rId9"/>
          <a:stretch>
            <a:fillRect/>
          </a:stretch>
        </p:blipFill>
        <p:spPr>
          <a:xfrm>
            <a:off x="5490972" y="5852160"/>
            <a:ext cx="329184" cy="329184"/>
          </a:xfrm>
          <a:prstGeom prst="rect">
            <a:avLst/>
          </a:prstGeom>
        </p:spPr>
      </p:pic>
      <p:sp>
        <p:nvSpPr>
          <p:cNvPr id="19" name="Flow arrow 2"/>
          <p:cNvSpPr txBox="1"/>
          <p:nvPr/>
        </p:nvSpPr>
        <p:spPr>
          <a:xfrm>
            <a:off x="5948172" y="2880360"/>
            <a:ext cx="292608" cy="457200"/>
          </a:xfrm>
          <a:prstGeom prst="rect">
            <a:avLst/>
          </a:prstGeom>
          <a:noFill/>
          <a:ln/>
        </p:spPr>
        <p:txBody>
          <a:bodyPr wrap="square" lIns="0" tIns="0" rIns="0" bIns="0" rtlCol="0" anchor="ctr"/>
          <a:lstStyle/>
          <a:p>
            <a:pPr algn="ctr" indent="0" marL="0">
              <a:buNone/>
            </a:pPr>
            <a:r>
              <a:rPr lang="en-US" sz="2400" b="1" dirty="0">
                <a:solidFill>
                  <a:schemeClr val="accent1"/>
                </a:solidFill>
              </a:rPr>
              <a:t>›</a:t>
            </a:r>
            <a:endParaRPr lang="en-US" sz="2400" dirty="0"/>
          </a:p>
        </p:txBody>
      </p:sp>
      <p:sp>
        <p:nvSpPr>
          <p:cNvPr id="20" name="Step card 3"/>
          <p:cNvSpPr/>
          <p:nvPr/>
        </p:nvSpPr>
        <p:spPr>
          <a:xfrm>
            <a:off x="6222492" y="1600200"/>
            <a:ext cx="2626614" cy="4709160"/>
          </a:xfrm>
          <a:prstGeom prst="roundRect">
            <a:avLst>
              <a:gd name="adj" fmla="val 3481"/>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21" name="Step screen 3" descr="/tmp/claude-0/-home-claude/604fe074-c4a3-59f5-a7f0-a4d942adf429/scratchpad/deck/th/s06_home.jpg">
            <a:hlinkClick r:id="rId14" tooltip="Open picture: Home menu by role" action="ppaction://hlinksldjump"/>
          </p:cNvPr>
          <p:cNvPicPr>
            <a:picLocks noChangeAspect="1"/>
          </p:cNvPicPr>
          <p:nvPr/>
        </p:nvPicPr>
        <p:blipFill>
          <a:blip r:embed="rId11"/>
          <a:stretch>
            <a:fillRect/>
          </a:stretch>
        </p:blipFill>
        <p:spPr>
          <a:xfrm>
            <a:off x="6868450" y="1737360"/>
            <a:ext cx="1334697" cy="2788920"/>
          </a:xfrm>
          <a:prstGeom prst="rect">
            <a:avLst/>
          </a:prstGeom>
        </p:spPr>
      </p:pic>
      <p:sp>
        <p:nvSpPr>
          <p:cNvPr id="22" name="Step number 3"/>
          <p:cNvSpPr/>
          <p:nvPr/>
        </p:nvSpPr>
        <p:spPr>
          <a:xfrm>
            <a:off x="6359652" y="4690872"/>
            <a:ext cx="347472" cy="347472"/>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3" name="Step title 3"/>
          <p:cNvSpPr txBox="1"/>
          <p:nvPr/>
        </p:nvSpPr>
        <p:spPr>
          <a:xfrm>
            <a:off x="6771132" y="4636008"/>
            <a:ext cx="1986534"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Home menu by role</a:t>
            </a:r>
            <a:endParaRPr lang="en-US" sz="1300" dirty="0"/>
          </a:p>
        </p:txBody>
      </p:sp>
      <p:sp>
        <p:nvSpPr>
          <p:cNvPr id="24" name="Step text 3"/>
          <p:cNvSpPr txBox="1"/>
          <p:nvPr/>
        </p:nvSpPr>
        <p:spPr>
          <a:xfrm>
            <a:off x="6359652" y="5166360"/>
            <a:ext cx="2352294" cy="658368"/>
          </a:xfrm>
          <a:prstGeom prst="rect">
            <a:avLst/>
          </a:prstGeom>
          <a:noFill/>
          <a:ln/>
        </p:spPr>
        <p:txBody>
          <a:bodyPr wrap="square" lIns="0" tIns="0" rIns="0" bIns="0" rtlCol="0" anchor="t"/>
          <a:lstStyle/>
          <a:p>
            <a:pPr indent="0" marL="0">
              <a:buNone/>
            </a:pPr>
            <a:r>
              <a:rPr lang="en-US" sz="1100" dirty="0">
                <a:solidFill>
                  <a:srgbClr val="4A5266"/>
                </a:solidFill>
              </a:rPr>
              <a:t>Each user sees only the tasks of their roles</a:t>
            </a:r>
            <a:endParaRPr lang="en-US" sz="1100" dirty="0"/>
          </a:p>
        </p:txBody>
      </p:sp>
      <p:pic>
        <p:nvPicPr>
          <p:cNvPr id="25" name="Open step 3" descr="preencoded.png">
            <a:hlinkClick r:id="rId14" tooltip="Open picture: Home menu by role" action="ppaction://hlinksldjump"/>
          </p:cNvPr>
          <p:cNvPicPr>
            <a:picLocks noChangeAspect="1"/>
          </p:cNvPicPr>
          <p:nvPr/>
        </p:nvPicPr>
        <p:blipFill>
          <a:blip r:embed="rId13"/>
          <a:stretch>
            <a:fillRect/>
          </a:stretch>
        </p:blipFill>
        <p:spPr>
          <a:xfrm>
            <a:off x="8373618" y="5852160"/>
            <a:ext cx="329184" cy="329184"/>
          </a:xfrm>
          <a:prstGeom prst="rect">
            <a:avLst/>
          </a:prstGeom>
        </p:spPr>
      </p:pic>
      <p:sp>
        <p:nvSpPr>
          <p:cNvPr id="26" name="Flow arrow 3"/>
          <p:cNvSpPr txBox="1"/>
          <p:nvPr/>
        </p:nvSpPr>
        <p:spPr>
          <a:xfrm>
            <a:off x="8830818" y="2880360"/>
            <a:ext cx="292608" cy="457200"/>
          </a:xfrm>
          <a:prstGeom prst="rect">
            <a:avLst/>
          </a:prstGeom>
          <a:noFill/>
          <a:ln/>
        </p:spPr>
        <p:txBody>
          <a:bodyPr wrap="square" lIns="0" tIns="0" rIns="0" bIns="0" rtlCol="0" anchor="ctr"/>
          <a:lstStyle/>
          <a:p>
            <a:pPr algn="ctr" indent="0" marL="0">
              <a:buNone/>
            </a:pPr>
            <a:r>
              <a:rPr lang="en-US" sz="2400" b="1" dirty="0">
                <a:solidFill>
                  <a:schemeClr val="accent1"/>
                </a:solidFill>
              </a:rPr>
              <a:t>›</a:t>
            </a:r>
            <a:endParaRPr lang="en-US" sz="2400" dirty="0"/>
          </a:p>
        </p:txBody>
      </p:sp>
      <p:sp>
        <p:nvSpPr>
          <p:cNvPr id="27" name="Step card 4"/>
          <p:cNvSpPr/>
          <p:nvPr/>
        </p:nvSpPr>
        <p:spPr>
          <a:xfrm>
            <a:off x="9105138" y="1600200"/>
            <a:ext cx="2626614" cy="4709160"/>
          </a:xfrm>
          <a:prstGeom prst="roundRect">
            <a:avLst>
              <a:gd name="adj" fmla="val 3481"/>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28" name="Step screen 4" descr="/tmp/claude-0/-home-claude/604fe074-c4a3-59f5-a7f0-a4d942adf429/scratchpad/deck/th/s04_setup_vehicles.jpg">
            <a:hlinkClick r:id="rId18" tooltip="Open picture: Vehicle list" action="ppaction://hlinksldjump"/>
          </p:cNvPr>
          <p:cNvPicPr>
            <a:picLocks noChangeAspect="1"/>
          </p:cNvPicPr>
          <p:nvPr/>
        </p:nvPicPr>
        <p:blipFill>
          <a:blip r:embed="rId15"/>
          <a:stretch>
            <a:fillRect/>
          </a:stretch>
        </p:blipFill>
        <p:spPr>
          <a:xfrm>
            <a:off x="9751096" y="1737360"/>
            <a:ext cx="1334697" cy="2788920"/>
          </a:xfrm>
          <a:prstGeom prst="rect">
            <a:avLst/>
          </a:prstGeom>
        </p:spPr>
      </p:pic>
      <p:sp>
        <p:nvSpPr>
          <p:cNvPr id="29" name="Step number 4"/>
          <p:cNvSpPr/>
          <p:nvPr/>
        </p:nvSpPr>
        <p:spPr>
          <a:xfrm>
            <a:off x="9242298" y="4690872"/>
            <a:ext cx="347472" cy="347472"/>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0" name="Step title 4"/>
          <p:cNvSpPr txBox="1"/>
          <p:nvPr/>
        </p:nvSpPr>
        <p:spPr>
          <a:xfrm>
            <a:off x="9653778" y="4636008"/>
            <a:ext cx="1986534"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Vehicle list</a:t>
            </a:r>
            <a:endParaRPr lang="en-US" sz="1300" dirty="0"/>
          </a:p>
        </p:txBody>
      </p:sp>
      <p:sp>
        <p:nvSpPr>
          <p:cNvPr id="31" name="Step text 4"/>
          <p:cNvSpPr txBox="1"/>
          <p:nvPr/>
        </p:nvSpPr>
        <p:spPr>
          <a:xfrm>
            <a:off x="9242298" y="5166360"/>
            <a:ext cx="2352294" cy="658368"/>
          </a:xfrm>
          <a:prstGeom prst="rect">
            <a:avLst/>
          </a:prstGeom>
          <a:noFill/>
          <a:ln/>
        </p:spPr>
        <p:txBody>
          <a:bodyPr wrap="square" lIns="0" tIns="0" rIns="0" bIns="0" rtlCol="0" anchor="t"/>
          <a:lstStyle/>
          <a:p>
            <a:pPr indent="0" marL="0">
              <a:buNone/>
            </a:pPr>
            <a:r>
              <a:rPr lang="en-US" sz="1100" dirty="0">
                <a:solidFill>
                  <a:srgbClr val="4A5266"/>
                </a:solidFill>
              </a:rPr>
              <a:t>Vehicles for return slips - works without network</a:t>
            </a:r>
            <a:endParaRPr lang="en-US" sz="1100" dirty="0"/>
          </a:p>
        </p:txBody>
      </p:sp>
      <p:pic>
        <p:nvPicPr>
          <p:cNvPr id="32" name="Open step 4" descr="preencoded.png">
            <a:hlinkClick r:id="rId18" tooltip="Open picture: Vehicle list" action="ppaction://hlinksldjump"/>
          </p:cNvPr>
          <p:cNvPicPr>
            <a:picLocks noChangeAspect="1"/>
          </p:cNvPicPr>
          <p:nvPr/>
        </p:nvPicPr>
        <p:blipFill>
          <a:blip r:embed="rId17"/>
          <a:stretch>
            <a:fillRect/>
          </a:stretch>
        </p:blipFill>
        <p:spPr>
          <a:xfrm>
            <a:off x="11256264" y="5852160"/>
            <a:ext cx="329184" cy="329184"/>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457200" y="320040"/>
            <a:ext cx="9509760" cy="640080"/>
          </a:xfrm>
          <a:prstGeom prst="rect">
            <a:avLst/>
          </a:prstGeom>
          <a:noFill/>
          <a:ln/>
        </p:spPr>
        <p:txBody>
          <a:bodyPr wrap="square" lIns="0" tIns="0" rIns="0" bIns="0" rtlCol="0" anchor="ctr"/>
          <a:lstStyle/>
          <a:p>
            <a:pPr indent="0" marL="0">
              <a:buNone/>
            </a:pPr>
            <a:r>
              <a:rPr lang="en-US" sz="3200" b="1" dirty="0">
                <a:solidFill>
                  <a:schemeClr val="tx2"/>
                </a:solidFill>
              </a:rPr>
              <a:t>Dispatch planning → GCS loading sheet</a:t>
            </a:r>
            <a:endParaRPr lang="en-US" sz="3200" dirty="0"/>
          </a:p>
        </p:txBody>
      </p:sp>
      <p:sp>
        <p:nvSpPr>
          <p:cNvPr id="3" name="Subtitle"/>
          <p:cNvSpPr txBox="1"/>
          <p:nvPr/>
        </p:nvSpPr>
        <p:spPr>
          <a:xfrm>
            <a:off x="457200" y="960120"/>
            <a:ext cx="9692640" cy="411480"/>
          </a:xfrm>
          <a:prstGeom prst="rect">
            <a:avLst/>
          </a:prstGeom>
          <a:noFill/>
          <a:ln/>
        </p:spPr>
        <p:txBody>
          <a:bodyPr wrap="square" lIns="0" tIns="0" rIns="0" bIns="0" rtlCol="0" anchor="ctr"/>
          <a:lstStyle/>
          <a:p>
            <a:pPr indent="0" marL="0">
              <a:buNone/>
            </a:pPr>
            <a:r>
              <a:rPr lang="en-US" sz="1500" dirty="0">
                <a:solidFill>
                  <a:srgbClr val="4A5266"/>
                </a:solidFill>
              </a:rPr>
              <a:t>The Bench plans the trip plant-wise; the ERP GCS file becomes the loading sheet on the HHT</a:t>
            </a:r>
            <a:endParaRPr lang="en-US" sz="1500" dirty="0"/>
          </a:p>
        </p:txBody>
      </p:sp>
      <p:sp>
        <p:nvSpPr>
          <p:cNvPr id="4" name="Who"/>
          <p:cNvSpPr/>
          <p:nvPr/>
        </p:nvSpPr>
        <p:spPr>
          <a:xfrm>
            <a:off x="9966960" y="384048"/>
            <a:ext cx="1783080" cy="457200"/>
          </a:xfrm>
          <a:prstGeom prst="roundRect">
            <a:avLst>
              <a:gd name="adj" fmla="val 20000"/>
            </a:avLst>
          </a:prstGeom>
          <a:solidFill>
            <a:schemeClr val="accent6"/>
          </a:solidFill>
          <a:ln/>
        </p:spPr>
        <p:txBody>
          <a:bodyPr wrap="square" lIns="38100" tIns="38100" rIns="38100" bIns="38100" rtlCol="0" anchor="ctr"/>
          <a:lstStyle/>
          <a:p>
            <a:pPr algn="ctr" indent="0" marL="0">
              <a:buNone/>
            </a:pPr>
            <a:r>
              <a:rPr lang="en-US" sz="1100" b="1" dirty="0">
                <a:solidFill>
                  <a:schemeClr val="bg1"/>
                </a:solidFill>
              </a:rPr>
              <a:t>Dispatch Bench · ERP · Logistics</a:t>
            </a:r>
            <a:endParaRPr lang="en-US" sz="1100" dirty="0"/>
          </a:p>
        </p:txBody>
      </p:sp>
      <p:pic>
        <p:nvPicPr>
          <p:cNvPr id="5" name="Back to map" descr="preencoded.png">
            <a:hlinkClick r:id="rId2" tooltip="Process map" action="ppaction://hlinksldjump"/>
          </p:cNvPr>
          <p:cNvPicPr>
            <a:picLocks noChangeAspect="1"/>
          </p:cNvPicPr>
          <p:nvPr/>
        </p:nvPicPr>
        <p:blipFill>
          <a:blip r:embed="rId1"/>
          <a:stretch>
            <a:fillRect/>
          </a:stretch>
        </p:blipFill>
        <p:spPr>
          <a:xfrm>
            <a:off x="11384280" y="987552"/>
            <a:ext cx="329184" cy="329184"/>
          </a:xfrm>
          <a:prstGeom prst="rect">
            <a:avLst/>
          </a:prstGeom>
        </p:spPr>
      </p:pic>
      <p:sp>
        <p:nvSpPr>
          <p:cNvPr id="6" name="Step card 1"/>
          <p:cNvSpPr/>
          <p:nvPr/>
        </p:nvSpPr>
        <p:spPr>
          <a:xfrm>
            <a:off x="457200" y="1600200"/>
            <a:ext cx="2626614" cy="4709160"/>
          </a:xfrm>
          <a:prstGeom prst="roundRect">
            <a:avLst>
              <a:gd name="adj" fmla="val 3481"/>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7" name="Step screen 1" descr="/tmp/claude-0/-home-claude/604fe074-c4a3-59f5-a7f0-a4d942adf429/scratchpad/deck/th/w02_gcs_inbox.jpg">
            <a:hlinkClick r:id="rId6" tooltip="Open picture: GCS inbox (web)" action="ppaction://hlinksldjump"/>
          </p:cNvPr>
          <p:cNvPicPr>
            <a:picLocks noChangeAspect="1"/>
          </p:cNvPicPr>
          <p:nvPr/>
        </p:nvPicPr>
        <p:blipFill>
          <a:blip r:embed="rId3"/>
          <a:stretch>
            <a:fillRect/>
          </a:stretch>
        </p:blipFill>
        <p:spPr>
          <a:xfrm>
            <a:off x="594360" y="2396728"/>
            <a:ext cx="2352294" cy="1470184"/>
          </a:xfrm>
          <a:prstGeom prst="rect">
            <a:avLst/>
          </a:prstGeom>
        </p:spPr>
      </p:pic>
      <p:sp>
        <p:nvSpPr>
          <p:cNvPr id="8" name="Step number 1"/>
          <p:cNvSpPr/>
          <p:nvPr/>
        </p:nvSpPr>
        <p:spPr>
          <a:xfrm>
            <a:off x="594360" y="4690872"/>
            <a:ext cx="347472" cy="347472"/>
          </a:xfrm>
          <a:prstGeom prst="ellipse">
            <a:avLst/>
          </a:prstGeom>
          <a:solidFill>
            <a:schemeClr val="accent6"/>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Step title 1"/>
          <p:cNvSpPr txBox="1"/>
          <p:nvPr/>
        </p:nvSpPr>
        <p:spPr>
          <a:xfrm>
            <a:off x="1005840" y="4636008"/>
            <a:ext cx="1986534"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GCS inbox (web)</a:t>
            </a:r>
            <a:endParaRPr lang="en-US" sz="1300" dirty="0"/>
          </a:p>
        </p:txBody>
      </p:sp>
      <p:sp>
        <p:nvSpPr>
          <p:cNvPr id="10" name="Step text 1"/>
          <p:cNvSpPr txBox="1"/>
          <p:nvPr/>
        </p:nvSpPr>
        <p:spPr>
          <a:xfrm>
            <a:off x="594360" y="5166360"/>
            <a:ext cx="2352294" cy="658368"/>
          </a:xfrm>
          <a:prstGeom prst="rect">
            <a:avLst/>
          </a:prstGeom>
          <a:noFill/>
          <a:ln/>
        </p:spPr>
        <p:txBody>
          <a:bodyPr wrap="square" lIns="0" tIns="0" rIns="0" bIns="0" rtlCol="0" anchor="t"/>
          <a:lstStyle/>
          <a:p>
            <a:pPr indent="0" marL="0">
              <a:buNone/>
            </a:pPr>
            <a:r>
              <a:rPr lang="en-US" sz="1100" dirty="0">
                <a:solidFill>
                  <a:srgbClr val="4A5266"/>
                </a:solidFill>
              </a:rPr>
              <a:t>ERP GCS files read from each plant FTP folder</a:t>
            </a:r>
            <a:endParaRPr lang="en-US" sz="1100" dirty="0"/>
          </a:p>
        </p:txBody>
      </p:sp>
      <p:pic>
        <p:nvPicPr>
          <p:cNvPr id="11" name="Open step 1" descr="preencoded.png">
            <a:hlinkClick r:id="rId6" tooltip="Open picture: GCS inbox (web)" action="ppaction://hlinksldjump"/>
          </p:cNvPr>
          <p:cNvPicPr>
            <a:picLocks noChangeAspect="1"/>
          </p:cNvPicPr>
          <p:nvPr/>
        </p:nvPicPr>
        <p:blipFill>
          <a:blip r:embed="rId5"/>
          <a:stretch>
            <a:fillRect/>
          </a:stretch>
        </p:blipFill>
        <p:spPr>
          <a:xfrm>
            <a:off x="2608326" y="5852160"/>
            <a:ext cx="329184" cy="329184"/>
          </a:xfrm>
          <a:prstGeom prst="rect">
            <a:avLst/>
          </a:prstGeom>
        </p:spPr>
      </p:pic>
      <p:sp>
        <p:nvSpPr>
          <p:cNvPr id="12" name="Flow arrow 1"/>
          <p:cNvSpPr txBox="1"/>
          <p:nvPr/>
        </p:nvSpPr>
        <p:spPr>
          <a:xfrm>
            <a:off x="3065526" y="2880360"/>
            <a:ext cx="292608" cy="457200"/>
          </a:xfrm>
          <a:prstGeom prst="rect">
            <a:avLst/>
          </a:prstGeom>
          <a:noFill/>
          <a:ln/>
        </p:spPr>
        <p:txBody>
          <a:bodyPr wrap="square" lIns="0" tIns="0" rIns="0" bIns="0" rtlCol="0" anchor="ctr"/>
          <a:lstStyle/>
          <a:p>
            <a:pPr algn="ctr" indent="0" marL="0">
              <a:buNone/>
            </a:pPr>
            <a:r>
              <a:rPr lang="en-US" sz="2400" b="1" dirty="0">
                <a:solidFill>
                  <a:schemeClr val="accent6"/>
                </a:solidFill>
              </a:rPr>
              <a:t>›</a:t>
            </a:r>
            <a:endParaRPr lang="en-US" sz="2400" dirty="0"/>
          </a:p>
        </p:txBody>
      </p:sp>
      <p:sp>
        <p:nvSpPr>
          <p:cNvPr id="13" name="Step card 2"/>
          <p:cNvSpPr/>
          <p:nvPr/>
        </p:nvSpPr>
        <p:spPr>
          <a:xfrm>
            <a:off x="3339846" y="1600200"/>
            <a:ext cx="2626614" cy="4709160"/>
          </a:xfrm>
          <a:prstGeom prst="roundRect">
            <a:avLst>
              <a:gd name="adj" fmla="val 3481"/>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14" name="Step screen 2" descr="/tmp/claude-0/-home-claude/604fe074-c4a3-59f5-a7f0-a4d942adf429/scratchpad/deck/th/w03_picklists.jpg">
            <a:hlinkClick r:id="rId10" tooltip="Open picture: Pick lists (web)" action="ppaction://hlinksldjump"/>
          </p:cNvPr>
          <p:cNvPicPr>
            <a:picLocks noChangeAspect="1"/>
          </p:cNvPicPr>
          <p:nvPr/>
        </p:nvPicPr>
        <p:blipFill>
          <a:blip r:embed="rId7"/>
          <a:stretch>
            <a:fillRect/>
          </a:stretch>
        </p:blipFill>
        <p:spPr>
          <a:xfrm>
            <a:off x="3477006" y="2396728"/>
            <a:ext cx="2352294" cy="1470184"/>
          </a:xfrm>
          <a:prstGeom prst="rect">
            <a:avLst/>
          </a:prstGeom>
        </p:spPr>
      </p:pic>
      <p:sp>
        <p:nvSpPr>
          <p:cNvPr id="15" name="Step number 2"/>
          <p:cNvSpPr/>
          <p:nvPr/>
        </p:nvSpPr>
        <p:spPr>
          <a:xfrm>
            <a:off x="3477006" y="4690872"/>
            <a:ext cx="347472" cy="347472"/>
          </a:xfrm>
          <a:prstGeom prst="ellipse">
            <a:avLst/>
          </a:prstGeom>
          <a:solidFill>
            <a:schemeClr val="accent6"/>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6" name="Step title 2"/>
          <p:cNvSpPr txBox="1"/>
          <p:nvPr/>
        </p:nvSpPr>
        <p:spPr>
          <a:xfrm>
            <a:off x="3888486" y="4636008"/>
            <a:ext cx="1986534"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Pick lists (web)</a:t>
            </a:r>
            <a:endParaRPr lang="en-US" sz="1300" dirty="0"/>
          </a:p>
        </p:txBody>
      </p:sp>
      <p:sp>
        <p:nvSpPr>
          <p:cNvPr id="17" name="Step text 2"/>
          <p:cNvSpPr txBox="1"/>
          <p:nvPr/>
        </p:nvSpPr>
        <p:spPr>
          <a:xfrm>
            <a:off x="3477006" y="5166360"/>
            <a:ext cx="2352294" cy="658368"/>
          </a:xfrm>
          <a:prstGeom prst="rect">
            <a:avLst/>
          </a:prstGeom>
          <a:noFill/>
          <a:ln/>
        </p:spPr>
        <p:txBody>
          <a:bodyPr wrap="square" lIns="0" tIns="0" rIns="0" bIns="0" rtlCol="0" anchor="t"/>
          <a:lstStyle/>
          <a:p>
            <a:pPr indent="0" marL="0">
              <a:buNone/>
            </a:pPr>
            <a:r>
              <a:rPr lang="en-US" sz="1100" dirty="0">
                <a:solidFill>
                  <a:srgbClr val="4A5266"/>
                </a:solidFill>
              </a:rPr>
              <a:t>Bench trip + GCS joined; status until dispatch</a:t>
            </a:r>
            <a:endParaRPr lang="en-US" sz="1100" dirty="0"/>
          </a:p>
        </p:txBody>
      </p:sp>
      <p:pic>
        <p:nvPicPr>
          <p:cNvPr id="18" name="Open step 2" descr="preencoded.png">
            <a:hlinkClick r:id="rId10" tooltip="Open picture: Pick lists (web)" action="ppaction://hlinksldjump"/>
          </p:cNvPr>
          <p:cNvPicPr>
            <a:picLocks noChangeAspect="1"/>
          </p:cNvPicPr>
          <p:nvPr/>
        </p:nvPicPr>
        <p:blipFill>
          <a:blip r:embed="rId9"/>
          <a:stretch>
            <a:fillRect/>
          </a:stretch>
        </p:blipFill>
        <p:spPr>
          <a:xfrm>
            <a:off x="5490972" y="5852160"/>
            <a:ext cx="329184" cy="329184"/>
          </a:xfrm>
          <a:prstGeom prst="rect">
            <a:avLst/>
          </a:prstGeom>
        </p:spPr>
      </p:pic>
      <p:sp>
        <p:nvSpPr>
          <p:cNvPr id="19" name="Flow arrow 2"/>
          <p:cNvSpPr txBox="1"/>
          <p:nvPr/>
        </p:nvSpPr>
        <p:spPr>
          <a:xfrm>
            <a:off x="5948172" y="2880360"/>
            <a:ext cx="292608" cy="457200"/>
          </a:xfrm>
          <a:prstGeom prst="rect">
            <a:avLst/>
          </a:prstGeom>
          <a:noFill/>
          <a:ln/>
        </p:spPr>
        <p:txBody>
          <a:bodyPr wrap="square" lIns="0" tIns="0" rIns="0" bIns="0" rtlCol="0" anchor="ctr"/>
          <a:lstStyle/>
          <a:p>
            <a:pPr algn="ctr" indent="0" marL="0">
              <a:buNone/>
            </a:pPr>
            <a:r>
              <a:rPr lang="en-US" sz="2400" b="1" dirty="0">
                <a:solidFill>
                  <a:schemeClr val="accent6"/>
                </a:solidFill>
              </a:rPr>
              <a:t>›</a:t>
            </a:r>
            <a:endParaRPr lang="en-US" sz="2400" dirty="0"/>
          </a:p>
        </p:txBody>
      </p:sp>
      <p:sp>
        <p:nvSpPr>
          <p:cNvPr id="20" name="Step card 3"/>
          <p:cNvSpPr/>
          <p:nvPr/>
        </p:nvSpPr>
        <p:spPr>
          <a:xfrm>
            <a:off x="6222492" y="1600200"/>
            <a:ext cx="2626614" cy="4709160"/>
          </a:xfrm>
          <a:prstGeom prst="roundRect">
            <a:avLst>
              <a:gd name="adj" fmla="val 3481"/>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21" name="Step screen 3" descr="/tmp/claude-0/-home-claude/604fe074-c4a3-59f5-a7f0-a4d942adf429/scratchpad/deck/th/d01_list.jpg">
            <a:hlinkClick r:id="rId14" tooltip="Open picture: Loading sheets on the HHT" action="ppaction://hlinksldjump"/>
          </p:cNvPr>
          <p:cNvPicPr>
            <a:picLocks noChangeAspect="1"/>
          </p:cNvPicPr>
          <p:nvPr/>
        </p:nvPicPr>
        <p:blipFill>
          <a:blip r:embed="rId11"/>
          <a:stretch>
            <a:fillRect/>
          </a:stretch>
        </p:blipFill>
        <p:spPr>
          <a:xfrm>
            <a:off x="6868450" y="1737360"/>
            <a:ext cx="1334697" cy="2788920"/>
          </a:xfrm>
          <a:prstGeom prst="rect">
            <a:avLst/>
          </a:prstGeom>
        </p:spPr>
      </p:pic>
      <p:sp>
        <p:nvSpPr>
          <p:cNvPr id="22" name="Step number 3"/>
          <p:cNvSpPr/>
          <p:nvPr/>
        </p:nvSpPr>
        <p:spPr>
          <a:xfrm>
            <a:off x="6359652" y="4690872"/>
            <a:ext cx="347472" cy="347472"/>
          </a:xfrm>
          <a:prstGeom prst="ellipse">
            <a:avLst/>
          </a:prstGeom>
          <a:solidFill>
            <a:schemeClr val="accent6"/>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3" name="Step title 3"/>
          <p:cNvSpPr txBox="1"/>
          <p:nvPr/>
        </p:nvSpPr>
        <p:spPr>
          <a:xfrm>
            <a:off x="6771132" y="4636008"/>
            <a:ext cx="1986534"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Loading sheets on the HHT</a:t>
            </a:r>
            <a:endParaRPr lang="en-US" sz="1300" dirty="0"/>
          </a:p>
        </p:txBody>
      </p:sp>
      <p:sp>
        <p:nvSpPr>
          <p:cNvPr id="24" name="Step text 3"/>
          <p:cNvSpPr txBox="1"/>
          <p:nvPr/>
        </p:nvSpPr>
        <p:spPr>
          <a:xfrm>
            <a:off x="6359652" y="5166360"/>
            <a:ext cx="2352294" cy="658368"/>
          </a:xfrm>
          <a:prstGeom prst="rect">
            <a:avLst/>
          </a:prstGeom>
          <a:noFill/>
          <a:ln/>
        </p:spPr>
        <p:txBody>
          <a:bodyPr wrap="square" lIns="0" tIns="0" rIns="0" bIns="0" rtlCol="0" anchor="t"/>
          <a:lstStyle/>
          <a:p>
            <a:pPr indent="0" marL="0">
              <a:buNone/>
            </a:pPr>
            <a:r>
              <a:rPr lang="en-US" sz="1100" dirty="0">
                <a:solidFill>
                  <a:srgbClr val="4A5266"/>
                </a:solidFill>
              </a:rPr>
              <a:t>Only the chosen plant’s GCS lists</a:t>
            </a:r>
            <a:endParaRPr lang="en-US" sz="1100" dirty="0"/>
          </a:p>
        </p:txBody>
      </p:sp>
      <p:pic>
        <p:nvPicPr>
          <p:cNvPr id="25" name="Open step 3" descr="preencoded.png">
            <a:hlinkClick r:id="rId14" tooltip="Open picture: Loading sheets on the HHT" action="ppaction://hlinksldjump"/>
          </p:cNvPr>
          <p:cNvPicPr>
            <a:picLocks noChangeAspect="1"/>
          </p:cNvPicPr>
          <p:nvPr/>
        </p:nvPicPr>
        <p:blipFill>
          <a:blip r:embed="rId13"/>
          <a:stretch>
            <a:fillRect/>
          </a:stretch>
        </p:blipFill>
        <p:spPr>
          <a:xfrm>
            <a:off x="8373618" y="5852160"/>
            <a:ext cx="329184" cy="329184"/>
          </a:xfrm>
          <a:prstGeom prst="rect">
            <a:avLst/>
          </a:prstGeom>
        </p:spPr>
      </p:pic>
      <p:sp>
        <p:nvSpPr>
          <p:cNvPr id="26" name="Flow arrow 3"/>
          <p:cNvSpPr txBox="1"/>
          <p:nvPr/>
        </p:nvSpPr>
        <p:spPr>
          <a:xfrm>
            <a:off x="8830818" y="2880360"/>
            <a:ext cx="292608" cy="457200"/>
          </a:xfrm>
          <a:prstGeom prst="rect">
            <a:avLst/>
          </a:prstGeom>
          <a:noFill/>
          <a:ln/>
        </p:spPr>
        <p:txBody>
          <a:bodyPr wrap="square" lIns="0" tIns="0" rIns="0" bIns="0" rtlCol="0" anchor="ctr"/>
          <a:lstStyle/>
          <a:p>
            <a:pPr algn="ctr" indent="0" marL="0">
              <a:buNone/>
            </a:pPr>
            <a:r>
              <a:rPr lang="en-US" sz="2400" b="1" dirty="0">
                <a:solidFill>
                  <a:schemeClr val="accent6"/>
                </a:solidFill>
              </a:rPr>
              <a:t>›</a:t>
            </a:r>
            <a:endParaRPr lang="en-US" sz="2400" dirty="0"/>
          </a:p>
        </p:txBody>
      </p:sp>
      <p:sp>
        <p:nvSpPr>
          <p:cNvPr id="27" name="Step card 4"/>
          <p:cNvSpPr/>
          <p:nvPr/>
        </p:nvSpPr>
        <p:spPr>
          <a:xfrm>
            <a:off x="9105138" y="1600200"/>
            <a:ext cx="2626614" cy="4709160"/>
          </a:xfrm>
          <a:prstGeom prst="roundRect">
            <a:avLst>
              <a:gd name="adj" fmla="val 3481"/>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28" name="Step screen 4" descr="/tmp/claude-0/-home-claude/604fe074-c4a3-59f5-a7f0-a4d942adf429/scratchpad/deck/th/d02_sheet.jpg">
            <a:hlinkClick r:id="rId18" tooltip="Open picture: Loading sheet" action="ppaction://hlinksldjump"/>
          </p:cNvPr>
          <p:cNvPicPr>
            <a:picLocks noChangeAspect="1"/>
          </p:cNvPicPr>
          <p:nvPr/>
        </p:nvPicPr>
        <p:blipFill>
          <a:blip r:embed="rId15"/>
          <a:stretch>
            <a:fillRect/>
          </a:stretch>
        </p:blipFill>
        <p:spPr>
          <a:xfrm>
            <a:off x="9751096" y="1737360"/>
            <a:ext cx="1334697" cy="2788920"/>
          </a:xfrm>
          <a:prstGeom prst="rect">
            <a:avLst/>
          </a:prstGeom>
        </p:spPr>
      </p:pic>
      <p:sp>
        <p:nvSpPr>
          <p:cNvPr id="29" name="Step number 4"/>
          <p:cNvSpPr/>
          <p:nvPr/>
        </p:nvSpPr>
        <p:spPr>
          <a:xfrm>
            <a:off x="9242298" y="4690872"/>
            <a:ext cx="347472" cy="347472"/>
          </a:xfrm>
          <a:prstGeom prst="ellipse">
            <a:avLst/>
          </a:prstGeom>
          <a:solidFill>
            <a:schemeClr val="accent6"/>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0" name="Step title 4"/>
          <p:cNvSpPr txBox="1"/>
          <p:nvPr/>
        </p:nvSpPr>
        <p:spPr>
          <a:xfrm>
            <a:off x="9653778" y="4636008"/>
            <a:ext cx="1986534"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Loading sheet</a:t>
            </a:r>
            <a:endParaRPr lang="en-US" sz="1300" dirty="0"/>
          </a:p>
        </p:txBody>
      </p:sp>
      <p:sp>
        <p:nvSpPr>
          <p:cNvPr id="31" name="Step text 4"/>
          <p:cNvSpPr txBox="1"/>
          <p:nvPr/>
        </p:nvSpPr>
        <p:spPr>
          <a:xfrm>
            <a:off x="9242298" y="5166360"/>
            <a:ext cx="2352294" cy="658368"/>
          </a:xfrm>
          <a:prstGeom prst="rect">
            <a:avLst/>
          </a:prstGeom>
          <a:noFill/>
          <a:ln/>
        </p:spPr>
        <p:txBody>
          <a:bodyPr wrap="square" lIns="0" tIns="0" rIns="0" bIns="0" rtlCol="0" anchor="t"/>
          <a:lstStyle/>
          <a:p>
            <a:pPr indent="0" marL="0">
              <a:buNone/>
            </a:pPr>
            <a:r>
              <a:rPr lang="en-US" sz="1100" dirty="0">
                <a:solidFill>
                  <a:srgbClr val="4A5266"/>
                </a:solidFill>
              </a:rPr>
              <a:t>Invoices, items and quantity from the GCS</a:t>
            </a:r>
            <a:endParaRPr lang="en-US" sz="1100" dirty="0"/>
          </a:p>
        </p:txBody>
      </p:sp>
      <p:pic>
        <p:nvPicPr>
          <p:cNvPr id="32" name="Open step 4" descr="preencoded.png">
            <a:hlinkClick r:id="rId18" tooltip="Open picture: Loading sheet" action="ppaction://hlinksldjump"/>
          </p:cNvPr>
          <p:cNvPicPr>
            <a:picLocks noChangeAspect="1"/>
          </p:cNvPicPr>
          <p:nvPr/>
        </p:nvPicPr>
        <p:blipFill>
          <a:blip r:embed="rId17"/>
          <a:stretch>
            <a:fillRect/>
          </a:stretch>
        </p:blipFill>
        <p:spPr>
          <a:xfrm>
            <a:off x="11256264" y="5852160"/>
            <a:ext cx="329184" cy="329184"/>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457200" y="320040"/>
            <a:ext cx="9509760" cy="640080"/>
          </a:xfrm>
          <a:prstGeom prst="rect">
            <a:avLst/>
          </a:prstGeom>
          <a:noFill/>
          <a:ln/>
        </p:spPr>
        <p:txBody>
          <a:bodyPr wrap="square" lIns="0" tIns="0" rIns="0" bIns="0" rtlCol="0" anchor="ctr"/>
          <a:lstStyle/>
          <a:p>
            <a:pPr indent="0" marL="0">
              <a:buNone/>
            </a:pPr>
            <a:r>
              <a:rPr lang="en-US" sz="3200" b="1" dirty="0">
                <a:solidFill>
                  <a:schemeClr val="tx2"/>
                </a:solidFill>
              </a:rPr>
              <a:t>Vehicle loading against the GCS (1/2)</a:t>
            </a:r>
            <a:endParaRPr lang="en-US" sz="3200" dirty="0"/>
          </a:p>
        </p:txBody>
      </p:sp>
      <p:sp>
        <p:nvSpPr>
          <p:cNvPr id="3" name="Subtitle"/>
          <p:cNvSpPr txBox="1"/>
          <p:nvPr/>
        </p:nvSpPr>
        <p:spPr>
          <a:xfrm>
            <a:off x="457200" y="960120"/>
            <a:ext cx="9692640" cy="411480"/>
          </a:xfrm>
          <a:prstGeom prst="rect">
            <a:avLst/>
          </a:prstGeom>
          <a:noFill/>
          <a:ln/>
        </p:spPr>
        <p:txBody>
          <a:bodyPr wrap="square" lIns="0" tIns="0" rIns="0" bIns="0" rtlCol="0" anchor="ctr"/>
          <a:lstStyle/>
          <a:p>
            <a:pPr indent="0" marL="0">
              <a:buNone/>
            </a:pPr>
            <a:r>
              <a:rPr lang="en-US" sz="1500" dirty="0">
                <a:solidFill>
                  <a:srgbClr val="4A5266"/>
                </a:solidFill>
              </a:rPr>
              <a:t>Scan each pallet or part card; only PDI-passed cards on this GCS can be loaded</a:t>
            </a:r>
            <a:endParaRPr lang="en-US" sz="1500" dirty="0"/>
          </a:p>
        </p:txBody>
      </p:sp>
      <p:sp>
        <p:nvSpPr>
          <p:cNvPr id="4" name="Who"/>
          <p:cNvSpPr/>
          <p:nvPr/>
        </p:nvSpPr>
        <p:spPr>
          <a:xfrm>
            <a:off x="9966960" y="384048"/>
            <a:ext cx="1783080" cy="457200"/>
          </a:xfrm>
          <a:prstGeom prst="roundRect">
            <a:avLst>
              <a:gd name="adj" fmla="val 20000"/>
            </a:avLst>
          </a:prstGeom>
          <a:solidFill>
            <a:schemeClr val="accent1"/>
          </a:solidFill>
          <a:ln/>
        </p:spPr>
        <p:txBody>
          <a:bodyPr wrap="square" lIns="38100" tIns="38100" rIns="38100" bIns="38100" rtlCol="0" anchor="ctr"/>
          <a:lstStyle/>
          <a:p>
            <a:pPr algn="ctr" indent="0" marL="0">
              <a:buNone/>
            </a:pPr>
            <a:r>
              <a:rPr lang="en-US" sz="1100" b="1" dirty="0">
                <a:solidFill>
                  <a:schemeClr val="bg1"/>
                </a:solidFill>
              </a:rPr>
              <a:t>FG Warehouse</a:t>
            </a:r>
            <a:endParaRPr lang="en-US" sz="1100" dirty="0"/>
          </a:p>
        </p:txBody>
      </p:sp>
      <p:pic>
        <p:nvPicPr>
          <p:cNvPr id="5" name="Back to map" descr="preencoded.png">
            <a:hlinkClick r:id="rId2" tooltip="Process map" action="ppaction://hlinksldjump"/>
          </p:cNvPr>
          <p:cNvPicPr>
            <a:picLocks noChangeAspect="1"/>
          </p:cNvPicPr>
          <p:nvPr/>
        </p:nvPicPr>
        <p:blipFill>
          <a:blip r:embed="rId1"/>
          <a:stretch>
            <a:fillRect/>
          </a:stretch>
        </p:blipFill>
        <p:spPr>
          <a:xfrm>
            <a:off x="11384280" y="987552"/>
            <a:ext cx="329184" cy="329184"/>
          </a:xfrm>
          <a:prstGeom prst="rect">
            <a:avLst/>
          </a:prstGeom>
        </p:spPr>
      </p:pic>
      <p:sp>
        <p:nvSpPr>
          <p:cNvPr id="6" name="Step card 1"/>
          <p:cNvSpPr/>
          <p:nvPr/>
        </p:nvSpPr>
        <p:spPr>
          <a:xfrm>
            <a:off x="457200" y="1600200"/>
            <a:ext cx="2050085" cy="4709160"/>
          </a:xfrm>
          <a:prstGeom prst="roundRect">
            <a:avLst>
              <a:gd name="adj" fmla="val 4460"/>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7" name="Step screen 1" descr="/tmp/claude-0/-home-claude/604fe074-c4a3-59f5-a7f0-a4d942adf429/scratchpad/deck/th/d03_scan_pallet.jpg">
            <a:hlinkClick r:id="rId6" tooltip="Open picture: Scan a pallet" action="ppaction://hlinksldjump"/>
          </p:cNvPr>
          <p:cNvPicPr>
            <a:picLocks noChangeAspect="1"/>
          </p:cNvPicPr>
          <p:nvPr/>
        </p:nvPicPr>
        <p:blipFill>
          <a:blip r:embed="rId3"/>
          <a:stretch>
            <a:fillRect/>
          </a:stretch>
        </p:blipFill>
        <p:spPr>
          <a:xfrm>
            <a:off x="814894" y="1737360"/>
            <a:ext cx="1334697" cy="2788920"/>
          </a:xfrm>
          <a:prstGeom prst="rect">
            <a:avLst/>
          </a:prstGeom>
        </p:spPr>
      </p:pic>
      <p:sp>
        <p:nvSpPr>
          <p:cNvPr id="8" name="Step number 1"/>
          <p:cNvSpPr/>
          <p:nvPr/>
        </p:nvSpPr>
        <p:spPr>
          <a:xfrm>
            <a:off x="594360" y="4690872"/>
            <a:ext cx="347472" cy="347472"/>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Step title 1"/>
          <p:cNvSpPr txBox="1"/>
          <p:nvPr/>
        </p:nvSpPr>
        <p:spPr>
          <a:xfrm>
            <a:off x="1005840" y="4636008"/>
            <a:ext cx="1410005"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Scan a pallet</a:t>
            </a:r>
            <a:endParaRPr lang="en-US" sz="1300" dirty="0"/>
          </a:p>
        </p:txBody>
      </p:sp>
      <p:sp>
        <p:nvSpPr>
          <p:cNvPr id="10" name="Step text 1"/>
          <p:cNvSpPr txBox="1"/>
          <p:nvPr/>
        </p:nvSpPr>
        <p:spPr>
          <a:xfrm>
            <a:off x="594360" y="5166360"/>
            <a:ext cx="1775765" cy="658368"/>
          </a:xfrm>
          <a:prstGeom prst="rect">
            <a:avLst/>
          </a:prstGeom>
          <a:noFill/>
          <a:ln/>
        </p:spPr>
        <p:txBody>
          <a:bodyPr wrap="square" lIns="0" tIns="0" rIns="0" bIns="0" rtlCol="0" anchor="t"/>
          <a:lstStyle/>
          <a:p>
            <a:pPr indent="0" marL="0">
              <a:buNone/>
            </a:pPr>
            <a:r>
              <a:rPr lang="en-US" sz="1100" dirty="0">
                <a:solidFill>
                  <a:srgbClr val="4A5266"/>
                </a:solidFill>
              </a:rPr>
              <a:t>Its part card is picked from the GCS</a:t>
            </a:r>
            <a:endParaRPr lang="en-US" sz="1100" dirty="0"/>
          </a:p>
        </p:txBody>
      </p:sp>
      <p:pic>
        <p:nvPicPr>
          <p:cNvPr id="11" name="Open step 1" descr="preencoded.png">
            <a:hlinkClick r:id="rId6" tooltip="Open picture: Scan a pallet" action="ppaction://hlinksldjump"/>
          </p:cNvPr>
          <p:cNvPicPr>
            <a:picLocks noChangeAspect="1"/>
          </p:cNvPicPr>
          <p:nvPr/>
        </p:nvPicPr>
        <p:blipFill>
          <a:blip r:embed="rId5"/>
          <a:stretch>
            <a:fillRect/>
          </a:stretch>
        </p:blipFill>
        <p:spPr>
          <a:xfrm>
            <a:off x="2031797" y="5852160"/>
            <a:ext cx="329184" cy="329184"/>
          </a:xfrm>
          <a:prstGeom prst="rect">
            <a:avLst/>
          </a:prstGeom>
        </p:spPr>
      </p:pic>
      <p:sp>
        <p:nvSpPr>
          <p:cNvPr id="12" name="Flow arrow 1"/>
          <p:cNvSpPr txBox="1"/>
          <p:nvPr/>
        </p:nvSpPr>
        <p:spPr>
          <a:xfrm>
            <a:off x="2488997" y="2880360"/>
            <a:ext cx="292608" cy="457200"/>
          </a:xfrm>
          <a:prstGeom prst="rect">
            <a:avLst/>
          </a:prstGeom>
          <a:noFill/>
          <a:ln/>
        </p:spPr>
        <p:txBody>
          <a:bodyPr wrap="square" lIns="0" tIns="0" rIns="0" bIns="0" rtlCol="0" anchor="ctr"/>
          <a:lstStyle/>
          <a:p>
            <a:pPr algn="ctr" indent="0" marL="0">
              <a:buNone/>
            </a:pPr>
            <a:r>
              <a:rPr lang="en-US" sz="2400" b="1" dirty="0">
                <a:solidFill>
                  <a:schemeClr val="accent1"/>
                </a:solidFill>
              </a:rPr>
              <a:t>›</a:t>
            </a:r>
            <a:endParaRPr lang="en-US" sz="2400" dirty="0"/>
          </a:p>
        </p:txBody>
      </p:sp>
      <p:sp>
        <p:nvSpPr>
          <p:cNvPr id="13" name="Step card 2"/>
          <p:cNvSpPr/>
          <p:nvPr/>
        </p:nvSpPr>
        <p:spPr>
          <a:xfrm>
            <a:off x="2763317" y="1600200"/>
            <a:ext cx="2050085" cy="4709160"/>
          </a:xfrm>
          <a:prstGeom prst="roundRect">
            <a:avLst>
              <a:gd name="adj" fmla="val 4460"/>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14" name="Step screen 2" descr="/tmp/claude-0/-home-claude/604fe074-c4a3-59f5-a7f0-a4d942adf429/scratchpad/deck/th/d04_stop_do_pdi.jpg">
            <a:hlinkClick r:id="rId10" tooltip="Open picture: STOP - do PDI" action="ppaction://hlinksldjump"/>
          </p:cNvPr>
          <p:cNvPicPr>
            <a:picLocks noChangeAspect="1"/>
          </p:cNvPicPr>
          <p:nvPr/>
        </p:nvPicPr>
        <p:blipFill>
          <a:blip r:embed="rId7"/>
          <a:stretch>
            <a:fillRect/>
          </a:stretch>
        </p:blipFill>
        <p:spPr>
          <a:xfrm>
            <a:off x="3121010" y="1737360"/>
            <a:ext cx="1334697" cy="2788920"/>
          </a:xfrm>
          <a:prstGeom prst="rect">
            <a:avLst/>
          </a:prstGeom>
        </p:spPr>
      </p:pic>
      <p:sp>
        <p:nvSpPr>
          <p:cNvPr id="15" name="Step number 2"/>
          <p:cNvSpPr/>
          <p:nvPr/>
        </p:nvSpPr>
        <p:spPr>
          <a:xfrm>
            <a:off x="2900477" y="4690872"/>
            <a:ext cx="347472" cy="347472"/>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6" name="Step title 2"/>
          <p:cNvSpPr txBox="1"/>
          <p:nvPr/>
        </p:nvSpPr>
        <p:spPr>
          <a:xfrm>
            <a:off x="3311957" y="4636008"/>
            <a:ext cx="1410005"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STOP - do PDI</a:t>
            </a:r>
            <a:endParaRPr lang="en-US" sz="1300" dirty="0"/>
          </a:p>
        </p:txBody>
      </p:sp>
      <p:sp>
        <p:nvSpPr>
          <p:cNvPr id="17" name="Step text 2"/>
          <p:cNvSpPr txBox="1"/>
          <p:nvPr/>
        </p:nvSpPr>
        <p:spPr>
          <a:xfrm>
            <a:off x="2900477" y="5166360"/>
            <a:ext cx="1775765" cy="658368"/>
          </a:xfrm>
          <a:prstGeom prst="rect">
            <a:avLst/>
          </a:prstGeom>
          <a:noFill/>
          <a:ln/>
        </p:spPr>
        <p:txBody>
          <a:bodyPr wrap="square" lIns="0" tIns="0" rIns="0" bIns="0" rtlCol="0" anchor="t"/>
          <a:lstStyle/>
          <a:p>
            <a:pPr indent="0" marL="0">
              <a:buNone/>
            </a:pPr>
            <a:r>
              <a:rPr lang="en-US" sz="1100" dirty="0">
                <a:solidFill>
                  <a:srgbClr val="4A5266"/>
                </a:solidFill>
              </a:rPr>
              <a:t>Card not on this GCS is refused</a:t>
            </a:r>
            <a:endParaRPr lang="en-US" sz="1100" dirty="0"/>
          </a:p>
        </p:txBody>
      </p:sp>
      <p:pic>
        <p:nvPicPr>
          <p:cNvPr id="18" name="Open step 2" descr="preencoded.png">
            <a:hlinkClick r:id="rId10" tooltip="Open picture: STOP - do PDI" action="ppaction://hlinksldjump"/>
          </p:cNvPr>
          <p:cNvPicPr>
            <a:picLocks noChangeAspect="1"/>
          </p:cNvPicPr>
          <p:nvPr/>
        </p:nvPicPr>
        <p:blipFill>
          <a:blip r:embed="rId9"/>
          <a:stretch>
            <a:fillRect/>
          </a:stretch>
        </p:blipFill>
        <p:spPr>
          <a:xfrm>
            <a:off x="4337914" y="5852160"/>
            <a:ext cx="329184" cy="329184"/>
          </a:xfrm>
          <a:prstGeom prst="rect">
            <a:avLst/>
          </a:prstGeom>
        </p:spPr>
      </p:pic>
      <p:sp>
        <p:nvSpPr>
          <p:cNvPr id="19" name="Flow arrow 2"/>
          <p:cNvSpPr txBox="1"/>
          <p:nvPr/>
        </p:nvSpPr>
        <p:spPr>
          <a:xfrm>
            <a:off x="4795114" y="2880360"/>
            <a:ext cx="292608" cy="457200"/>
          </a:xfrm>
          <a:prstGeom prst="rect">
            <a:avLst/>
          </a:prstGeom>
          <a:noFill/>
          <a:ln/>
        </p:spPr>
        <p:txBody>
          <a:bodyPr wrap="square" lIns="0" tIns="0" rIns="0" bIns="0" rtlCol="0" anchor="ctr"/>
          <a:lstStyle/>
          <a:p>
            <a:pPr algn="ctr" indent="0" marL="0">
              <a:buNone/>
            </a:pPr>
            <a:r>
              <a:rPr lang="en-US" sz="2400" b="1" dirty="0">
                <a:solidFill>
                  <a:schemeClr val="accent1"/>
                </a:solidFill>
              </a:rPr>
              <a:t>›</a:t>
            </a:r>
            <a:endParaRPr lang="en-US" sz="2400" dirty="0"/>
          </a:p>
        </p:txBody>
      </p:sp>
      <p:sp>
        <p:nvSpPr>
          <p:cNvPr id="20" name="Step card 3"/>
          <p:cNvSpPr/>
          <p:nvPr/>
        </p:nvSpPr>
        <p:spPr>
          <a:xfrm>
            <a:off x="5069434" y="1600200"/>
            <a:ext cx="2050085" cy="4709160"/>
          </a:xfrm>
          <a:prstGeom prst="roundRect">
            <a:avLst>
              <a:gd name="adj" fmla="val 4460"/>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21" name="Step screen 3" descr="/tmp/claude-0/-home-claude/604fe074-c4a3-59f5-a7f0-a4d942adf429/scratchpad/deck/th/d05_finish_qty_short.jpg">
            <a:hlinkClick r:id="rId14" tooltip="Open picture: Quantity check" action="ppaction://hlinksldjump"/>
          </p:cNvPr>
          <p:cNvPicPr>
            <a:picLocks noChangeAspect="1"/>
          </p:cNvPicPr>
          <p:nvPr/>
        </p:nvPicPr>
        <p:blipFill>
          <a:blip r:embed="rId11"/>
          <a:stretch>
            <a:fillRect/>
          </a:stretch>
        </p:blipFill>
        <p:spPr>
          <a:xfrm>
            <a:off x="5427127" y="1737360"/>
            <a:ext cx="1334697" cy="2788920"/>
          </a:xfrm>
          <a:prstGeom prst="rect">
            <a:avLst/>
          </a:prstGeom>
        </p:spPr>
      </p:pic>
      <p:sp>
        <p:nvSpPr>
          <p:cNvPr id="22" name="Step number 3"/>
          <p:cNvSpPr/>
          <p:nvPr/>
        </p:nvSpPr>
        <p:spPr>
          <a:xfrm>
            <a:off x="5206594" y="4690872"/>
            <a:ext cx="347472" cy="347472"/>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3" name="Step title 3"/>
          <p:cNvSpPr txBox="1"/>
          <p:nvPr/>
        </p:nvSpPr>
        <p:spPr>
          <a:xfrm>
            <a:off x="5618074" y="4636008"/>
            <a:ext cx="1410005"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Quantity check</a:t>
            </a:r>
            <a:endParaRPr lang="en-US" sz="1300" dirty="0"/>
          </a:p>
        </p:txBody>
      </p:sp>
      <p:sp>
        <p:nvSpPr>
          <p:cNvPr id="24" name="Step text 3"/>
          <p:cNvSpPr txBox="1"/>
          <p:nvPr/>
        </p:nvSpPr>
        <p:spPr>
          <a:xfrm>
            <a:off x="5206594" y="5166360"/>
            <a:ext cx="1775765" cy="658368"/>
          </a:xfrm>
          <a:prstGeom prst="rect">
            <a:avLst/>
          </a:prstGeom>
          <a:noFill/>
          <a:ln/>
        </p:spPr>
        <p:txBody>
          <a:bodyPr wrap="square" lIns="0" tIns="0" rIns="0" bIns="0" rtlCol="0" anchor="t"/>
          <a:lstStyle/>
          <a:p>
            <a:pPr indent="0" marL="0">
              <a:buNone/>
            </a:pPr>
            <a:r>
              <a:rPr lang="en-US" sz="1100" dirty="0">
                <a:solidFill>
                  <a:srgbClr val="4A5266"/>
                </a:solidFill>
              </a:rPr>
              <a:t>Invoice 280 vs loaded 200 → NOT MATCHING</a:t>
            </a:r>
            <a:endParaRPr lang="en-US" sz="1100" dirty="0"/>
          </a:p>
        </p:txBody>
      </p:sp>
      <p:pic>
        <p:nvPicPr>
          <p:cNvPr id="25" name="Open step 3" descr="preencoded.png">
            <a:hlinkClick r:id="rId14" tooltip="Open picture: Quantity check" action="ppaction://hlinksldjump"/>
          </p:cNvPr>
          <p:cNvPicPr>
            <a:picLocks noChangeAspect="1"/>
          </p:cNvPicPr>
          <p:nvPr/>
        </p:nvPicPr>
        <p:blipFill>
          <a:blip r:embed="rId13"/>
          <a:stretch>
            <a:fillRect/>
          </a:stretch>
        </p:blipFill>
        <p:spPr>
          <a:xfrm>
            <a:off x="6644030" y="5852160"/>
            <a:ext cx="329184" cy="329184"/>
          </a:xfrm>
          <a:prstGeom prst="rect">
            <a:avLst/>
          </a:prstGeom>
        </p:spPr>
      </p:pic>
      <p:sp>
        <p:nvSpPr>
          <p:cNvPr id="26" name="Flow arrow 3"/>
          <p:cNvSpPr txBox="1"/>
          <p:nvPr/>
        </p:nvSpPr>
        <p:spPr>
          <a:xfrm>
            <a:off x="7101230" y="2880360"/>
            <a:ext cx="292608" cy="457200"/>
          </a:xfrm>
          <a:prstGeom prst="rect">
            <a:avLst/>
          </a:prstGeom>
          <a:noFill/>
          <a:ln/>
        </p:spPr>
        <p:txBody>
          <a:bodyPr wrap="square" lIns="0" tIns="0" rIns="0" bIns="0" rtlCol="0" anchor="ctr"/>
          <a:lstStyle/>
          <a:p>
            <a:pPr algn="ctr" indent="0" marL="0">
              <a:buNone/>
            </a:pPr>
            <a:r>
              <a:rPr lang="en-US" sz="2400" b="1" dirty="0">
                <a:solidFill>
                  <a:schemeClr val="accent1"/>
                </a:solidFill>
              </a:rPr>
              <a:t>›</a:t>
            </a:r>
            <a:endParaRPr lang="en-US" sz="2400" dirty="0"/>
          </a:p>
        </p:txBody>
      </p:sp>
      <p:sp>
        <p:nvSpPr>
          <p:cNvPr id="27" name="Step card 4"/>
          <p:cNvSpPr/>
          <p:nvPr/>
        </p:nvSpPr>
        <p:spPr>
          <a:xfrm>
            <a:off x="7375550" y="1600200"/>
            <a:ext cx="2050085" cy="4709160"/>
          </a:xfrm>
          <a:prstGeom prst="roundRect">
            <a:avLst>
              <a:gd name="adj" fmla="val 4460"/>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28" name="Step screen 4" descr="/tmp/claude-0/-home-claude/604fe074-c4a3-59f5-a7f0-a4d942adf429/scratchpad/deck/th/d06_finish_qty_ok.jpg">
            <a:hlinkClick r:id="rId18" tooltip="Open picture: Finish loading" action="ppaction://hlinksldjump"/>
          </p:cNvPr>
          <p:cNvPicPr>
            <a:picLocks noChangeAspect="1"/>
          </p:cNvPicPr>
          <p:nvPr/>
        </p:nvPicPr>
        <p:blipFill>
          <a:blip r:embed="rId15"/>
          <a:stretch>
            <a:fillRect/>
          </a:stretch>
        </p:blipFill>
        <p:spPr>
          <a:xfrm>
            <a:off x="7733244" y="1737360"/>
            <a:ext cx="1334697" cy="2788920"/>
          </a:xfrm>
          <a:prstGeom prst="rect">
            <a:avLst/>
          </a:prstGeom>
        </p:spPr>
      </p:pic>
      <p:sp>
        <p:nvSpPr>
          <p:cNvPr id="29" name="Step number 4"/>
          <p:cNvSpPr/>
          <p:nvPr/>
        </p:nvSpPr>
        <p:spPr>
          <a:xfrm>
            <a:off x="7512710" y="4690872"/>
            <a:ext cx="347472" cy="347472"/>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0" name="Step title 4"/>
          <p:cNvSpPr txBox="1"/>
          <p:nvPr/>
        </p:nvSpPr>
        <p:spPr>
          <a:xfrm>
            <a:off x="7924190" y="4636008"/>
            <a:ext cx="1410005"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Finish loading</a:t>
            </a:r>
            <a:endParaRPr lang="en-US" sz="1300" dirty="0"/>
          </a:p>
        </p:txBody>
      </p:sp>
      <p:sp>
        <p:nvSpPr>
          <p:cNvPr id="31" name="Step text 4"/>
          <p:cNvSpPr txBox="1"/>
          <p:nvPr/>
        </p:nvSpPr>
        <p:spPr>
          <a:xfrm>
            <a:off x="7512710" y="5166360"/>
            <a:ext cx="1775765" cy="658368"/>
          </a:xfrm>
          <a:prstGeom prst="rect">
            <a:avLst/>
          </a:prstGeom>
          <a:noFill/>
          <a:ln/>
        </p:spPr>
        <p:txBody>
          <a:bodyPr wrap="square" lIns="0" tIns="0" rIns="0" bIns="0" rtlCol="0" anchor="t"/>
          <a:lstStyle/>
          <a:p>
            <a:pPr indent="0" marL="0">
              <a:buNone/>
            </a:pPr>
            <a:r>
              <a:rPr lang="en-US" sz="1100" dirty="0">
                <a:solidFill>
                  <a:srgbClr val="4A5266"/>
                </a:solidFill>
              </a:rPr>
              <a:t>All 4 pallets: 280 = 280 ✓</a:t>
            </a:r>
            <a:endParaRPr lang="en-US" sz="1100" dirty="0"/>
          </a:p>
        </p:txBody>
      </p:sp>
      <p:pic>
        <p:nvPicPr>
          <p:cNvPr id="32" name="Open step 4" descr="preencoded.png">
            <a:hlinkClick r:id="rId18" tooltip="Open picture: Finish loading" action="ppaction://hlinksldjump"/>
          </p:cNvPr>
          <p:cNvPicPr>
            <a:picLocks noChangeAspect="1"/>
          </p:cNvPicPr>
          <p:nvPr/>
        </p:nvPicPr>
        <p:blipFill>
          <a:blip r:embed="rId17"/>
          <a:stretch>
            <a:fillRect/>
          </a:stretch>
        </p:blipFill>
        <p:spPr>
          <a:xfrm>
            <a:off x="8950147" y="5852160"/>
            <a:ext cx="329184" cy="329184"/>
          </a:xfrm>
          <a:prstGeom prst="rect">
            <a:avLst/>
          </a:prstGeom>
        </p:spPr>
      </p:pic>
      <p:sp>
        <p:nvSpPr>
          <p:cNvPr id="33" name="Flow arrow 4"/>
          <p:cNvSpPr txBox="1"/>
          <p:nvPr/>
        </p:nvSpPr>
        <p:spPr>
          <a:xfrm>
            <a:off x="9407347" y="2880360"/>
            <a:ext cx="292608" cy="457200"/>
          </a:xfrm>
          <a:prstGeom prst="rect">
            <a:avLst/>
          </a:prstGeom>
          <a:noFill/>
          <a:ln/>
        </p:spPr>
        <p:txBody>
          <a:bodyPr wrap="square" lIns="0" tIns="0" rIns="0" bIns="0" rtlCol="0" anchor="ctr"/>
          <a:lstStyle/>
          <a:p>
            <a:pPr algn="ctr" indent="0" marL="0">
              <a:buNone/>
            </a:pPr>
            <a:r>
              <a:rPr lang="en-US" sz="2400" b="1" dirty="0">
                <a:solidFill>
                  <a:schemeClr val="accent1"/>
                </a:solidFill>
              </a:rPr>
              <a:t>›</a:t>
            </a:r>
            <a:endParaRPr lang="en-US" sz="2400" dirty="0"/>
          </a:p>
        </p:txBody>
      </p:sp>
      <p:sp>
        <p:nvSpPr>
          <p:cNvPr id="34" name="Step card 5"/>
          <p:cNvSpPr/>
          <p:nvPr/>
        </p:nvSpPr>
        <p:spPr>
          <a:xfrm>
            <a:off x="9681667" y="1600200"/>
            <a:ext cx="2050085" cy="4709160"/>
          </a:xfrm>
          <a:prstGeom prst="roundRect">
            <a:avLst>
              <a:gd name="adj" fmla="val 4460"/>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35" name="Step screen 5" descr="/tmp/claude-0/-home-claude/604fe074-c4a3-59f5-a7f0-a4d942adf429/scratchpad/deck/th/d07_loading_complete.jpg">
            <a:hlinkClick r:id="rId22" tooltip="Open picture: Challan + GCS printed" action="ppaction://hlinksldjump"/>
          </p:cNvPr>
          <p:cNvPicPr>
            <a:picLocks noChangeAspect="1"/>
          </p:cNvPicPr>
          <p:nvPr/>
        </p:nvPicPr>
        <p:blipFill>
          <a:blip r:embed="rId19"/>
          <a:stretch>
            <a:fillRect/>
          </a:stretch>
        </p:blipFill>
        <p:spPr>
          <a:xfrm>
            <a:off x="10039361" y="1737360"/>
            <a:ext cx="1334697" cy="2788920"/>
          </a:xfrm>
          <a:prstGeom prst="rect">
            <a:avLst/>
          </a:prstGeom>
        </p:spPr>
      </p:pic>
      <p:sp>
        <p:nvSpPr>
          <p:cNvPr id="36" name="Step number 5"/>
          <p:cNvSpPr/>
          <p:nvPr/>
        </p:nvSpPr>
        <p:spPr>
          <a:xfrm>
            <a:off x="9818827" y="4690872"/>
            <a:ext cx="347472" cy="347472"/>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7" name="Step title 5"/>
          <p:cNvSpPr txBox="1"/>
          <p:nvPr/>
        </p:nvSpPr>
        <p:spPr>
          <a:xfrm>
            <a:off x="10230307" y="4636008"/>
            <a:ext cx="1410005"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Challan + GCS printed</a:t>
            </a:r>
            <a:endParaRPr lang="en-US" sz="1300" dirty="0"/>
          </a:p>
        </p:txBody>
      </p:sp>
      <p:sp>
        <p:nvSpPr>
          <p:cNvPr id="38" name="Step text 5"/>
          <p:cNvSpPr txBox="1"/>
          <p:nvPr/>
        </p:nvSpPr>
        <p:spPr>
          <a:xfrm>
            <a:off x="9818827" y="5166360"/>
            <a:ext cx="1775765" cy="658368"/>
          </a:xfrm>
          <a:prstGeom prst="rect">
            <a:avLst/>
          </a:prstGeom>
          <a:noFill/>
          <a:ln/>
        </p:spPr>
        <p:txBody>
          <a:bodyPr wrap="square" lIns="0" tIns="0" rIns="0" bIns="0" rtlCol="0" anchor="t"/>
          <a:lstStyle/>
          <a:p>
            <a:pPr indent="0" marL="0">
              <a:buNone/>
            </a:pPr>
            <a:r>
              <a:rPr lang="en-US" sz="1100" dirty="0">
                <a:solidFill>
                  <a:srgbClr val="4A5266"/>
                </a:solidFill>
              </a:rPr>
              <a:t>On the plant network printer - no BT printer</a:t>
            </a:r>
            <a:endParaRPr lang="en-US" sz="1100" dirty="0"/>
          </a:p>
        </p:txBody>
      </p:sp>
      <p:pic>
        <p:nvPicPr>
          <p:cNvPr id="39" name="Open step 5" descr="preencoded.png">
            <a:hlinkClick r:id="rId22" tooltip="Open picture: Challan + GCS printed" action="ppaction://hlinksldjump"/>
          </p:cNvPr>
          <p:cNvPicPr>
            <a:picLocks noChangeAspect="1"/>
          </p:cNvPicPr>
          <p:nvPr/>
        </p:nvPicPr>
        <p:blipFill>
          <a:blip r:embed="rId21"/>
          <a:stretch>
            <a:fillRect/>
          </a:stretch>
        </p:blipFill>
        <p:spPr>
          <a:xfrm>
            <a:off x="11256264" y="5852160"/>
            <a:ext cx="329184" cy="329184"/>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457200" y="320040"/>
            <a:ext cx="9509760" cy="640080"/>
          </a:xfrm>
          <a:prstGeom prst="rect">
            <a:avLst/>
          </a:prstGeom>
          <a:noFill/>
          <a:ln/>
        </p:spPr>
        <p:txBody>
          <a:bodyPr wrap="square" lIns="0" tIns="0" rIns="0" bIns="0" rtlCol="0" anchor="ctr"/>
          <a:lstStyle/>
          <a:p>
            <a:pPr indent="0" marL="0">
              <a:buNone/>
            </a:pPr>
            <a:r>
              <a:rPr lang="en-US" sz="3200" b="1" dirty="0">
                <a:solidFill>
                  <a:schemeClr val="tx2"/>
                </a:solidFill>
              </a:rPr>
              <a:t>Vehicle loading against the GCS (2/2)</a:t>
            </a:r>
            <a:endParaRPr lang="en-US" sz="3200" dirty="0"/>
          </a:p>
        </p:txBody>
      </p:sp>
      <p:sp>
        <p:nvSpPr>
          <p:cNvPr id="3" name="Subtitle"/>
          <p:cNvSpPr txBox="1"/>
          <p:nvPr/>
        </p:nvSpPr>
        <p:spPr>
          <a:xfrm>
            <a:off x="457200" y="960120"/>
            <a:ext cx="9692640" cy="411480"/>
          </a:xfrm>
          <a:prstGeom prst="rect">
            <a:avLst/>
          </a:prstGeom>
          <a:noFill/>
          <a:ln/>
        </p:spPr>
        <p:txBody>
          <a:bodyPr wrap="square" lIns="0" tIns="0" rIns="0" bIns="0" rtlCol="0" anchor="ctr"/>
          <a:lstStyle/>
          <a:p>
            <a:pPr indent="0" marL="0">
              <a:buNone/>
            </a:pPr>
            <a:r>
              <a:rPr lang="en-US" sz="1500" dirty="0">
                <a:solidFill>
                  <a:srgbClr val="4A5266"/>
                </a:solidFill>
              </a:rPr>
              <a:t>Scan each pallet or part card; only PDI-passed cards on this GCS can be loaded</a:t>
            </a:r>
            <a:endParaRPr lang="en-US" sz="1500" dirty="0"/>
          </a:p>
        </p:txBody>
      </p:sp>
      <p:sp>
        <p:nvSpPr>
          <p:cNvPr id="4" name="Who"/>
          <p:cNvSpPr/>
          <p:nvPr/>
        </p:nvSpPr>
        <p:spPr>
          <a:xfrm>
            <a:off x="9966960" y="384048"/>
            <a:ext cx="1783080" cy="457200"/>
          </a:xfrm>
          <a:prstGeom prst="roundRect">
            <a:avLst>
              <a:gd name="adj" fmla="val 20000"/>
            </a:avLst>
          </a:prstGeom>
          <a:solidFill>
            <a:schemeClr val="accent1"/>
          </a:solidFill>
          <a:ln/>
        </p:spPr>
        <p:txBody>
          <a:bodyPr wrap="square" lIns="38100" tIns="38100" rIns="38100" bIns="38100" rtlCol="0" anchor="ctr"/>
          <a:lstStyle/>
          <a:p>
            <a:pPr algn="ctr" indent="0" marL="0">
              <a:buNone/>
            </a:pPr>
            <a:r>
              <a:rPr lang="en-US" sz="1100" b="1" dirty="0">
                <a:solidFill>
                  <a:schemeClr val="bg1"/>
                </a:solidFill>
              </a:rPr>
              <a:t>FG Warehouse</a:t>
            </a:r>
            <a:endParaRPr lang="en-US" sz="1100" dirty="0"/>
          </a:p>
        </p:txBody>
      </p:sp>
      <p:pic>
        <p:nvPicPr>
          <p:cNvPr id="5" name="Back to map" descr="preencoded.png">
            <a:hlinkClick r:id="rId2" tooltip="Process map" action="ppaction://hlinksldjump"/>
          </p:cNvPr>
          <p:cNvPicPr>
            <a:picLocks noChangeAspect="1"/>
          </p:cNvPicPr>
          <p:nvPr/>
        </p:nvPicPr>
        <p:blipFill>
          <a:blip r:embed="rId1"/>
          <a:stretch>
            <a:fillRect/>
          </a:stretch>
        </p:blipFill>
        <p:spPr>
          <a:xfrm>
            <a:off x="11384280" y="987552"/>
            <a:ext cx="329184" cy="329184"/>
          </a:xfrm>
          <a:prstGeom prst="rect">
            <a:avLst/>
          </a:prstGeom>
        </p:spPr>
      </p:pic>
      <p:sp>
        <p:nvSpPr>
          <p:cNvPr id="6" name="Step card 1"/>
          <p:cNvSpPr/>
          <p:nvPr/>
        </p:nvSpPr>
        <p:spPr>
          <a:xfrm>
            <a:off x="457200" y="1600200"/>
            <a:ext cx="5509260" cy="4709160"/>
          </a:xfrm>
          <a:prstGeom prst="roundRect">
            <a:avLst>
              <a:gd name="adj" fmla="val 1942"/>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7" name="Step screen 1" descr="/tmp/claude-0/-home-claude/604fe074-c4a3-59f5-a7f0-a4d942adf429/scratchpad/deck/th/o_gcs.jpg">
            <a:hlinkClick r:id="rId6" tooltip="Open picture: Output: GCS gate pass" action="ppaction://hlinksldjump"/>
          </p:cNvPr>
          <p:cNvPicPr>
            <a:picLocks noChangeAspect="1"/>
          </p:cNvPicPr>
          <p:nvPr/>
        </p:nvPicPr>
        <p:blipFill>
          <a:blip r:embed="rId3"/>
          <a:stretch>
            <a:fillRect/>
          </a:stretch>
        </p:blipFill>
        <p:spPr>
          <a:xfrm>
            <a:off x="1621656" y="1737360"/>
            <a:ext cx="3180347" cy="2788920"/>
          </a:xfrm>
          <a:prstGeom prst="rect">
            <a:avLst/>
          </a:prstGeom>
        </p:spPr>
      </p:pic>
      <p:sp>
        <p:nvSpPr>
          <p:cNvPr id="8" name="Step number 1"/>
          <p:cNvSpPr/>
          <p:nvPr/>
        </p:nvSpPr>
        <p:spPr>
          <a:xfrm>
            <a:off x="594360" y="4690872"/>
            <a:ext cx="347472" cy="347472"/>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9" name="Step title 1"/>
          <p:cNvSpPr txBox="1"/>
          <p:nvPr/>
        </p:nvSpPr>
        <p:spPr>
          <a:xfrm>
            <a:off x="1005840" y="4636008"/>
            <a:ext cx="4869180"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Output: GCS gate pass</a:t>
            </a:r>
            <a:endParaRPr lang="en-US" sz="1300" dirty="0"/>
          </a:p>
        </p:txBody>
      </p:sp>
      <p:sp>
        <p:nvSpPr>
          <p:cNvPr id="10" name="Step text 1"/>
          <p:cNvSpPr txBox="1"/>
          <p:nvPr/>
        </p:nvSpPr>
        <p:spPr>
          <a:xfrm>
            <a:off x="594360" y="5166360"/>
            <a:ext cx="5234940" cy="658368"/>
          </a:xfrm>
          <a:prstGeom prst="rect">
            <a:avLst/>
          </a:prstGeom>
          <a:noFill/>
          <a:ln/>
        </p:spPr>
        <p:txBody>
          <a:bodyPr wrap="square" lIns="0" tIns="0" rIns="0" bIns="0" rtlCol="0" anchor="t"/>
          <a:lstStyle/>
          <a:p>
            <a:pPr indent="0" marL="0">
              <a:buNone/>
            </a:pPr>
            <a:r>
              <a:rPr lang="en-US" sz="1100" dirty="0">
                <a:solidFill>
                  <a:srgbClr val="4A5266"/>
                </a:solidFill>
              </a:rPr>
              <a:t>Signed GCS QR for the OUT gate</a:t>
            </a:r>
            <a:endParaRPr lang="en-US" sz="1100" dirty="0"/>
          </a:p>
        </p:txBody>
      </p:sp>
      <p:pic>
        <p:nvPicPr>
          <p:cNvPr id="11" name="Open step 1" descr="preencoded.png">
            <a:hlinkClick r:id="rId6" tooltip="Open picture: Output: GCS gate pass" action="ppaction://hlinksldjump"/>
          </p:cNvPr>
          <p:cNvPicPr>
            <a:picLocks noChangeAspect="1"/>
          </p:cNvPicPr>
          <p:nvPr/>
        </p:nvPicPr>
        <p:blipFill>
          <a:blip r:embed="rId5"/>
          <a:stretch>
            <a:fillRect/>
          </a:stretch>
        </p:blipFill>
        <p:spPr>
          <a:xfrm>
            <a:off x="5490972" y="5852160"/>
            <a:ext cx="329184" cy="329184"/>
          </a:xfrm>
          <a:prstGeom prst="rect">
            <a:avLst/>
          </a:prstGeom>
        </p:spPr>
      </p:pic>
      <p:sp>
        <p:nvSpPr>
          <p:cNvPr id="12" name="Flow arrow 1"/>
          <p:cNvSpPr txBox="1"/>
          <p:nvPr/>
        </p:nvSpPr>
        <p:spPr>
          <a:xfrm>
            <a:off x="5948172" y="2880360"/>
            <a:ext cx="292608" cy="457200"/>
          </a:xfrm>
          <a:prstGeom prst="rect">
            <a:avLst/>
          </a:prstGeom>
          <a:noFill/>
          <a:ln/>
        </p:spPr>
        <p:txBody>
          <a:bodyPr wrap="square" lIns="0" tIns="0" rIns="0" bIns="0" rtlCol="0" anchor="ctr"/>
          <a:lstStyle/>
          <a:p>
            <a:pPr algn="ctr" indent="0" marL="0">
              <a:buNone/>
            </a:pPr>
            <a:r>
              <a:rPr lang="en-US" sz="2400" b="1" dirty="0">
                <a:solidFill>
                  <a:schemeClr val="accent1"/>
                </a:solidFill>
              </a:rPr>
              <a:t>›</a:t>
            </a:r>
            <a:endParaRPr lang="en-US" sz="2400" dirty="0"/>
          </a:p>
        </p:txBody>
      </p:sp>
      <p:sp>
        <p:nvSpPr>
          <p:cNvPr id="13" name="Step card 2"/>
          <p:cNvSpPr/>
          <p:nvPr/>
        </p:nvSpPr>
        <p:spPr>
          <a:xfrm>
            <a:off x="6222492" y="1600200"/>
            <a:ext cx="5509260" cy="4709160"/>
          </a:xfrm>
          <a:prstGeom prst="roundRect">
            <a:avLst>
              <a:gd name="adj" fmla="val 1942"/>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14" name="Step screen 2" descr="/tmp/claude-0/-home-claude/604fe074-c4a3-59f5-a7f0-a4d942adf429/scratchpad/deck/th/o_challan.jpg">
            <a:hlinkClick r:id="rId10" tooltip="Open picture: Output: pallet challan" action="ppaction://hlinksldjump"/>
          </p:cNvPr>
          <p:cNvPicPr>
            <a:picLocks noChangeAspect="1"/>
          </p:cNvPicPr>
          <p:nvPr/>
        </p:nvPicPr>
        <p:blipFill>
          <a:blip r:embed="rId7"/>
          <a:stretch>
            <a:fillRect/>
          </a:stretch>
        </p:blipFill>
        <p:spPr>
          <a:xfrm>
            <a:off x="7431026" y="1737360"/>
            <a:ext cx="3092193" cy="2788920"/>
          </a:xfrm>
          <a:prstGeom prst="rect">
            <a:avLst/>
          </a:prstGeom>
        </p:spPr>
      </p:pic>
      <p:sp>
        <p:nvSpPr>
          <p:cNvPr id="15" name="Step number 2"/>
          <p:cNvSpPr/>
          <p:nvPr/>
        </p:nvSpPr>
        <p:spPr>
          <a:xfrm>
            <a:off x="6359652" y="4690872"/>
            <a:ext cx="347472" cy="347472"/>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16" name="Step title 2"/>
          <p:cNvSpPr txBox="1"/>
          <p:nvPr/>
        </p:nvSpPr>
        <p:spPr>
          <a:xfrm>
            <a:off x="6771132" y="4636008"/>
            <a:ext cx="4869180"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Output: pallet challan</a:t>
            </a:r>
            <a:endParaRPr lang="en-US" sz="1300" dirty="0"/>
          </a:p>
        </p:txBody>
      </p:sp>
      <p:sp>
        <p:nvSpPr>
          <p:cNvPr id="17" name="Step text 2"/>
          <p:cNvSpPr txBox="1"/>
          <p:nvPr/>
        </p:nvSpPr>
        <p:spPr>
          <a:xfrm>
            <a:off x="6359652" y="5166360"/>
            <a:ext cx="5234940" cy="658368"/>
          </a:xfrm>
          <a:prstGeom prst="rect">
            <a:avLst/>
          </a:prstGeom>
          <a:noFill/>
          <a:ln/>
        </p:spPr>
        <p:txBody>
          <a:bodyPr wrap="square" lIns="0" tIns="0" rIns="0" bIns="0" rtlCol="0" anchor="t"/>
          <a:lstStyle/>
          <a:p>
            <a:pPr indent="0" marL="0">
              <a:buNone/>
            </a:pPr>
            <a:r>
              <a:rPr lang="en-US" sz="1100" dirty="0">
                <a:solidFill>
                  <a:srgbClr val="4A5266"/>
                </a:solidFill>
              </a:rPr>
              <a:t>Returnable pallets, Rule 55 - not for sale</a:t>
            </a:r>
            <a:endParaRPr lang="en-US" sz="1100" dirty="0"/>
          </a:p>
        </p:txBody>
      </p:sp>
      <p:pic>
        <p:nvPicPr>
          <p:cNvPr id="18" name="Open step 2" descr="preencoded.png">
            <a:hlinkClick r:id="rId10" tooltip="Open picture: Output: pallet challan" action="ppaction://hlinksldjump"/>
          </p:cNvPr>
          <p:cNvPicPr>
            <a:picLocks noChangeAspect="1"/>
          </p:cNvPicPr>
          <p:nvPr/>
        </p:nvPicPr>
        <p:blipFill>
          <a:blip r:embed="rId9"/>
          <a:stretch>
            <a:fillRect/>
          </a:stretch>
        </p:blipFill>
        <p:spPr>
          <a:xfrm>
            <a:off x="11256264" y="5852160"/>
            <a:ext cx="329184" cy="329184"/>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457200" y="320040"/>
            <a:ext cx="9509760" cy="640080"/>
          </a:xfrm>
          <a:prstGeom prst="rect">
            <a:avLst/>
          </a:prstGeom>
          <a:noFill/>
          <a:ln/>
        </p:spPr>
        <p:txBody>
          <a:bodyPr wrap="square" lIns="0" tIns="0" rIns="0" bIns="0" rtlCol="0" anchor="ctr"/>
          <a:lstStyle/>
          <a:p>
            <a:pPr indent="0" marL="0">
              <a:buNone/>
            </a:pPr>
            <a:r>
              <a:rPr lang="en-US" sz="3200" b="1" dirty="0">
                <a:solidFill>
                  <a:schemeClr val="tx2"/>
                </a:solidFill>
              </a:rPr>
              <a:t>OUT gate</a:t>
            </a:r>
            <a:endParaRPr lang="en-US" sz="3200" dirty="0"/>
          </a:p>
        </p:txBody>
      </p:sp>
      <p:sp>
        <p:nvSpPr>
          <p:cNvPr id="3" name="Subtitle"/>
          <p:cNvSpPr txBox="1"/>
          <p:nvPr/>
        </p:nvSpPr>
        <p:spPr>
          <a:xfrm>
            <a:off x="457200" y="960120"/>
            <a:ext cx="9692640" cy="411480"/>
          </a:xfrm>
          <a:prstGeom prst="rect">
            <a:avLst/>
          </a:prstGeom>
          <a:noFill/>
          <a:ln/>
        </p:spPr>
        <p:txBody>
          <a:bodyPr wrap="square" lIns="0" tIns="0" rIns="0" bIns="0" rtlCol="0" anchor="ctr"/>
          <a:lstStyle/>
          <a:p>
            <a:pPr indent="0" marL="0">
              <a:buNone/>
            </a:pPr>
            <a:r>
              <a:rPr lang="en-US" sz="1500" dirty="0">
                <a:solidFill>
                  <a:srgbClr val="4A5266"/>
                </a:solidFill>
              </a:rPr>
              <a:t>Scan the GCS QR - only a genuine AssetTrack QR releases the vehicle</a:t>
            </a:r>
            <a:endParaRPr lang="en-US" sz="1500" dirty="0"/>
          </a:p>
        </p:txBody>
      </p:sp>
      <p:sp>
        <p:nvSpPr>
          <p:cNvPr id="4" name="Who"/>
          <p:cNvSpPr/>
          <p:nvPr/>
        </p:nvSpPr>
        <p:spPr>
          <a:xfrm>
            <a:off x="9966960" y="384048"/>
            <a:ext cx="1783080" cy="457200"/>
          </a:xfrm>
          <a:prstGeom prst="roundRect">
            <a:avLst>
              <a:gd name="adj" fmla="val 20000"/>
            </a:avLst>
          </a:prstGeom>
          <a:solidFill>
            <a:schemeClr val="accent1"/>
          </a:solidFill>
          <a:ln/>
        </p:spPr>
        <p:txBody>
          <a:bodyPr wrap="square" lIns="38100" tIns="38100" rIns="38100" bIns="38100" rtlCol="0" anchor="ctr"/>
          <a:lstStyle/>
          <a:p>
            <a:pPr algn="ctr" indent="0" marL="0">
              <a:buNone/>
            </a:pPr>
            <a:r>
              <a:rPr lang="en-US" sz="1100" b="1" dirty="0">
                <a:solidFill>
                  <a:schemeClr val="bg1"/>
                </a:solidFill>
              </a:rPr>
              <a:t>Security - OUT gate</a:t>
            </a:r>
            <a:endParaRPr lang="en-US" sz="1100" dirty="0"/>
          </a:p>
        </p:txBody>
      </p:sp>
      <p:pic>
        <p:nvPicPr>
          <p:cNvPr id="5" name="Back to map" descr="preencoded.png">
            <a:hlinkClick r:id="rId2" tooltip="Process map" action="ppaction://hlinksldjump"/>
          </p:cNvPr>
          <p:cNvPicPr>
            <a:picLocks noChangeAspect="1"/>
          </p:cNvPicPr>
          <p:nvPr/>
        </p:nvPicPr>
        <p:blipFill>
          <a:blip r:embed="rId1"/>
          <a:stretch>
            <a:fillRect/>
          </a:stretch>
        </p:blipFill>
        <p:spPr>
          <a:xfrm>
            <a:off x="11384280" y="987552"/>
            <a:ext cx="329184" cy="329184"/>
          </a:xfrm>
          <a:prstGeom prst="rect">
            <a:avLst/>
          </a:prstGeom>
        </p:spPr>
      </p:pic>
      <p:sp>
        <p:nvSpPr>
          <p:cNvPr id="6" name="Step card 1"/>
          <p:cNvSpPr/>
          <p:nvPr/>
        </p:nvSpPr>
        <p:spPr>
          <a:xfrm>
            <a:off x="457200" y="1600200"/>
            <a:ext cx="3587496" cy="4709160"/>
          </a:xfrm>
          <a:prstGeom prst="roundRect">
            <a:avLst>
              <a:gd name="adj" fmla="val 2549"/>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7" name="Step screen 1" descr="/tmp/claude-0/-home-claude/604fe074-c4a3-59f5-a7f0-a4d942adf429/scratchpad/deck/th/o01_out_gate.jpg">
            <a:hlinkClick r:id="rId6" tooltip="Open picture: Vehicles waiting" action="ppaction://hlinksldjump"/>
          </p:cNvPr>
          <p:cNvPicPr>
            <a:picLocks noChangeAspect="1"/>
          </p:cNvPicPr>
          <p:nvPr/>
        </p:nvPicPr>
        <p:blipFill>
          <a:blip r:embed="rId3"/>
          <a:stretch>
            <a:fillRect/>
          </a:stretch>
        </p:blipFill>
        <p:spPr>
          <a:xfrm>
            <a:off x="1583599" y="1737360"/>
            <a:ext cx="1334697" cy="2788920"/>
          </a:xfrm>
          <a:prstGeom prst="rect">
            <a:avLst/>
          </a:prstGeom>
        </p:spPr>
      </p:pic>
      <p:sp>
        <p:nvSpPr>
          <p:cNvPr id="8" name="Step number 1"/>
          <p:cNvSpPr/>
          <p:nvPr/>
        </p:nvSpPr>
        <p:spPr>
          <a:xfrm>
            <a:off x="594360" y="4690872"/>
            <a:ext cx="347472" cy="347472"/>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Step title 1"/>
          <p:cNvSpPr txBox="1"/>
          <p:nvPr/>
        </p:nvSpPr>
        <p:spPr>
          <a:xfrm>
            <a:off x="1005840" y="4636008"/>
            <a:ext cx="2947416"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Vehicles waiting</a:t>
            </a:r>
            <a:endParaRPr lang="en-US" sz="1300" dirty="0"/>
          </a:p>
        </p:txBody>
      </p:sp>
      <p:sp>
        <p:nvSpPr>
          <p:cNvPr id="10" name="Step text 1"/>
          <p:cNvSpPr txBox="1"/>
          <p:nvPr/>
        </p:nvSpPr>
        <p:spPr>
          <a:xfrm>
            <a:off x="594360" y="5166360"/>
            <a:ext cx="3313176" cy="658368"/>
          </a:xfrm>
          <a:prstGeom prst="rect">
            <a:avLst/>
          </a:prstGeom>
          <a:noFill/>
          <a:ln/>
        </p:spPr>
        <p:txBody>
          <a:bodyPr wrap="square" lIns="0" tIns="0" rIns="0" bIns="0" rtlCol="0" anchor="t"/>
          <a:lstStyle/>
          <a:p>
            <a:pPr indent="0" marL="0">
              <a:buNone/>
            </a:pPr>
            <a:r>
              <a:rPr lang="en-US" sz="1100" dirty="0">
                <a:solidFill>
                  <a:srgbClr val="4A5266"/>
                </a:solidFill>
              </a:rPr>
              <a:t>Approved vehicles listed at the gate</a:t>
            </a:r>
            <a:endParaRPr lang="en-US" sz="1100" dirty="0"/>
          </a:p>
        </p:txBody>
      </p:sp>
      <p:pic>
        <p:nvPicPr>
          <p:cNvPr id="11" name="Open step 1" descr="preencoded.png">
            <a:hlinkClick r:id="rId6" tooltip="Open picture: Vehicles waiting" action="ppaction://hlinksldjump"/>
          </p:cNvPr>
          <p:cNvPicPr>
            <a:picLocks noChangeAspect="1"/>
          </p:cNvPicPr>
          <p:nvPr/>
        </p:nvPicPr>
        <p:blipFill>
          <a:blip r:embed="rId5"/>
          <a:stretch>
            <a:fillRect/>
          </a:stretch>
        </p:blipFill>
        <p:spPr>
          <a:xfrm>
            <a:off x="3569208" y="5852160"/>
            <a:ext cx="329184" cy="329184"/>
          </a:xfrm>
          <a:prstGeom prst="rect">
            <a:avLst/>
          </a:prstGeom>
        </p:spPr>
      </p:pic>
      <p:sp>
        <p:nvSpPr>
          <p:cNvPr id="12" name="Flow arrow 1"/>
          <p:cNvSpPr txBox="1"/>
          <p:nvPr/>
        </p:nvSpPr>
        <p:spPr>
          <a:xfrm>
            <a:off x="4026408" y="2880360"/>
            <a:ext cx="292608" cy="457200"/>
          </a:xfrm>
          <a:prstGeom prst="rect">
            <a:avLst/>
          </a:prstGeom>
          <a:noFill/>
          <a:ln/>
        </p:spPr>
        <p:txBody>
          <a:bodyPr wrap="square" lIns="0" tIns="0" rIns="0" bIns="0" rtlCol="0" anchor="ctr"/>
          <a:lstStyle/>
          <a:p>
            <a:pPr algn="ctr" indent="0" marL="0">
              <a:buNone/>
            </a:pPr>
            <a:r>
              <a:rPr lang="en-US" sz="2400" b="1" dirty="0">
                <a:solidFill>
                  <a:schemeClr val="accent1"/>
                </a:solidFill>
              </a:rPr>
              <a:t>›</a:t>
            </a:r>
            <a:endParaRPr lang="en-US" sz="2400" dirty="0"/>
          </a:p>
        </p:txBody>
      </p:sp>
      <p:sp>
        <p:nvSpPr>
          <p:cNvPr id="13" name="Step card 2"/>
          <p:cNvSpPr/>
          <p:nvPr/>
        </p:nvSpPr>
        <p:spPr>
          <a:xfrm>
            <a:off x="4300728" y="1600200"/>
            <a:ext cx="3587496" cy="4709160"/>
          </a:xfrm>
          <a:prstGeom prst="roundRect">
            <a:avLst>
              <a:gd name="adj" fmla="val 2549"/>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14" name="Step screen 2" descr="/tmp/claude-0/-home-claude/604fe074-c4a3-59f5-a7f0-a4d942adf429/scratchpad/deck/th/o02_out_forged.jpg">
            <a:hlinkClick r:id="rId10" tooltip="Open picture: Forged QR refused" action="ppaction://hlinksldjump"/>
          </p:cNvPr>
          <p:cNvPicPr>
            <a:picLocks noChangeAspect="1"/>
          </p:cNvPicPr>
          <p:nvPr/>
        </p:nvPicPr>
        <p:blipFill>
          <a:blip r:embed="rId7"/>
          <a:stretch>
            <a:fillRect/>
          </a:stretch>
        </p:blipFill>
        <p:spPr>
          <a:xfrm>
            <a:off x="5427127" y="1737360"/>
            <a:ext cx="1334697" cy="2788920"/>
          </a:xfrm>
          <a:prstGeom prst="rect">
            <a:avLst/>
          </a:prstGeom>
        </p:spPr>
      </p:pic>
      <p:sp>
        <p:nvSpPr>
          <p:cNvPr id="15" name="Step number 2"/>
          <p:cNvSpPr/>
          <p:nvPr/>
        </p:nvSpPr>
        <p:spPr>
          <a:xfrm>
            <a:off x="4437888" y="4690872"/>
            <a:ext cx="347472" cy="347472"/>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6" name="Step title 2"/>
          <p:cNvSpPr txBox="1"/>
          <p:nvPr/>
        </p:nvSpPr>
        <p:spPr>
          <a:xfrm>
            <a:off x="4849368" y="4636008"/>
            <a:ext cx="2947416"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Forged QR refused</a:t>
            </a:r>
            <a:endParaRPr lang="en-US" sz="1300" dirty="0"/>
          </a:p>
        </p:txBody>
      </p:sp>
      <p:sp>
        <p:nvSpPr>
          <p:cNvPr id="17" name="Step text 2"/>
          <p:cNvSpPr txBox="1"/>
          <p:nvPr/>
        </p:nvSpPr>
        <p:spPr>
          <a:xfrm>
            <a:off x="4437888" y="5166360"/>
            <a:ext cx="3313176" cy="658368"/>
          </a:xfrm>
          <a:prstGeom prst="rect">
            <a:avLst/>
          </a:prstGeom>
          <a:noFill/>
          <a:ln/>
        </p:spPr>
        <p:txBody>
          <a:bodyPr wrap="square" lIns="0" tIns="0" rIns="0" bIns="0" rtlCol="0" anchor="t"/>
          <a:lstStyle/>
          <a:p>
            <a:pPr indent="0" marL="0">
              <a:buNone/>
            </a:pPr>
            <a:r>
              <a:rPr lang="en-US" sz="1100" dirty="0">
                <a:solidFill>
                  <a:srgbClr val="4A5266"/>
                </a:solidFill>
              </a:rPr>
              <a:t>Check code invalid → HOLD VEHICLE</a:t>
            </a:r>
            <a:endParaRPr lang="en-US" sz="1100" dirty="0"/>
          </a:p>
        </p:txBody>
      </p:sp>
      <p:pic>
        <p:nvPicPr>
          <p:cNvPr id="18" name="Open step 2" descr="preencoded.png">
            <a:hlinkClick r:id="rId10" tooltip="Open picture: Forged QR refused" action="ppaction://hlinksldjump"/>
          </p:cNvPr>
          <p:cNvPicPr>
            <a:picLocks noChangeAspect="1"/>
          </p:cNvPicPr>
          <p:nvPr/>
        </p:nvPicPr>
        <p:blipFill>
          <a:blip r:embed="rId9"/>
          <a:stretch>
            <a:fillRect/>
          </a:stretch>
        </p:blipFill>
        <p:spPr>
          <a:xfrm>
            <a:off x="7412736" y="5852160"/>
            <a:ext cx="329184" cy="329184"/>
          </a:xfrm>
          <a:prstGeom prst="rect">
            <a:avLst/>
          </a:prstGeom>
        </p:spPr>
      </p:pic>
      <p:sp>
        <p:nvSpPr>
          <p:cNvPr id="19" name="Flow arrow 2"/>
          <p:cNvSpPr txBox="1"/>
          <p:nvPr/>
        </p:nvSpPr>
        <p:spPr>
          <a:xfrm>
            <a:off x="7869936" y="2880360"/>
            <a:ext cx="292608" cy="457200"/>
          </a:xfrm>
          <a:prstGeom prst="rect">
            <a:avLst/>
          </a:prstGeom>
          <a:noFill/>
          <a:ln/>
        </p:spPr>
        <p:txBody>
          <a:bodyPr wrap="square" lIns="0" tIns="0" rIns="0" bIns="0" rtlCol="0" anchor="ctr"/>
          <a:lstStyle/>
          <a:p>
            <a:pPr algn="ctr" indent="0" marL="0">
              <a:buNone/>
            </a:pPr>
            <a:r>
              <a:rPr lang="en-US" sz="2400" b="1" dirty="0">
                <a:solidFill>
                  <a:schemeClr val="accent1"/>
                </a:solidFill>
              </a:rPr>
              <a:t>›</a:t>
            </a:r>
            <a:endParaRPr lang="en-US" sz="2400" dirty="0"/>
          </a:p>
        </p:txBody>
      </p:sp>
      <p:sp>
        <p:nvSpPr>
          <p:cNvPr id="20" name="Step card 3"/>
          <p:cNvSpPr/>
          <p:nvPr/>
        </p:nvSpPr>
        <p:spPr>
          <a:xfrm>
            <a:off x="8144256" y="1600200"/>
            <a:ext cx="3587496" cy="4709160"/>
          </a:xfrm>
          <a:prstGeom prst="roundRect">
            <a:avLst>
              <a:gd name="adj" fmla="val 2549"/>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21" name="Step screen 3" descr="/tmp/claude-0/-home-claude/604fe074-c4a3-59f5-a7f0-a4d942adf429/scratchpad/deck/th/o03_out_dispatched.jpg">
            <a:hlinkClick r:id="rId14" tooltip="Open picture: Dispatched" action="ppaction://hlinksldjump"/>
          </p:cNvPr>
          <p:cNvPicPr>
            <a:picLocks noChangeAspect="1"/>
          </p:cNvPicPr>
          <p:nvPr/>
        </p:nvPicPr>
        <p:blipFill>
          <a:blip r:embed="rId11"/>
          <a:stretch>
            <a:fillRect/>
          </a:stretch>
        </p:blipFill>
        <p:spPr>
          <a:xfrm>
            <a:off x="9270655" y="1737360"/>
            <a:ext cx="1334697" cy="2788920"/>
          </a:xfrm>
          <a:prstGeom prst="rect">
            <a:avLst/>
          </a:prstGeom>
        </p:spPr>
      </p:pic>
      <p:sp>
        <p:nvSpPr>
          <p:cNvPr id="22" name="Step number 3"/>
          <p:cNvSpPr/>
          <p:nvPr/>
        </p:nvSpPr>
        <p:spPr>
          <a:xfrm>
            <a:off x="8281416" y="4690872"/>
            <a:ext cx="347472" cy="347472"/>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3" name="Step title 3"/>
          <p:cNvSpPr txBox="1"/>
          <p:nvPr/>
        </p:nvSpPr>
        <p:spPr>
          <a:xfrm>
            <a:off x="8692896" y="4636008"/>
            <a:ext cx="2947416"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Dispatched</a:t>
            </a:r>
            <a:endParaRPr lang="en-US" sz="1300" dirty="0"/>
          </a:p>
        </p:txBody>
      </p:sp>
      <p:sp>
        <p:nvSpPr>
          <p:cNvPr id="24" name="Step text 3"/>
          <p:cNvSpPr txBox="1"/>
          <p:nvPr/>
        </p:nvSpPr>
        <p:spPr>
          <a:xfrm>
            <a:off x="8281416" y="5166360"/>
            <a:ext cx="3313176" cy="658368"/>
          </a:xfrm>
          <a:prstGeom prst="rect">
            <a:avLst/>
          </a:prstGeom>
          <a:noFill/>
          <a:ln/>
        </p:spPr>
        <p:txBody>
          <a:bodyPr wrap="square" lIns="0" tIns="0" rIns="0" bIns="0" rtlCol="0" anchor="t"/>
          <a:lstStyle/>
          <a:p>
            <a:pPr indent="0" marL="0">
              <a:buNone/>
            </a:pPr>
            <a:r>
              <a:rPr lang="en-US" sz="1100" dirty="0">
                <a:solidFill>
                  <a:srgbClr val="4A5266"/>
                </a:solidFill>
              </a:rPr>
              <a:t>4 pallets → HMIL, holding days start</a:t>
            </a:r>
            <a:endParaRPr lang="en-US" sz="1100" dirty="0"/>
          </a:p>
        </p:txBody>
      </p:sp>
      <p:pic>
        <p:nvPicPr>
          <p:cNvPr id="25" name="Open step 3" descr="preencoded.png">
            <a:hlinkClick r:id="rId14" tooltip="Open picture: Dispatched" action="ppaction://hlinksldjump"/>
          </p:cNvPr>
          <p:cNvPicPr>
            <a:picLocks noChangeAspect="1"/>
          </p:cNvPicPr>
          <p:nvPr/>
        </p:nvPicPr>
        <p:blipFill>
          <a:blip r:embed="rId13"/>
          <a:stretch>
            <a:fillRect/>
          </a:stretch>
        </p:blipFill>
        <p:spPr>
          <a:xfrm>
            <a:off x="11256264" y="5852160"/>
            <a:ext cx="329184" cy="329184"/>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457200" y="320040"/>
            <a:ext cx="9509760" cy="640080"/>
          </a:xfrm>
          <a:prstGeom prst="rect">
            <a:avLst/>
          </a:prstGeom>
          <a:noFill/>
          <a:ln/>
        </p:spPr>
        <p:txBody>
          <a:bodyPr wrap="square" lIns="0" tIns="0" rIns="0" bIns="0" rtlCol="0" anchor="ctr"/>
          <a:lstStyle/>
          <a:p>
            <a:pPr indent="0" marL="0">
              <a:buNone/>
            </a:pPr>
            <a:r>
              <a:rPr lang="en-US" sz="3200" b="1" dirty="0">
                <a:solidFill>
                  <a:schemeClr val="tx2"/>
                </a:solidFill>
              </a:rPr>
              <a:t>At the customer - receive delivery</a:t>
            </a:r>
            <a:endParaRPr lang="en-US" sz="3200" dirty="0"/>
          </a:p>
        </p:txBody>
      </p:sp>
      <p:sp>
        <p:nvSpPr>
          <p:cNvPr id="3" name="Subtitle"/>
          <p:cNvSpPr txBox="1"/>
          <p:nvPr/>
        </p:nvSpPr>
        <p:spPr>
          <a:xfrm>
            <a:off x="457200" y="960120"/>
            <a:ext cx="9692640" cy="411480"/>
          </a:xfrm>
          <a:prstGeom prst="rect">
            <a:avLst/>
          </a:prstGeom>
          <a:noFill/>
          <a:ln/>
        </p:spPr>
        <p:txBody>
          <a:bodyPr wrap="square" lIns="0" tIns="0" rIns="0" bIns="0" rtlCol="0" anchor="ctr"/>
          <a:lstStyle/>
          <a:p>
            <a:pPr indent="0" marL="0">
              <a:buNone/>
            </a:pPr>
            <a:r>
              <a:rPr lang="en-US" sz="1500" dirty="0">
                <a:solidFill>
                  <a:srgbClr val="4A5266"/>
                </a:solidFill>
              </a:rPr>
              <a:t>Customer staff sign in on a paired HHT and scan each pallet while unloading</a:t>
            </a:r>
            <a:endParaRPr lang="en-US" sz="1500" dirty="0"/>
          </a:p>
        </p:txBody>
      </p:sp>
      <p:sp>
        <p:nvSpPr>
          <p:cNvPr id="4" name="Who"/>
          <p:cNvSpPr/>
          <p:nvPr/>
        </p:nvSpPr>
        <p:spPr>
          <a:xfrm>
            <a:off x="9966960" y="384048"/>
            <a:ext cx="1783080" cy="457200"/>
          </a:xfrm>
          <a:prstGeom prst="roundRect">
            <a:avLst>
              <a:gd name="adj" fmla="val 20000"/>
            </a:avLst>
          </a:prstGeom>
          <a:solidFill>
            <a:schemeClr val="accent3"/>
          </a:solidFill>
          <a:ln/>
        </p:spPr>
        <p:txBody>
          <a:bodyPr wrap="square" lIns="38100" tIns="38100" rIns="38100" bIns="38100" rtlCol="0" anchor="ctr"/>
          <a:lstStyle/>
          <a:p>
            <a:pPr algn="ctr" indent="0" marL="0">
              <a:buNone/>
            </a:pPr>
            <a:r>
              <a:rPr lang="en-US" sz="1100" b="1" dirty="0">
                <a:solidFill>
                  <a:schemeClr val="bg1"/>
                </a:solidFill>
              </a:rPr>
              <a:t>Customer staff (customer HHT)</a:t>
            </a:r>
            <a:endParaRPr lang="en-US" sz="1100" dirty="0"/>
          </a:p>
        </p:txBody>
      </p:sp>
      <p:pic>
        <p:nvPicPr>
          <p:cNvPr id="5" name="Back to map" descr="preencoded.png">
            <a:hlinkClick r:id="rId2" tooltip="Process map" action="ppaction://hlinksldjump"/>
          </p:cNvPr>
          <p:cNvPicPr>
            <a:picLocks noChangeAspect="1"/>
          </p:cNvPicPr>
          <p:nvPr/>
        </p:nvPicPr>
        <p:blipFill>
          <a:blip r:embed="rId1"/>
          <a:stretch>
            <a:fillRect/>
          </a:stretch>
        </p:blipFill>
        <p:spPr>
          <a:xfrm>
            <a:off x="11384280" y="987552"/>
            <a:ext cx="329184" cy="329184"/>
          </a:xfrm>
          <a:prstGeom prst="rect">
            <a:avLst/>
          </a:prstGeom>
        </p:spPr>
      </p:pic>
      <p:sp>
        <p:nvSpPr>
          <p:cNvPr id="6" name="Step card 1"/>
          <p:cNvSpPr/>
          <p:nvPr/>
        </p:nvSpPr>
        <p:spPr>
          <a:xfrm>
            <a:off x="457200" y="1600200"/>
            <a:ext cx="1665732" cy="4709160"/>
          </a:xfrm>
          <a:prstGeom prst="roundRect">
            <a:avLst>
              <a:gd name="adj" fmla="val 5489"/>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7" name="Step screen 1" descr="/tmp/claude-0/-home-claude/604fe074-c4a3-59f5-a7f0-a4d942adf429/scratchpad/deck/th/c02_pair_scanned.jpg">
            <a:hlinkClick r:id="rId6" tooltip="Open picture: Pair the customer HHT" action="ppaction://hlinksldjump"/>
          </p:cNvPr>
          <p:cNvPicPr>
            <a:picLocks noChangeAspect="1"/>
          </p:cNvPicPr>
          <p:nvPr/>
        </p:nvPicPr>
        <p:blipFill>
          <a:blip r:embed="rId3"/>
          <a:stretch>
            <a:fillRect/>
          </a:stretch>
        </p:blipFill>
        <p:spPr>
          <a:xfrm>
            <a:off x="622717" y="1737360"/>
            <a:ext cx="1334697" cy="2788920"/>
          </a:xfrm>
          <a:prstGeom prst="rect">
            <a:avLst/>
          </a:prstGeom>
        </p:spPr>
      </p:pic>
      <p:sp>
        <p:nvSpPr>
          <p:cNvPr id="8" name="Step number 1"/>
          <p:cNvSpPr/>
          <p:nvPr/>
        </p:nvSpPr>
        <p:spPr>
          <a:xfrm>
            <a:off x="594360" y="4690872"/>
            <a:ext cx="347472" cy="347472"/>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Step title 1"/>
          <p:cNvSpPr txBox="1"/>
          <p:nvPr/>
        </p:nvSpPr>
        <p:spPr>
          <a:xfrm>
            <a:off x="1005840" y="4636008"/>
            <a:ext cx="1025652"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Pair the customer HHT</a:t>
            </a:r>
            <a:endParaRPr lang="en-US" sz="1300" dirty="0"/>
          </a:p>
        </p:txBody>
      </p:sp>
      <p:sp>
        <p:nvSpPr>
          <p:cNvPr id="10" name="Step text 1"/>
          <p:cNvSpPr txBox="1"/>
          <p:nvPr/>
        </p:nvSpPr>
        <p:spPr>
          <a:xfrm>
            <a:off x="594360" y="5166360"/>
            <a:ext cx="1391412" cy="658368"/>
          </a:xfrm>
          <a:prstGeom prst="rect">
            <a:avLst/>
          </a:prstGeom>
          <a:noFill/>
          <a:ln/>
        </p:spPr>
        <p:txBody>
          <a:bodyPr wrap="square" lIns="0" tIns="0" rIns="0" bIns="0" rtlCol="0" anchor="t"/>
          <a:lstStyle/>
          <a:p>
            <a:pPr indent="0" marL="0">
              <a:buNone/>
            </a:pPr>
            <a:r>
              <a:rPr lang="en-US" sz="1100" dirty="0">
                <a:solidFill>
                  <a:srgbClr val="4A5266"/>
                </a:solidFill>
              </a:rPr>
              <a:t>One-time QR from AIS web</a:t>
            </a:r>
            <a:endParaRPr lang="en-US" sz="1100" dirty="0"/>
          </a:p>
        </p:txBody>
      </p:sp>
      <p:pic>
        <p:nvPicPr>
          <p:cNvPr id="11" name="Open step 1" descr="preencoded.png">
            <a:hlinkClick r:id="rId6" tooltip="Open picture: Pair the customer HHT" action="ppaction://hlinksldjump"/>
          </p:cNvPr>
          <p:cNvPicPr>
            <a:picLocks noChangeAspect="1"/>
          </p:cNvPicPr>
          <p:nvPr/>
        </p:nvPicPr>
        <p:blipFill>
          <a:blip r:embed="rId5"/>
          <a:stretch>
            <a:fillRect/>
          </a:stretch>
        </p:blipFill>
        <p:spPr>
          <a:xfrm>
            <a:off x="1647444" y="5852160"/>
            <a:ext cx="329184" cy="329184"/>
          </a:xfrm>
          <a:prstGeom prst="rect">
            <a:avLst/>
          </a:prstGeom>
        </p:spPr>
      </p:pic>
      <p:sp>
        <p:nvSpPr>
          <p:cNvPr id="12" name="Flow arrow 1"/>
          <p:cNvSpPr txBox="1"/>
          <p:nvPr/>
        </p:nvSpPr>
        <p:spPr>
          <a:xfrm>
            <a:off x="2104644" y="2880360"/>
            <a:ext cx="292608" cy="457200"/>
          </a:xfrm>
          <a:prstGeom prst="rect">
            <a:avLst/>
          </a:prstGeom>
          <a:noFill/>
          <a:ln/>
        </p:spPr>
        <p:txBody>
          <a:bodyPr wrap="square" lIns="0" tIns="0" rIns="0" bIns="0" rtlCol="0" anchor="ctr"/>
          <a:lstStyle/>
          <a:p>
            <a:pPr algn="ctr" indent="0" marL="0">
              <a:buNone/>
            </a:pPr>
            <a:r>
              <a:rPr lang="en-US" sz="2400" b="1" dirty="0">
                <a:solidFill>
                  <a:schemeClr val="accent3"/>
                </a:solidFill>
              </a:rPr>
              <a:t>›</a:t>
            </a:r>
            <a:endParaRPr lang="en-US" sz="2400" dirty="0"/>
          </a:p>
        </p:txBody>
      </p:sp>
      <p:sp>
        <p:nvSpPr>
          <p:cNvPr id="13" name="Step card 2"/>
          <p:cNvSpPr/>
          <p:nvPr/>
        </p:nvSpPr>
        <p:spPr>
          <a:xfrm>
            <a:off x="2378964" y="1600200"/>
            <a:ext cx="1665732" cy="4709160"/>
          </a:xfrm>
          <a:prstGeom prst="roundRect">
            <a:avLst>
              <a:gd name="adj" fmla="val 5489"/>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14" name="Step screen 2" descr="/tmp/claude-0/-home-claude/604fe074-c4a3-59f5-a7f0-a4d942adf429/scratchpad/deck/th/c03_staff_login.jpg">
            <a:hlinkClick r:id="rId10" tooltip="Open picture: Customer staff sign-in" action="ppaction://hlinksldjump"/>
          </p:cNvPr>
          <p:cNvPicPr>
            <a:picLocks noChangeAspect="1"/>
          </p:cNvPicPr>
          <p:nvPr/>
        </p:nvPicPr>
        <p:blipFill>
          <a:blip r:embed="rId7"/>
          <a:stretch>
            <a:fillRect/>
          </a:stretch>
        </p:blipFill>
        <p:spPr>
          <a:xfrm>
            <a:off x="2544481" y="1737360"/>
            <a:ext cx="1334697" cy="2788920"/>
          </a:xfrm>
          <a:prstGeom prst="rect">
            <a:avLst/>
          </a:prstGeom>
        </p:spPr>
      </p:pic>
      <p:sp>
        <p:nvSpPr>
          <p:cNvPr id="15" name="Step number 2"/>
          <p:cNvSpPr/>
          <p:nvPr/>
        </p:nvSpPr>
        <p:spPr>
          <a:xfrm>
            <a:off x="2516124" y="4690872"/>
            <a:ext cx="347472" cy="347472"/>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6" name="Step title 2"/>
          <p:cNvSpPr txBox="1"/>
          <p:nvPr/>
        </p:nvSpPr>
        <p:spPr>
          <a:xfrm>
            <a:off x="2927604" y="4636008"/>
            <a:ext cx="1025652"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Customer staff sign-in</a:t>
            </a:r>
            <a:endParaRPr lang="en-US" sz="1300" dirty="0"/>
          </a:p>
        </p:txBody>
      </p:sp>
      <p:sp>
        <p:nvSpPr>
          <p:cNvPr id="17" name="Step text 2"/>
          <p:cNvSpPr txBox="1"/>
          <p:nvPr/>
        </p:nvSpPr>
        <p:spPr>
          <a:xfrm>
            <a:off x="2516124" y="5166360"/>
            <a:ext cx="1391412" cy="658368"/>
          </a:xfrm>
          <a:prstGeom prst="rect">
            <a:avLst/>
          </a:prstGeom>
          <a:noFill/>
          <a:ln/>
        </p:spPr>
        <p:txBody>
          <a:bodyPr wrap="square" lIns="0" tIns="0" rIns="0" bIns="0" rtlCol="0" anchor="t"/>
          <a:lstStyle/>
          <a:p>
            <a:pPr indent="0" marL="0">
              <a:buNone/>
            </a:pPr>
            <a:r>
              <a:rPr lang="en-US" sz="1100" dirty="0">
                <a:solidFill>
                  <a:srgbClr val="4A5266"/>
                </a:solidFill>
              </a:rPr>
              <a:t>Own user per customer staff</a:t>
            </a:r>
            <a:endParaRPr lang="en-US" sz="1100" dirty="0"/>
          </a:p>
        </p:txBody>
      </p:sp>
      <p:pic>
        <p:nvPicPr>
          <p:cNvPr id="18" name="Open step 2" descr="preencoded.png">
            <a:hlinkClick r:id="rId10" tooltip="Open picture: Customer staff sign-in" action="ppaction://hlinksldjump"/>
          </p:cNvPr>
          <p:cNvPicPr>
            <a:picLocks noChangeAspect="1"/>
          </p:cNvPicPr>
          <p:nvPr/>
        </p:nvPicPr>
        <p:blipFill>
          <a:blip r:embed="rId9"/>
          <a:stretch>
            <a:fillRect/>
          </a:stretch>
        </p:blipFill>
        <p:spPr>
          <a:xfrm>
            <a:off x="3569208" y="5852160"/>
            <a:ext cx="329184" cy="329184"/>
          </a:xfrm>
          <a:prstGeom prst="rect">
            <a:avLst/>
          </a:prstGeom>
        </p:spPr>
      </p:pic>
      <p:sp>
        <p:nvSpPr>
          <p:cNvPr id="19" name="Flow arrow 2"/>
          <p:cNvSpPr txBox="1"/>
          <p:nvPr/>
        </p:nvSpPr>
        <p:spPr>
          <a:xfrm>
            <a:off x="4026408" y="2880360"/>
            <a:ext cx="292608" cy="457200"/>
          </a:xfrm>
          <a:prstGeom prst="rect">
            <a:avLst/>
          </a:prstGeom>
          <a:noFill/>
          <a:ln/>
        </p:spPr>
        <p:txBody>
          <a:bodyPr wrap="square" lIns="0" tIns="0" rIns="0" bIns="0" rtlCol="0" anchor="ctr"/>
          <a:lstStyle/>
          <a:p>
            <a:pPr algn="ctr" indent="0" marL="0">
              <a:buNone/>
            </a:pPr>
            <a:r>
              <a:rPr lang="en-US" sz="2400" b="1" dirty="0">
                <a:solidFill>
                  <a:schemeClr val="accent3"/>
                </a:solidFill>
              </a:rPr>
              <a:t>›</a:t>
            </a:r>
            <a:endParaRPr lang="en-US" sz="2400" dirty="0"/>
          </a:p>
        </p:txBody>
      </p:sp>
      <p:sp>
        <p:nvSpPr>
          <p:cNvPr id="20" name="Step card 3"/>
          <p:cNvSpPr/>
          <p:nvPr/>
        </p:nvSpPr>
        <p:spPr>
          <a:xfrm>
            <a:off x="4300728" y="1600200"/>
            <a:ext cx="1665732" cy="4709160"/>
          </a:xfrm>
          <a:prstGeom prst="roundRect">
            <a:avLst>
              <a:gd name="adj" fmla="val 5489"/>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21" name="Step screen 3" descr="/tmp/claude-0/-home-claude/604fe074-c4a3-59f5-a7f0-a4d942adf429/scratchpad/deck/th/c04_cust_home.jpg">
            <a:hlinkClick r:id="rId14" tooltip="Open picture: Customer home" action="ppaction://hlinksldjump"/>
          </p:cNvPr>
          <p:cNvPicPr>
            <a:picLocks noChangeAspect="1"/>
          </p:cNvPicPr>
          <p:nvPr/>
        </p:nvPicPr>
        <p:blipFill>
          <a:blip r:embed="rId11"/>
          <a:stretch>
            <a:fillRect/>
          </a:stretch>
        </p:blipFill>
        <p:spPr>
          <a:xfrm>
            <a:off x="4466245" y="1737360"/>
            <a:ext cx="1334697" cy="2788920"/>
          </a:xfrm>
          <a:prstGeom prst="rect">
            <a:avLst/>
          </a:prstGeom>
        </p:spPr>
      </p:pic>
      <p:sp>
        <p:nvSpPr>
          <p:cNvPr id="22" name="Step number 3"/>
          <p:cNvSpPr/>
          <p:nvPr/>
        </p:nvSpPr>
        <p:spPr>
          <a:xfrm>
            <a:off x="4437888" y="4690872"/>
            <a:ext cx="347472" cy="347472"/>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3" name="Step title 3"/>
          <p:cNvSpPr txBox="1"/>
          <p:nvPr/>
        </p:nvSpPr>
        <p:spPr>
          <a:xfrm>
            <a:off x="4849368" y="4636008"/>
            <a:ext cx="1025652"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Customer home</a:t>
            </a:r>
            <a:endParaRPr lang="en-US" sz="1300" dirty="0"/>
          </a:p>
        </p:txBody>
      </p:sp>
      <p:sp>
        <p:nvSpPr>
          <p:cNvPr id="24" name="Step text 3"/>
          <p:cNvSpPr txBox="1"/>
          <p:nvPr/>
        </p:nvSpPr>
        <p:spPr>
          <a:xfrm>
            <a:off x="4437888" y="5166360"/>
            <a:ext cx="1391412" cy="658368"/>
          </a:xfrm>
          <a:prstGeom prst="rect">
            <a:avLst/>
          </a:prstGeom>
          <a:noFill/>
          <a:ln/>
        </p:spPr>
        <p:txBody>
          <a:bodyPr wrap="square" lIns="0" tIns="0" rIns="0" bIns="0" rtlCol="0" anchor="t"/>
          <a:lstStyle/>
          <a:p>
            <a:pPr indent="0" marL="0">
              <a:buNone/>
            </a:pPr>
            <a:r>
              <a:rPr lang="en-US" sz="1100" dirty="0">
                <a:solidFill>
                  <a:srgbClr val="4A5266"/>
                </a:solidFill>
              </a:rPr>
              <a:t>Receive · Return · Pallets with us</a:t>
            </a:r>
            <a:endParaRPr lang="en-US" sz="1100" dirty="0"/>
          </a:p>
        </p:txBody>
      </p:sp>
      <p:pic>
        <p:nvPicPr>
          <p:cNvPr id="25" name="Open step 3" descr="preencoded.png">
            <a:hlinkClick r:id="rId14" tooltip="Open picture: Customer home" action="ppaction://hlinksldjump"/>
          </p:cNvPr>
          <p:cNvPicPr>
            <a:picLocks noChangeAspect="1"/>
          </p:cNvPicPr>
          <p:nvPr/>
        </p:nvPicPr>
        <p:blipFill>
          <a:blip r:embed="rId13"/>
          <a:stretch>
            <a:fillRect/>
          </a:stretch>
        </p:blipFill>
        <p:spPr>
          <a:xfrm>
            <a:off x="5490972" y="5852160"/>
            <a:ext cx="329184" cy="329184"/>
          </a:xfrm>
          <a:prstGeom prst="rect">
            <a:avLst/>
          </a:prstGeom>
        </p:spPr>
      </p:pic>
      <p:sp>
        <p:nvSpPr>
          <p:cNvPr id="26" name="Flow arrow 3"/>
          <p:cNvSpPr txBox="1"/>
          <p:nvPr/>
        </p:nvSpPr>
        <p:spPr>
          <a:xfrm>
            <a:off x="5948172" y="2880360"/>
            <a:ext cx="292608" cy="457200"/>
          </a:xfrm>
          <a:prstGeom prst="rect">
            <a:avLst/>
          </a:prstGeom>
          <a:noFill/>
          <a:ln/>
        </p:spPr>
        <p:txBody>
          <a:bodyPr wrap="square" lIns="0" tIns="0" rIns="0" bIns="0" rtlCol="0" anchor="ctr"/>
          <a:lstStyle/>
          <a:p>
            <a:pPr algn="ctr" indent="0" marL="0">
              <a:buNone/>
            </a:pPr>
            <a:r>
              <a:rPr lang="en-US" sz="2400" b="1" dirty="0">
                <a:solidFill>
                  <a:schemeClr val="accent3"/>
                </a:solidFill>
              </a:rPr>
              <a:t>›</a:t>
            </a:r>
            <a:endParaRPr lang="en-US" sz="2400" dirty="0"/>
          </a:p>
        </p:txBody>
      </p:sp>
      <p:sp>
        <p:nvSpPr>
          <p:cNvPr id="27" name="Step card 4"/>
          <p:cNvSpPr/>
          <p:nvPr/>
        </p:nvSpPr>
        <p:spPr>
          <a:xfrm>
            <a:off x="6222492" y="1600200"/>
            <a:ext cx="1665732" cy="4709160"/>
          </a:xfrm>
          <a:prstGeom prst="roundRect">
            <a:avLst>
              <a:gd name="adj" fmla="val 5489"/>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28" name="Step screen 4" descr="/tmp/claude-0/-home-claude/604fe074-c4a3-59f5-a7f0-a4d942adf429/scratchpad/deck/th/c06_unload_open.jpg">
            <a:hlinkClick r:id="rId18" tooltip="Open picture: Unload: pallets to scan" action="ppaction://hlinksldjump"/>
          </p:cNvPr>
          <p:cNvPicPr>
            <a:picLocks noChangeAspect="1"/>
          </p:cNvPicPr>
          <p:nvPr/>
        </p:nvPicPr>
        <p:blipFill>
          <a:blip r:embed="rId15"/>
          <a:stretch>
            <a:fillRect/>
          </a:stretch>
        </p:blipFill>
        <p:spPr>
          <a:xfrm>
            <a:off x="6388009" y="1737360"/>
            <a:ext cx="1334697" cy="2788920"/>
          </a:xfrm>
          <a:prstGeom prst="rect">
            <a:avLst/>
          </a:prstGeom>
        </p:spPr>
      </p:pic>
      <p:sp>
        <p:nvSpPr>
          <p:cNvPr id="29" name="Step number 4"/>
          <p:cNvSpPr/>
          <p:nvPr/>
        </p:nvSpPr>
        <p:spPr>
          <a:xfrm>
            <a:off x="6359652" y="4690872"/>
            <a:ext cx="347472" cy="347472"/>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0" name="Step title 4"/>
          <p:cNvSpPr txBox="1"/>
          <p:nvPr/>
        </p:nvSpPr>
        <p:spPr>
          <a:xfrm>
            <a:off x="6771132" y="4636008"/>
            <a:ext cx="1025652"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Unload: pallets to scan</a:t>
            </a:r>
            <a:endParaRPr lang="en-US" sz="1300" dirty="0"/>
          </a:p>
        </p:txBody>
      </p:sp>
      <p:sp>
        <p:nvSpPr>
          <p:cNvPr id="31" name="Step text 4"/>
          <p:cNvSpPr txBox="1"/>
          <p:nvPr/>
        </p:nvSpPr>
        <p:spPr>
          <a:xfrm>
            <a:off x="6359652" y="5166360"/>
            <a:ext cx="1391412" cy="658368"/>
          </a:xfrm>
          <a:prstGeom prst="rect">
            <a:avLst/>
          </a:prstGeom>
          <a:noFill/>
          <a:ln/>
        </p:spPr>
        <p:txBody>
          <a:bodyPr wrap="square" lIns="0" tIns="0" rIns="0" bIns="0" rtlCol="0" anchor="t"/>
          <a:lstStyle/>
          <a:p>
            <a:pPr indent="0" marL="0">
              <a:buNone/>
            </a:pPr>
            <a:r>
              <a:rPr lang="en-US" sz="1100" dirty="0">
                <a:solidFill>
                  <a:srgbClr val="4A5266"/>
                </a:solidFill>
              </a:rPr>
              <a:t>List of pallets on this vehicle</a:t>
            </a:r>
            <a:endParaRPr lang="en-US" sz="1100" dirty="0"/>
          </a:p>
        </p:txBody>
      </p:sp>
      <p:pic>
        <p:nvPicPr>
          <p:cNvPr id="32" name="Open step 4" descr="preencoded.png">
            <a:hlinkClick r:id="rId18" tooltip="Open picture: Unload: pallets to scan" action="ppaction://hlinksldjump"/>
          </p:cNvPr>
          <p:cNvPicPr>
            <a:picLocks noChangeAspect="1"/>
          </p:cNvPicPr>
          <p:nvPr/>
        </p:nvPicPr>
        <p:blipFill>
          <a:blip r:embed="rId17"/>
          <a:stretch>
            <a:fillRect/>
          </a:stretch>
        </p:blipFill>
        <p:spPr>
          <a:xfrm>
            <a:off x="7412736" y="5852160"/>
            <a:ext cx="329184" cy="329184"/>
          </a:xfrm>
          <a:prstGeom prst="rect">
            <a:avLst/>
          </a:prstGeom>
        </p:spPr>
      </p:pic>
      <p:sp>
        <p:nvSpPr>
          <p:cNvPr id="33" name="Flow arrow 4"/>
          <p:cNvSpPr txBox="1"/>
          <p:nvPr/>
        </p:nvSpPr>
        <p:spPr>
          <a:xfrm>
            <a:off x="7869936" y="2880360"/>
            <a:ext cx="292608" cy="457200"/>
          </a:xfrm>
          <a:prstGeom prst="rect">
            <a:avLst/>
          </a:prstGeom>
          <a:noFill/>
          <a:ln/>
        </p:spPr>
        <p:txBody>
          <a:bodyPr wrap="square" lIns="0" tIns="0" rIns="0" bIns="0" rtlCol="0" anchor="ctr"/>
          <a:lstStyle/>
          <a:p>
            <a:pPr algn="ctr" indent="0" marL="0">
              <a:buNone/>
            </a:pPr>
            <a:r>
              <a:rPr lang="en-US" sz="2400" b="1" dirty="0">
                <a:solidFill>
                  <a:schemeClr val="accent3"/>
                </a:solidFill>
              </a:rPr>
              <a:t>›</a:t>
            </a:r>
            <a:endParaRPr lang="en-US" sz="2400" dirty="0"/>
          </a:p>
        </p:txBody>
      </p:sp>
      <p:sp>
        <p:nvSpPr>
          <p:cNvPr id="34" name="Step card 5"/>
          <p:cNvSpPr/>
          <p:nvPr/>
        </p:nvSpPr>
        <p:spPr>
          <a:xfrm>
            <a:off x="8144256" y="1600200"/>
            <a:ext cx="1665732" cy="4709160"/>
          </a:xfrm>
          <a:prstGeom prst="roundRect">
            <a:avLst>
              <a:gd name="adj" fmla="val 5489"/>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35" name="Step screen 5" descr="/tmp/claude-0/-home-claude/604fe074-c4a3-59f5-a7f0-a4d942adf429/scratchpad/deck/th/c07_unload_3of4.jpg">
            <a:hlinkClick r:id="rId22" tooltip="Open picture: Scan while unloading" action="ppaction://hlinksldjump"/>
          </p:cNvPr>
          <p:cNvPicPr>
            <a:picLocks noChangeAspect="1"/>
          </p:cNvPicPr>
          <p:nvPr/>
        </p:nvPicPr>
        <p:blipFill>
          <a:blip r:embed="rId19"/>
          <a:stretch>
            <a:fillRect/>
          </a:stretch>
        </p:blipFill>
        <p:spPr>
          <a:xfrm>
            <a:off x="8309773" y="1737360"/>
            <a:ext cx="1334697" cy="2788920"/>
          </a:xfrm>
          <a:prstGeom prst="rect">
            <a:avLst/>
          </a:prstGeom>
        </p:spPr>
      </p:pic>
      <p:sp>
        <p:nvSpPr>
          <p:cNvPr id="36" name="Step number 5"/>
          <p:cNvSpPr/>
          <p:nvPr/>
        </p:nvSpPr>
        <p:spPr>
          <a:xfrm>
            <a:off x="8281416" y="4690872"/>
            <a:ext cx="347472" cy="347472"/>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7" name="Step title 5"/>
          <p:cNvSpPr txBox="1"/>
          <p:nvPr/>
        </p:nvSpPr>
        <p:spPr>
          <a:xfrm>
            <a:off x="8692896" y="4636008"/>
            <a:ext cx="1025652"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Scan while unloading</a:t>
            </a:r>
            <a:endParaRPr lang="en-US" sz="1300" dirty="0"/>
          </a:p>
        </p:txBody>
      </p:sp>
      <p:sp>
        <p:nvSpPr>
          <p:cNvPr id="38" name="Step text 5"/>
          <p:cNvSpPr txBox="1"/>
          <p:nvPr/>
        </p:nvSpPr>
        <p:spPr>
          <a:xfrm>
            <a:off x="8281416" y="5166360"/>
            <a:ext cx="1391412" cy="658368"/>
          </a:xfrm>
          <a:prstGeom prst="rect">
            <a:avLst/>
          </a:prstGeom>
          <a:noFill/>
          <a:ln/>
        </p:spPr>
        <p:txBody>
          <a:bodyPr wrap="square" lIns="0" tIns="0" rIns="0" bIns="0" rtlCol="0" anchor="t"/>
          <a:lstStyle/>
          <a:p>
            <a:pPr indent="0" marL="0">
              <a:buNone/>
            </a:pPr>
            <a:r>
              <a:rPr lang="en-US" sz="1100" dirty="0">
                <a:solidFill>
                  <a:srgbClr val="4A5266"/>
                </a:solidFill>
              </a:rPr>
              <a:t>Each pallet ticked; extras recorded</a:t>
            </a:r>
            <a:endParaRPr lang="en-US" sz="1100" dirty="0"/>
          </a:p>
        </p:txBody>
      </p:sp>
      <p:pic>
        <p:nvPicPr>
          <p:cNvPr id="39" name="Open step 5" descr="preencoded.png">
            <a:hlinkClick r:id="rId22" tooltip="Open picture: Scan while unloading" action="ppaction://hlinksldjump"/>
          </p:cNvPr>
          <p:cNvPicPr>
            <a:picLocks noChangeAspect="1"/>
          </p:cNvPicPr>
          <p:nvPr/>
        </p:nvPicPr>
        <p:blipFill>
          <a:blip r:embed="rId21"/>
          <a:stretch>
            <a:fillRect/>
          </a:stretch>
        </p:blipFill>
        <p:spPr>
          <a:xfrm>
            <a:off x="9334500" y="5852160"/>
            <a:ext cx="329184" cy="329184"/>
          </a:xfrm>
          <a:prstGeom prst="rect">
            <a:avLst/>
          </a:prstGeom>
        </p:spPr>
      </p:pic>
      <p:sp>
        <p:nvSpPr>
          <p:cNvPr id="40" name="Flow arrow 5"/>
          <p:cNvSpPr txBox="1"/>
          <p:nvPr/>
        </p:nvSpPr>
        <p:spPr>
          <a:xfrm>
            <a:off x="9791700" y="2880360"/>
            <a:ext cx="292608" cy="457200"/>
          </a:xfrm>
          <a:prstGeom prst="rect">
            <a:avLst/>
          </a:prstGeom>
          <a:noFill/>
          <a:ln/>
        </p:spPr>
        <p:txBody>
          <a:bodyPr wrap="square" lIns="0" tIns="0" rIns="0" bIns="0" rtlCol="0" anchor="ctr"/>
          <a:lstStyle/>
          <a:p>
            <a:pPr algn="ctr" indent="0" marL="0">
              <a:buNone/>
            </a:pPr>
            <a:r>
              <a:rPr lang="en-US" sz="2400" b="1" dirty="0">
                <a:solidFill>
                  <a:schemeClr val="accent3"/>
                </a:solidFill>
              </a:rPr>
              <a:t>›</a:t>
            </a:r>
            <a:endParaRPr lang="en-US" sz="2400" dirty="0"/>
          </a:p>
        </p:txBody>
      </p:sp>
      <p:sp>
        <p:nvSpPr>
          <p:cNvPr id="41" name="Step card 6"/>
          <p:cNvSpPr/>
          <p:nvPr/>
        </p:nvSpPr>
        <p:spPr>
          <a:xfrm>
            <a:off x="10066020" y="1600200"/>
            <a:ext cx="1665732" cy="4709160"/>
          </a:xfrm>
          <a:prstGeom prst="roundRect">
            <a:avLst>
              <a:gd name="adj" fmla="val 5489"/>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42" name="Step screen 6" descr="/tmp/claude-0/-home-claude/604fe074-c4a3-59f5-a7f0-a4d942adf429/scratchpad/deck/th/c08_unload_done.jpg">
            <a:hlinkClick r:id="rId26" tooltip="Open picture: Delivery received" action="ppaction://hlinksldjump"/>
          </p:cNvPr>
          <p:cNvPicPr>
            <a:picLocks noChangeAspect="1"/>
          </p:cNvPicPr>
          <p:nvPr/>
        </p:nvPicPr>
        <p:blipFill>
          <a:blip r:embed="rId23"/>
          <a:stretch>
            <a:fillRect/>
          </a:stretch>
        </p:blipFill>
        <p:spPr>
          <a:xfrm>
            <a:off x="10231537" y="1737360"/>
            <a:ext cx="1334697" cy="2788920"/>
          </a:xfrm>
          <a:prstGeom prst="rect">
            <a:avLst/>
          </a:prstGeom>
        </p:spPr>
      </p:pic>
      <p:sp>
        <p:nvSpPr>
          <p:cNvPr id="43" name="Step number 6"/>
          <p:cNvSpPr/>
          <p:nvPr/>
        </p:nvSpPr>
        <p:spPr>
          <a:xfrm>
            <a:off x="10203180" y="4690872"/>
            <a:ext cx="347472" cy="347472"/>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44" name="Step title 6"/>
          <p:cNvSpPr txBox="1"/>
          <p:nvPr/>
        </p:nvSpPr>
        <p:spPr>
          <a:xfrm>
            <a:off x="10614660" y="4636008"/>
            <a:ext cx="1025652"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Delivery received</a:t>
            </a:r>
            <a:endParaRPr lang="en-US" sz="1300" dirty="0"/>
          </a:p>
        </p:txBody>
      </p:sp>
      <p:sp>
        <p:nvSpPr>
          <p:cNvPr id="45" name="Step text 6"/>
          <p:cNvSpPr txBox="1"/>
          <p:nvPr/>
        </p:nvSpPr>
        <p:spPr>
          <a:xfrm>
            <a:off x="10203180" y="5166360"/>
            <a:ext cx="1391412" cy="658368"/>
          </a:xfrm>
          <a:prstGeom prst="rect">
            <a:avLst/>
          </a:prstGeom>
          <a:noFill/>
          <a:ln/>
        </p:spPr>
        <p:txBody>
          <a:bodyPr wrap="square" lIns="0" tIns="0" rIns="0" bIns="0" rtlCol="0" anchor="t"/>
          <a:lstStyle/>
          <a:p>
            <a:pPr indent="0" marL="0">
              <a:buNone/>
            </a:pPr>
            <a:r>
              <a:rPr lang="en-US" sz="1100" dirty="0">
                <a:solidFill>
                  <a:srgbClr val="4A5266"/>
                </a:solidFill>
              </a:rPr>
              <a:t>4/4 - visible to AIS at once</a:t>
            </a:r>
            <a:endParaRPr lang="en-US" sz="1100" dirty="0"/>
          </a:p>
        </p:txBody>
      </p:sp>
      <p:pic>
        <p:nvPicPr>
          <p:cNvPr id="46" name="Open step 6" descr="preencoded.png">
            <a:hlinkClick r:id="rId26" tooltip="Open picture: Delivery received" action="ppaction://hlinksldjump"/>
          </p:cNvPr>
          <p:cNvPicPr>
            <a:picLocks noChangeAspect="1"/>
          </p:cNvPicPr>
          <p:nvPr/>
        </p:nvPicPr>
        <p:blipFill>
          <a:blip r:embed="rId25"/>
          <a:stretch>
            <a:fillRect/>
          </a:stretch>
        </p:blipFill>
        <p:spPr>
          <a:xfrm>
            <a:off x="11256264" y="5852160"/>
            <a:ext cx="329184" cy="329184"/>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457200" y="320040"/>
            <a:ext cx="9509760" cy="640080"/>
          </a:xfrm>
          <a:prstGeom prst="rect">
            <a:avLst/>
          </a:prstGeom>
          <a:noFill/>
          <a:ln/>
        </p:spPr>
        <p:txBody>
          <a:bodyPr wrap="square" lIns="0" tIns="0" rIns="0" bIns="0" rtlCol="0" anchor="ctr"/>
          <a:lstStyle/>
          <a:p>
            <a:pPr indent="0" marL="0">
              <a:buNone/>
            </a:pPr>
            <a:r>
              <a:rPr lang="en-US" sz="3200" b="1" dirty="0">
                <a:solidFill>
                  <a:schemeClr val="tx2"/>
                </a:solidFill>
              </a:rPr>
              <a:t>Return empty pallets - Option A (customer)</a:t>
            </a:r>
            <a:endParaRPr lang="en-US" sz="3200" dirty="0"/>
          </a:p>
        </p:txBody>
      </p:sp>
      <p:sp>
        <p:nvSpPr>
          <p:cNvPr id="3" name="Subtitle"/>
          <p:cNvSpPr txBox="1"/>
          <p:nvPr/>
        </p:nvSpPr>
        <p:spPr>
          <a:xfrm>
            <a:off x="457200" y="960120"/>
            <a:ext cx="9692640" cy="411480"/>
          </a:xfrm>
          <a:prstGeom prst="rect">
            <a:avLst/>
          </a:prstGeom>
          <a:noFill/>
          <a:ln/>
        </p:spPr>
        <p:txBody>
          <a:bodyPr wrap="square" lIns="0" tIns="0" rIns="0" bIns="0" rtlCol="0" anchor="ctr"/>
          <a:lstStyle/>
          <a:p>
            <a:pPr indent="0" marL="0">
              <a:buNone/>
            </a:pPr>
            <a:r>
              <a:rPr lang="en-US" sz="1500" dirty="0">
                <a:solidFill>
                  <a:srgbClr val="4A5266"/>
                </a:solidFill>
              </a:rPr>
              <a:t>Customer staff scan the empty pallets; the slip prints on their Bluetooth printer</a:t>
            </a:r>
            <a:endParaRPr lang="en-US" sz="1500" dirty="0"/>
          </a:p>
        </p:txBody>
      </p:sp>
      <p:sp>
        <p:nvSpPr>
          <p:cNvPr id="4" name="Who"/>
          <p:cNvSpPr/>
          <p:nvPr/>
        </p:nvSpPr>
        <p:spPr>
          <a:xfrm>
            <a:off x="9966960" y="384048"/>
            <a:ext cx="1783080" cy="457200"/>
          </a:xfrm>
          <a:prstGeom prst="roundRect">
            <a:avLst>
              <a:gd name="adj" fmla="val 20000"/>
            </a:avLst>
          </a:prstGeom>
          <a:solidFill>
            <a:schemeClr val="accent3"/>
          </a:solidFill>
          <a:ln/>
        </p:spPr>
        <p:txBody>
          <a:bodyPr wrap="square" lIns="38100" tIns="38100" rIns="38100" bIns="38100" rtlCol="0" anchor="ctr"/>
          <a:lstStyle/>
          <a:p>
            <a:pPr algn="ctr" indent="0" marL="0">
              <a:buNone/>
            </a:pPr>
            <a:r>
              <a:rPr lang="en-US" sz="1100" b="1" dirty="0">
                <a:solidFill>
                  <a:schemeClr val="bg1"/>
                </a:solidFill>
              </a:rPr>
              <a:t>Customer staff (customer HHT)</a:t>
            </a:r>
            <a:endParaRPr lang="en-US" sz="1100" dirty="0"/>
          </a:p>
        </p:txBody>
      </p:sp>
      <p:pic>
        <p:nvPicPr>
          <p:cNvPr id="5" name="Back to map" descr="preencoded.png">
            <a:hlinkClick r:id="rId2" tooltip="Process map" action="ppaction://hlinksldjump"/>
          </p:cNvPr>
          <p:cNvPicPr>
            <a:picLocks noChangeAspect="1"/>
          </p:cNvPicPr>
          <p:nvPr/>
        </p:nvPicPr>
        <p:blipFill>
          <a:blip r:embed="rId1"/>
          <a:stretch>
            <a:fillRect/>
          </a:stretch>
        </p:blipFill>
        <p:spPr>
          <a:xfrm>
            <a:off x="11384280" y="987552"/>
            <a:ext cx="329184" cy="329184"/>
          </a:xfrm>
          <a:prstGeom prst="rect">
            <a:avLst/>
          </a:prstGeom>
        </p:spPr>
      </p:pic>
      <p:sp>
        <p:nvSpPr>
          <p:cNvPr id="6" name="Step card 1"/>
          <p:cNvSpPr/>
          <p:nvPr/>
        </p:nvSpPr>
        <p:spPr>
          <a:xfrm>
            <a:off x="457200" y="1600200"/>
            <a:ext cx="2050085" cy="4709160"/>
          </a:xfrm>
          <a:prstGeom prst="roundRect">
            <a:avLst>
              <a:gd name="adj" fmla="val 4460"/>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7" name="Step screen 1" descr="/tmp/claude-0/-home-claude/604fe074-c4a3-59f5-a7f0-a4d942adf429/scratchpad/deck/th/c09_pallets_with_us.jpg">
            <a:hlinkClick r:id="rId6" tooltip="Open picture: Pallets with us" action="ppaction://hlinksldjump"/>
          </p:cNvPr>
          <p:cNvPicPr>
            <a:picLocks noChangeAspect="1"/>
          </p:cNvPicPr>
          <p:nvPr/>
        </p:nvPicPr>
        <p:blipFill>
          <a:blip r:embed="rId3"/>
          <a:stretch>
            <a:fillRect/>
          </a:stretch>
        </p:blipFill>
        <p:spPr>
          <a:xfrm>
            <a:off x="814894" y="1737360"/>
            <a:ext cx="1334697" cy="2788920"/>
          </a:xfrm>
          <a:prstGeom prst="rect">
            <a:avLst/>
          </a:prstGeom>
        </p:spPr>
      </p:pic>
      <p:sp>
        <p:nvSpPr>
          <p:cNvPr id="8" name="Step number 1"/>
          <p:cNvSpPr/>
          <p:nvPr/>
        </p:nvSpPr>
        <p:spPr>
          <a:xfrm>
            <a:off x="594360" y="4690872"/>
            <a:ext cx="347472" cy="347472"/>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Step title 1"/>
          <p:cNvSpPr txBox="1"/>
          <p:nvPr/>
        </p:nvSpPr>
        <p:spPr>
          <a:xfrm>
            <a:off x="1005840" y="4636008"/>
            <a:ext cx="1410005"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Pallets with us</a:t>
            </a:r>
            <a:endParaRPr lang="en-US" sz="1300" dirty="0"/>
          </a:p>
        </p:txBody>
      </p:sp>
      <p:sp>
        <p:nvSpPr>
          <p:cNvPr id="10" name="Step text 1"/>
          <p:cNvSpPr txBox="1"/>
          <p:nvPr/>
        </p:nvSpPr>
        <p:spPr>
          <a:xfrm>
            <a:off x="594360" y="5166360"/>
            <a:ext cx="1775765" cy="658368"/>
          </a:xfrm>
          <a:prstGeom prst="rect">
            <a:avLst/>
          </a:prstGeom>
          <a:noFill/>
          <a:ln/>
        </p:spPr>
        <p:txBody>
          <a:bodyPr wrap="square" lIns="0" tIns="0" rIns="0" bIns="0" rtlCol="0" anchor="t"/>
          <a:lstStyle/>
          <a:p>
            <a:pPr indent="0" marL="0">
              <a:buNone/>
            </a:pPr>
            <a:r>
              <a:rPr lang="en-US" sz="1100" dirty="0">
                <a:solidFill>
                  <a:srgbClr val="4A5266"/>
                </a:solidFill>
              </a:rPr>
              <a:t>Days held and challan of each pallet</a:t>
            </a:r>
            <a:endParaRPr lang="en-US" sz="1100" dirty="0"/>
          </a:p>
        </p:txBody>
      </p:sp>
      <p:pic>
        <p:nvPicPr>
          <p:cNvPr id="11" name="Open step 1" descr="preencoded.png">
            <a:hlinkClick r:id="rId6" tooltip="Open picture: Pallets with us" action="ppaction://hlinksldjump"/>
          </p:cNvPr>
          <p:cNvPicPr>
            <a:picLocks noChangeAspect="1"/>
          </p:cNvPicPr>
          <p:nvPr/>
        </p:nvPicPr>
        <p:blipFill>
          <a:blip r:embed="rId5"/>
          <a:stretch>
            <a:fillRect/>
          </a:stretch>
        </p:blipFill>
        <p:spPr>
          <a:xfrm>
            <a:off x="2031797" y="5852160"/>
            <a:ext cx="329184" cy="329184"/>
          </a:xfrm>
          <a:prstGeom prst="rect">
            <a:avLst/>
          </a:prstGeom>
        </p:spPr>
      </p:pic>
      <p:sp>
        <p:nvSpPr>
          <p:cNvPr id="12" name="Flow arrow 1"/>
          <p:cNvSpPr txBox="1"/>
          <p:nvPr/>
        </p:nvSpPr>
        <p:spPr>
          <a:xfrm>
            <a:off x="2488997" y="2880360"/>
            <a:ext cx="292608" cy="457200"/>
          </a:xfrm>
          <a:prstGeom prst="rect">
            <a:avLst/>
          </a:prstGeom>
          <a:noFill/>
          <a:ln/>
        </p:spPr>
        <p:txBody>
          <a:bodyPr wrap="square" lIns="0" tIns="0" rIns="0" bIns="0" rtlCol="0" anchor="ctr"/>
          <a:lstStyle/>
          <a:p>
            <a:pPr algn="ctr" indent="0" marL="0">
              <a:buNone/>
            </a:pPr>
            <a:r>
              <a:rPr lang="en-US" sz="2400" b="1" dirty="0">
                <a:solidFill>
                  <a:schemeClr val="accent3"/>
                </a:solidFill>
              </a:rPr>
              <a:t>›</a:t>
            </a:r>
            <a:endParaRPr lang="en-US" sz="2400" dirty="0"/>
          </a:p>
        </p:txBody>
      </p:sp>
      <p:sp>
        <p:nvSpPr>
          <p:cNvPr id="13" name="Step card 2"/>
          <p:cNvSpPr/>
          <p:nvPr/>
        </p:nvSpPr>
        <p:spPr>
          <a:xfrm>
            <a:off x="2763317" y="1600200"/>
            <a:ext cx="2050085" cy="4709160"/>
          </a:xfrm>
          <a:prstGeom prst="roundRect">
            <a:avLst>
              <a:gd name="adj" fmla="val 4460"/>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14" name="Step screen 2" descr="/tmp/claude-0/-home-claude/604fe074-c4a3-59f5-a7f0-a4d942adf429/scratchpad/deck/th/c10_return_filled.jpg">
            <a:hlinkClick r:id="rId10" tooltip="Open picture: Scan pallets + vehicle" action="ppaction://hlinksldjump"/>
          </p:cNvPr>
          <p:cNvPicPr>
            <a:picLocks noChangeAspect="1"/>
          </p:cNvPicPr>
          <p:nvPr/>
        </p:nvPicPr>
        <p:blipFill>
          <a:blip r:embed="rId7"/>
          <a:stretch>
            <a:fillRect/>
          </a:stretch>
        </p:blipFill>
        <p:spPr>
          <a:xfrm>
            <a:off x="3121010" y="1737360"/>
            <a:ext cx="1334697" cy="2788920"/>
          </a:xfrm>
          <a:prstGeom prst="rect">
            <a:avLst/>
          </a:prstGeom>
        </p:spPr>
      </p:pic>
      <p:sp>
        <p:nvSpPr>
          <p:cNvPr id="15" name="Step number 2"/>
          <p:cNvSpPr/>
          <p:nvPr/>
        </p:nvSpPr>
        <p:spPr>
          <a:xfrm>
            <a:off x="2900477" y="4690872"/>
            <a:ext cx="347472" cy="347472"/>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6" name="Step title 2"/>
          <p:cNvSpPr txBox="1"/>
          <p:nvPr/>
        </p:nvSpPr>
        <p:spPr>
          <a:xfrm>
            <a:off x="3311957" y="4636008"/>
            <a:ext cx="1410005"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Scan pallets + vehicle</a:t>
            </a:r>
            <a:endParaRPr lang="en-US" sz="1300" dirty="0"/>
          </a:p>
        </p:txBody>
      </p:sp>
      <p:sp>
        <p:nvSpPr>
          <p:cNvPr id="17" name="Step text 2"/>
          <p:cNvSpPr txBox="1"/>
          <p:nvPr/>
        </p:nvSpPr>
        <p:spPr>
          <a:xfrm>
            <a:off x="2900477" y="5166360"/>
            <a:ext cx="1775765" cy="658368"/>
          </a:xfrm>
          <a:prstGeom prst="rect">
            <a:avLst/>
          </a:prstGeom>
          <a:noFill/>
          <a:ln/>
        </p:spPr>
        <p:txBody>
          <a:bodyPr wrap="square" lIns="0" tIns="0" rIns="0" bIns="0" rtlCol="0" anchor="t"/>
          <a:lstStyle/>
          <a:p>
            <a:pPr indent="0" marL="0">
              <a:buNone/>
            </a:pPr>
            <a:r>
              <a:rPr lang="en-US" sz="1100" dirty="0">
                <a:solidFill>
                  <a:srgbClr val="4A5266"/>
                </a:solidFill>
              </a:rPr>
              <a:t>DC number optional; slip no. automatic</a:t>
            </a:r>
            <a:endParaRPr lang="en-US" sz="1100" dirty="0"/>
          </a:p>
        </p:txBody>
      </p:sp>
      <p:pic>
        <p:nvPicPr>
          <p:cNvPr id="18" name="Open step 2" descr="preencoded.png">
            <a:hlinkClick r:id="rId10" tooltip="Open picture: Scan pallets + vehicle" action="ppaction://hlinksldjump"/>
          </p:cNvPr>
          <p:cNvPicPr>
            <a:picLocks noChangeAspect="1"/>
          </p:cNvPicPr>
          <p:nvPr/>
        </p:nvPicPr>
        <p:blipFill>
          <a:blip r:embed="rId9"/>
          <a:stretch>
            <a:fillRect/>
          </a:stretch>
        </p:blipFill>
        <p:spPr>
          <a:xfrm>
            <a:off x="4337914" y="5852160"/>
            <a:ext cx="329184" cy="329184"/>
          </a:xfrm>
          <a:prstGeom prst="rect">
            <a:avLst/>
          </a:prstGeom>
        </p:spPr>
      </p:pic>
      <p:sp>
        <p:nvSpPr>
          <p:cNvPr id="19" name="Flow arrow 2"/>
          <p:cNvSpPr txBox="1"/>
          <p:nvPr/>
        </p:nvSpPr>
        <p:spPr>
          <a:xfrm>
            <a:off x="4795114" y="2880360"/>
            <a:ext cx="292608" cy="457200"/>
          </a:xfrm>
          <a:prstGeom prst="rect">
            <a:avLst/>
          </a:prstGeom>
          <a:noFill/>
          <a:ln/>
        </p:spPr>
        <p:txBody>
          <a:bodyPr wrap="square" lIns="0" tIns="0" rIns="0" bIns="0" rtlCol="0" anchor="ctr"/>
          <a:lstStyle/>
          <a:p>
            <a:pPr algn="ctr" indent="0" marL="0">
              <a:buNone/>
            </a:pPr>
            <a:r>
              <a:rPr lang="en-US" sz="2400" b="1" dirty="0">
                <a:solidFill>
                  <a:schemeClr val="accent3"/>
                </a:solidFill>
              </a:rPr>
              <a:t>›</a:t>
            </a:r>
            <a:endParaRPr lang="en-US" sz="2400" dirty="0"/>
          </a:p>
        </p:txBody>
      </p:sp>
      <p:sp>
        <p:nvSpPr>
          <p:cNvPr id="20" name="Step card 3"/>
          <p:cNvSpPr/>
          <p:nvPr/>
        </p:nvSpPr>
        <p:spPr>
          <a:xfrm>
            <a:off x="5069434" y="1600200"/>
            <a:ext cx="2050085" cy="4709160"/>
          </a:xfrm>
          <a:prstGeom prst="roundRect">
            <a:avLst>
              <a:gd name="adj" fmla="val 4460"/>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21" name="Step screen 3" descr="/tmp/claude-0/-home-claude/604fe074-c4a3-59f5-a7f0-a4d942adf429/scratchpad/deck/th/c11_return_confirm.jpg">
            <a:hlinkClick r:id="rId14" tooltip="Open picture: Confirm" action="ppaction://hlinksldjump"/>
          </p:cNvPr>
          <p:cNvPicPr>
            <a:picLocks noChangeAspect="1"/>
          </p:cNvPicPr>
          <p:nvPr/>
        </p:nvPicPr>
        <p:blipFill>
          <a:blip r:embed="rId11"/>
          <a:stretch>
            <a:fillRect/>
          </a:stretch>
        </p:blipFill>
        <p:spPr>
          <a:xfrm>
            <a:off x="5427127" y="1737360"/>
            <a:ext cx="1334697" cy="2788920"/>
          </a:xfrm>
          <a:prstGeom prst="rect">
            <a:avLst/>
          </a:prstGeom>
        </p:spPr>
      </p:pic>
      <p:sp>
        <p:nvSpPr>
          <p:cNvPr id="22" name="Step number 3"/>
          <p:cNvSpPr/>
          <p:nvPr/>
        </p:nvSpPr>
        <p:spPr>
          <a:xfrm>
            <a:off x="5206594" y="4690872"/>
            <a:ext cx="347472" cy="347472"/>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3" name="Step title 3"/>
          <p:cNvSpPr txBox="1"/>
          <p:nvPr/>
        </p:nvSpPr>
        <p:spPr>
          <a:xfrm>
            <a:off x="5618074" y="4636008"/>
            <a:ext cx="1410005"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Confirm</a:t>
            </a:r>
            <a:endParaRPr lang="en-US" sz="1300" dirty="0"/>
          </a:p>
        </p:txBody>
      </p:sp>
      <p:sp>
        <p:nvSpPr>
          <p:cNvPr id="24" name="Step text 3"/>
          <p:cNvSpPr txBox="1"/>
          <p:nvPr/>
        </p:nvSpPr>
        <p:spPr>
          <a:xfrm>
            <a:off x="5206594" y="5166360"/>
            <a:ext cx="1775765" cy="658368"/>
          </a:xfrm>
          <a:prstGeom prst="rect">
            <a:avLst/>
          </a:prstGeom>
          <a:noFill/>
          <a:ln/>
        </p:spPr>
        <p:txBody>
          <a:bodyPr wrap="square" lIns="0" tIns="0" rIns="0" bIns="0" rtlCol="0" anchor="t"/>
          <a:lstStyle/>
          <a:p>
            <a:pPr indent="0" marL="0">
              <a:buNone/>
            </a:pPr>
            <a:r>
              <a:rPr lang="en-US" sz="1100" dirty="0">
                <a:solidFill>
                  <a:srgbClr val="4A5266"/>
                </a:solidFill>
              </a:rPr>
              <a:t>2 pallets on TN22AX5521</a:t>
            </a:r>
            <a:endParaRPr lang="en-US" sz="1100" dirty="0"/>
          </a:p>
        </p:txBody>
      </p:sp>
      <p:pic>
        <p:nvPicPr>
          <p:cNvPr id="25" name="Open step 3" descr="preencoded.png">
            <a:hlinkClick r:id="rId14" tooltip="Open picture: Confirm" action="ppaction://hlinksldjump"/>
          </p:cNvPr>
          <p:cNvPicPr>
            <a:picLocks noChangeAspect="1"/>
          </p:cNvPicPr>
          <p:nvPr/>
        </p:nvPicPr>
        <p:blipFill>
          <a:blip r:embed="rId13"/>
          <a:stretch>
            <a:fillRect/>
          </a:stretch>
        </p:blipFill>
        <p:spPr>
          <a:xfrm>
            <a:off x="6644030" y="5852160"/>
            <a:ext cx="329184" cy="329184"/>
          </a:xfrm>
          <a:prstGeom prst="rect">
            <a:avLst/>
          </a:prstGeom>
        </p:spPr>
      </p:pic>
      <p:sp>
        <p:nvSpPr>
          <p:cNvPr id="26" name="Flow arrow 3"/>
          <p:cNvSpPr txBox="1"/>
          <p:nvPr/>
        </p:nvSpPr>
        <p:spPr>
          <a:xfrm>
            <a:off x="7101230" y="2880360"/>
            <a:ext cx="292608" cy="457200"/>
          </a:xfrm>
          <a:prstGeom prst="rect">
            <a:avLst/>
          </a:prstGeom>
          <a:noFill/>
          <a:ln/>
        </p:spPr>
        <p:txBody>
          <a:bodyPr wrap="square" lIns="0" tIns="0" rIns="0" bIns="0" rtlCol="0" anchor="ctr"/>
          <a:lstStyle/>
          <a:p>
            <a:pPr algn="ctr" indent="0" marL="0">
              <a:buNone/>
            </a:pPr>
            <a:r>
              <a:rPr lang="en-US" sz="2400" b="1" dirty="0">
                <a:solidFill>
                  <a:schemeClr val="accent3"/>
                </a:solidFill>
              </a:rPr>
              <a:t>›</a:t>
            </a:r>
            <a:endParaRPr lang="en-US" sz="2400" dirty="0"/>
          </a:p>
        </p:txBody>
      </p:sp>
      <p:sp>
        <p:nvSpPr>
          <p:cNvPr id="27" name="Step card 4"/>
          <p:cNvSpPr/>
          <p:nvPr/>
        </p:nvSpPr>
        <p:spPr>
          <a:xfrm>
            <a:off x="7375550" y="1600200"/>
            <a:ext cx="2050085" cy="4709160"/>
          </a:xfrm>
          <a:prstGeom prst="roundRect">
            <a:avLst>
              <a:gd name="adj" fmla="val 4460"/>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28" name="Step screen 4" descr="/tmp/claude-0/-home-claude/604fe074-c4a3-59f5-a7f0-a4d942adf429/scratchpad/deck/th/c12_slip_ready.jpg">
            <a:hlinkClick r:id="rId18" tooltip="Open picture: Slip ready" action="ppaction://hlinksldjump"/>
          </p:cNvPr>
          <p:cNvPicPr>
            <a:picLocks noChangeAspect="1"/>
          </p:cNvPicPr>
          <p:nvPr/>
        </p:nvPicPr>
        <p:blipFill>
          <a:blip r:embed="rId15"/>
          <a:stretch>
            <a:fillRect/>
          </a:stretch>
        </p:blipFill>
        <p:spPr>
          <a:xfrm>
            <a:off x="7733244" y="1737360"/>
            <a:ext cx="1334697" cy="2788920"/>
          </a:xfrm>
          <a:prstGeom prst="rect">
            <a:avLst/>
          </a:prstGeom>
        </p:spPr>
      </p:pic>
      <p:sp>
        <p:nvSpPr>
          <p:cNvPr id="29" name="Step number 4"/>
          <p:cNvSpPr/>
          <p:nvPr/>
        </p:nvSpPr>
        <p:spPr>
          <a:xfrm>
            <a:off x="7512710" y="4690872"/>
            <a:ext cx="347472" cy="347472"/>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0" name="Step title 4"/>
          <p:cNvSpPr txBox="1"/>
          <p:nvPr/>
        </p:nvSpPr>
        <p:spPr>
          <a:xfrm>
            <a:off x="7924190" y="4636008"/>
            <a:ext cx="1410005"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Slip ready</a:t>
            </a:r>
            <a:endParaRPr lang="en-US" sz="1300" dirty="0"/>
          </a:p>
        </p:txBody>
      </p:sp>
      <p:sp>
        <p:nvSpPr>
          <p:cNvPr id="31" name="Step text 4"/>
          <p:cNvSpPr txBox="1"/>
          <p:nvPr/>
        </p:nvSpPr>
        <p:spPr>
          <a:xfrm>
            <a:off x="7512710" y="5166360"/>
            <a:ext cx="1775765" cy="658368"/>
          </a:xfrm>
          <a:prstGeom prst="rect">
            <a:avLst/>
          </a:prstGeom>
          <a:noFill/>
          <a:ln/>
        </p:spPr>
        <p:txBody>
          <a:bodyPr wrap="square" lIns="0" tIns="0" rIns="0" bIns="0" rtlCol="0" anchor="t"/>
          <a:lstStyle/>
          <a:p>
            <a:pPr indent="0" marL="0">
              <a:buNone/>
            </a:pPr>
            <a:r>
              <a:rPr lang="en-US" sz="1100" dirty="0">
                <a:solidFill>
                  <a:srgbClr val="4A5266"/>
                </a:solidFill>
              </a:rPr>
              <a:t>Signed QR - printed on BT printer</a:t>
            </a:r>
            <a:endParaRPr lang="en-US" sz="1100" dirty="0"/>
          </a:p>
        </p:txBody>
      </p:sp>
      <p:pic>
        <p:nvPicPr>
          <p:cNvPr id="32" name="Open step 4" descr="preencoded.png">
            <a:hlinkClick r:id="rId18" tooltip="Open picture: Slip ready" action="ppaction://hlinksldjump"/>
          </p:cNvPr>
          <p:cNvPicPr>
            <a:picLocks noChangeAspect="1"/>
          </p:cNvPicPr>
          <p:nvPr/>
        </p:nvPicPr>
        <p:blipFill>
          <a:blip r:embed="rId17"/>
          <a:stretch>
            <a:fillRect/>
          </a:stretch>
        </p:blipFill>
        <p:spPr>
          <a:xfrm>
            <a:off x="8950147" y="5852160"/>
            <a:ext cx="329184" cy="329184"/>
          </a:xfrm>
          <a:prstGeom prst="rect">
            <a:avLst/>
          </a:prstGeom>
        </p:spPr>
      </p:pic>
      <p:sp>
        <p:nvSpPr>
          <p:cNvPr id="33" name="Flow arrow 4"/>
          <p:cNvSpPr txBox="1"/>
          <p:nvPr/>
        </p:nvSpPr>
        <p:spPr>
          <a:xfrm>
            <a:off x="9407347" y="2880360"/>
            <a:ext cx="292608" cy="457200"/>
          </a:xfrm>
          <a:prstGeom prst="rect">
            <a:avLst/>
          </a:prstGeom>
          <a:noFill/>
          <a:ln/>
        </p:spPr>
        <p:txBody>
          <a:bodyPr wrap="square" lIns="0" tIns="0" rIns="0" bIns="0" rtlCol="0" anchor="ctr"/>
          <a:lstStyle/>
          <a:p>
            <a:pPr algn="ctr" indent="0" marL="0">
              <a:buNone/>
            </a:pPr>
            <a:r>
              <a:rPr lang="en-US" sz="2400" b="1" dirty="0">
                <a:solidFill>
                  <a:schemeClr val="accent3"/>
                </a:solidFill>
              </a:rPr>
              <a:t>›</a:t>
            </a:r>
            <a:endParaRPr lang="en-US" sz="2400" dirty="0"/>
          </a:p>
        </p:txBody>
      </p:sp>
      <p:sp>
        <p:nvSpPr>
          <p:cNvPr id="34" name="Step card 5"/>
          <p:cNvSpPr/>
          <p:nvPr/>
        </p:nvSpPr>
        <p:spPr>
          <a:xfrm>
            <a:off x="9681667" y="1600200"/>
            <a:ext cx="2050085" cy="4709160"/>
          </a:xfrm>
          <a:prstGeom prst="roundRect">
            <a:avLst>
              <a:gd name="adj" fmla="val 4460"/>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35" name="Step screen 5" descr="/tmp/claude-0/-home-claude/604fe074-c4a3-59f5-a7f0-a4d942adf429/scratchpad/deck/th/o_slipA.jpg">
            <a:hlinkClick r:id="rId22" tooltip="Open picture: Output: Option A slip" action="ppaction://hlinksldjump"/>
          </p:cNvPr>
          <p:cNvPicPr>
            <a:picLocks noChangeAspect="1"/>
          </p:cNvPicPr>
          <p:nvPr/>
        </p:nvPicPr>
        <p:blipFill>
          <a:blip r:embed="rId19"/>
          <a:stretch>
            <a:fillRect/>
          </a:stretch>
        </p:blipFill>
        <p:spPr>
          <a:xfrm>
            <a:off x="9909875" y="1737360"/>
            <a:ext cx="1593669" cy="2788920"/>
          </a:xfrm>
          <a:prstGeom prst="rect">
            <a:avLst/>
          </a:prstGeom>
        </p:spPr>
      </p:pic>
      <p:sp>
        <p:nvSpPr>
          <p:cNvPr id="36" name="Step number 5"/>
          <p:cNvSpPr/>
          <p:nvPr/>
        </p:nvSpPr>
        <p:spPr>
          <a:xfrm>
            <a:off x="9818827" y="4690872"/>
            <a:ext cx="347472" cy="347472"/>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7" name="Step title 5"/>
          <p:cNvSpPr txBox="1"/>
          <p:nvPr/>
        </p:nvSpPr>
        <p:spPr>
          <a:xfrm>
            <a:off x="10230307" y="4636008"/>
            <a:ext cx="1410005"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Output: Option A slip</a:t>
            </a:r>
            <a:endParaRPr lang="en-US" sz="1300" dirty="0"/>
          </a:p>
        </p:txBody>
      </p:sp>
      <p:sp>
        <p:nvSpPr>
          <p:cNvPr id="38" name="Step text 5"/>
          <p:cNvSpPr txBox="1"/>
          <p:nvPr/>
        </p:nvSpPr>
        <p:spPr>
          <a:xfrm>
            <a:off x="9818827" y="5166360"/>
            <a:ext cx="1775765" cy="658368"/>
          </a:xfrm>
          <a:prstGeom prst="rect">
            <a:avLst/>
          </a:prstGeom>
          <a:noFill/>
          <a:ln/>
        </p:spPr>
        <p:txBody>
          <a:bodyPr wrap="square" lIns="0" tIns="0" rIns="0" bIns="0" rtlCol="0" anchor="t"/>
          <a:lstStyle/>
          <a:p>
            <a:pPr indent="0" marL="0">
              <a:buNone/>
            </a:pPr>
            <a:r>
              <a:rPr lang="en-US" sz="1100" dirty="0">
                <a:solidFill>
                  <a:srgbClr val="4A5266"/>
                </a:solidFill>
              </a:rPr>
              <a:t>Thermal slip with pallet list</a:t>
            </a:r>
            <a:endParaRPr lang="en-US" sz="1100" dirty="0"/>
          </a:p>
        </p:txBody>
      </p:sp>
      <p:pic>
        <p:nvPicPr>
          <p:cNvPr id="39" name="Open step 5" descr="preencoded.png">
            <a:hlinkClick r:id="rId22" tooltip="Open picture: Output: Option A slip" action="ppaction://hlinksldjump"/>
          </p:cNvPr>
          <p:cNvPicPr>
            <a:picLocks noChangeAspect="1"/>
          </p:cNvPicPr>
          <p:nvPr/>
        </p:nvPicPr>
        <p:blipFill>
          <a:blip r:embed="rId21"/>
          <a:stretch>
            <a:fillRect/>
          </a:stretch>
        </p:blipFill>
        <p:spPr>
          <a:xfrm>
            <a:off x="11256264" y="5852160"/>
            <a:ext cx="329184" cy="329184"/>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457200" y="320040"/>
            <a:ext cx="9509760" cy="640080"/>
          </a:xfrm>
          <a:prstGeom prst="rect">
            <a:avLst/>
          </a:prstGeom>
          <a:noFill/>
          <a:ln/>
        </p:spPr>
        <p:txBody>
          <a:bodyPr wrap="square" lIns="0" tIns="0" rIns="0" bIns="0" rtlCol="0" anchor="ctr"/>
          <a:lstStyle/>
          <a:p>
            <a:pPr indent="0" marL="0">
              <a:buNone/>
            </a:pPr>
            <a:r>
              <a:rPr lang="en-US" sz="3200" b="1" dirty="0">
                <a:solidFill>
                  <a:schemeClr val="tx2"/>
                </a:solidFill>
              </a:rPr>
              <a:t>IN gate - every inward is registered (1/2)</a:t>
            </a:r>
            <a:endParaRPr lang="en-US" sz="3200" dirty="0"/>
          </a:p>
        </p:txBody>
      </p:sp>
      <p:sp>
        <p:nvSpPr>
          <p:cNvPr id="3" name="Subtitle"/>
          <p:cNvSpPr txBox="1"/>
          <p:nvPr/>
        </p:nvSpPr>
        <p:spPr>
          <a:xfrm>
            <a:off x="457200" y="960120"/>
            <a:ext cx="9692640" cy="411480"/>
          </a:xfrm>
          <a:prstGeom prst="rect">
            <a:avLst/>
          </a:prstGeom>
          <a:noFill/>
          <a:ln/>
        </p:spPr>
        <p:txBody>
          <a:bodyPr wrap="square" lIns="0" tIns="0" rIns="0" bIns="0" rtlCol="0" anchor="ctr"/>
          <a:lstStyle/>
          <a:p>
            <a:pPr indent="0" marL="0">
              <a:buNone/>
            </a:pPr>
            <a:r>
              <a:rPr lang="en-US" sz="1500" dirty="0">
                <a:solidFill>
                  <a:srgbClr val="4A5266"/>
                </a:solidFill>
              </a:rPr>
              <a:t>Slip A → scan its QR · No slip → make Option B with document photo · Other plant → scan challan</a:t>
            </a:r>
            <a:endParaRPr lang="en-US" sz="1500" dirty="0"/>
          </a:p>
        </p:txBody>
      </p:sp>
      <p:sp>
        <p:nvSpPr>
          <p:cNvPr id="4" name="Who"/>
          <p:cNvSpPr/>
          <p:nvPr/>
        </p:nvSpPr>
        <p:spPr>
          <a:xfrm>
            <a:off x="9966960" y="384048"/>
            <a:ext cx="1783080" cy="457200"/>
          </a:xfrm>
          <a:prstGeom prst="roundRect">
            <a:avLst>
              <a:gd name="adj" fmla="val 20000"/>
            </a:avLst>
          </a:prstGeom>
          <a:solidFill>
            <a:schemeClr val="accent2"/>
          </a:solidFill>
          <a:ln/>
        </p:spPr>
        <p:txBody>
          <a:bodyPr wrap="square" lIns="38100" tIns="38100" rIns="38100" bIns="38100" rtlCol="0" anchor="ctr"/>
          <a:lstStyle/>
          <a:p>
            <a:pPr algn="ctr" indent="0" marL="0">
              <a:buNone/>
            </a:pPr>
            <a:r>
              <a:rPr lang="en-US" sz="1100" b="1" dirty="0">
                <a:solidFill>
                  <a:schemeClr val="bg1"/>
                </a:solidFill>
              </a:rPr>
              <a:t>Security - IN gate</a:t>
            </a:r>
            <a:endParaRPr lang="en-US" sz="1100" dirty="0"/>
          </a:p>
        </p:txBody>
      </p:sp>
      <p:pic>
        <p:nvPicPr>
          <p:cNvPr id="5" name="Back to map" descr="preencoded.png">
            <a:hlinkClick r:id="rId2" tooltip="Process map" action="ppaction://hlinksldjump"/>
          </p:cNvPr>
          <p:cNvPicPr>
            <a:picLocks noChangeAspect="1"/>
          </p:cNvPicPr>
          <p:nvPr/>
        </p:nvPicPr>
        <p:blipFill>
          <a:blip r:embed="rId1"/>
          <a:stretch>
            <a:fillRect/>
          </a:stretch>
        </p:blipFill>
        <p:spPr>
          <a:xfrm>
            <a:off x="11384280" y="987552"/>
            <a:ext cx="329184" cy="329184"/>
          </a:xfrm>
          <a:prstGeom prst="rect">
            <a:avLst/>
          </a:prstGeom>
        </p:spPr>
      </p:pic>
      <p:sp>
        <p:nvSpPr>
          <p:cNvPr id="6" name="Step card 1"/>
          <p:cNvSpPr/>
          <p:nvPr/>
        </p:nvSpPr>
        <p:spPr>
          <a:xfrm>
            <a:off x="457200" y="1600200"/>
            <a:ext cx="1665732" cy="4709160"/>
          </a:xfrm>
          <a:prstGeom prst="roundRect">
            <a:avLst>
              <a:gd name="adj" fmla="val 5489"/>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7" name="Step screen 1" descr="/tmp/claude-0/-home-claude/604fe074-c4a3-59f5-a7f0-a4d942adf429/scratchpad/deck/th/g01_in_gate.jpg">
            <a:hlinkClick r:id="rId6" tooltip="Open picture: IN gate" action="ppaction://hlinksldjump"/>
          </p:cNvPr>
          <p:cNvPicPr>
            <a:picLocks noChangeAspect="1"/>
          </p:cNvPicPr>
          <p:nvPr/>
        </p:nvPicPr>
        <p:blipFill>
          <a:blip r:embed="rId3"/>
          <a:stretch>
            <a:fillRect/>
          </a:stretch>
        </p:blipFill>
        <p:spPr>
          <a:xfrm>
            <a:off x="622717" y="1737360"/>
            <a:ext cx="1334697" cy="2788920"/>
          </a:xfrm>
          <a:prstGeom prst="rect">
            <a:avLst/>
          </a:prstGeom>
        </p:spPr>
      </p:pic>
      <p:sp>
        <p:nvSpPr>
          <p:cNvPr id="8" name="Step number 1"/>
          <p:cNvSpPr/>
          <p:nvPr/>
        </p:nvSpPr>
        <p:spPr>
          <a:xfrm>
            <a:off x="594360" y="4690872"/>
            <a:ext cx="347472" cy="347472"/>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Step title 1"/>
          <p:cNvSpPr txBox="1"/>
          <p:nvPr/>
        </p:nvSpPr>
        <p:spPr>
          <a:xfrm>
            <a:off x="1005840" y="4636008"/>
            <a:ext cx="1025652"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IN gate</a:t>
            </a:r>
            <a:endParaRPr lang="en-US" sz="1300" dirty="0"/>
          </a:p>
        </p:txBody>
      </p:sp>
      <p:sp>
        <p:nvSpPr>
          <p:cNvPr id="10" name="Step text 1"/>
          <p:cNvSpPr txBox="1"/>
          <p:nvPr/>
        </p:nvSpPr>
        <p:spPr>
          <a:xfrm>
            <a:off x="594360" y="5166360"/>
            <a:ext cx="1391412" cy="658368"/>
          </a:xfrm>
          <a:prstGeom prst="rect">
            <a:avLst/>
          </a:prstGeom>
          <a:noFill/>
          <a:ln/>
        </p:spPr>
        <p:txBody>
          <a:bodyPr wrap="square" lIns="0" tIns="0" rIns="0" bIns="0" rtlCol="0" anchor="t"/>
          <a:lstStyle/>
          <a:p>
            <a:pPr indent="0" marL="0">
              <a:buNone/>
            </a:pPr>
            <a:r>
              <a:rPr lang="en-US" sz="1100" dirty="0">
                <a:solidFill>
                  <a:srgbClr val="4A5266"/>
                </a:solidFill>
              </a:rPr>
              <a:t>Slip QR or plant challan QR</a:t>
            </a:r>
            <a:endParaRPr lang="en-US" sz="1100" dirty="0"/>
          </a:p>
        </p:txBody>
      </p:sp>
      <p:pic>
        <p:nvPicPr>
          <p:cNvPr id="11" name="Open step 1" descr="preencoded.png">
            <a:hlinkClick r:id="rId6" tooltip="Open picture: IN gate" action="ppaction://hlinksldjump"/>
          </p:cNvPr>
          <p:cNvPicPr>
            <a:picLocks noChangeAspect="1"/>
          </p:cNvPicPr>
          <p:nvPr/>
        </p:nvPicPr>
        <p:blipFill>
          <a:blip r:embed="rId5"/>
          <a:stretch>
            <a:fillRect/>
          </a:stretch>
        </p:blipFill>
        <p:spPr>
          <a:xfrm>
            <a:off x="1647444" y="5852160"/>
            <a:ext cx="329184" cy="329184"/>
          </a:xfrm>
          <a:prstGeom prst="rect">
            <a:avLst/>
          </a:prstGeom>
        </p:spPr>
      </p:pic>
      <p:sp>
        <p:nvSpPr>
          <p:cNvPr id="12" name="Flow arrow 1"/>
          <p:cNvSpPr txBox="1"/>
          <p:nvPr/>
        </p:nvSpPr>
        <p:spPr>
          <a:xfrm>
            <a:off x="2104644" y="2880360"/>
            <a:ext cx="292608" cy="457200"/>
          </a:xfrm>
          <a:prstGeom prst="rect">
            <a:avLst/>
          </a:prstGeom>
          <a:noFill/>
          <a:ln/>
        </p:spPr>
        <p:txBody>
          <a:bodyPr wrap="square" lIns="0" tIns="0" rIns="0" bIns="0" rtlCol="0" anchor="ctr"/>
          <a:lstStyle/>
          <a:p>
            <a:pPr algn="ctr" indent="0" marL="0">
              <a:buNone/>
            </a:pPr>
            <a:r>
              <a:rPr lang="en-US" sz="2400" b="1" dirty="0">
                <a:solidFill>
                  <a:schemeClr val="accent2"/>
                </a:solidFill>
              </a:rPr>
              <a:t>›</a:t>
            </a:r>
            <a:endParaRPr lang="en-US" sz="2400" dirty="0"/>
          </a:p>
        </p:txBody>
      </p:sp>
      <p:sp>
        <p:nvSpPr>
          <p:cNvPr id="13" name="Step card 2"/>
          <p:cNvSpPr/>
          <p:nvPr/>
        </p:nvSpPr>
        <p:spPr>
          <a:xfrm>
            <a:off x="2378964" y="1600200"/>
            <a:ext cx="1665732" cy="4709160"/>
          </a:xfrm>
          <a:prstGeom prst="roundRect">
            <a:avLst>
              <a:gd name="adj" fmla="val 5489"/>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14" name="Step screen 2" descr="/tmp/claude-0/-home-claude/604fe074-c4a3-59f5-a7f0-a4d942adf429/scratchpad/deck/th/g02_in_slipA.jpg">
            <a:hlinkClick r:id="rId10" tooltip="Open picture: Option A registered" action="ppaction://hlinksldjump"/>
          </p:cNvPr>
          <p:cNvPicPr>
            <a:picLocks noChangeAspect="1"/>
          </p:cNvPicPr>
          <p:nvPr/>
        </p:nvPicPr>
        <p:blipFill>
          <a:blip r:embed="rId7"/>
          <a:stretch>
            <a:fillRect/>
          </a:stretch>
        </p:blipFill>
        <p:spPr>
          <a:xfrm>
            <a:off x="2544481" y="1737360"/>
            <a:ext cx="1334697" cy="2788920"/>
          </a:xfrm>
          <a:prstGeom prst="rect">
            <a:avLst/>
          </a:prstGeom>
        </p:spPr>
      </p:pic>
      <p:sp>
        <p:nvSpPr>
          <p:cNvPr id="15" name="Step number 2"/>
          <p:cNvSpPr/>
          <p:nvPr/>
        </p:nvSpPr>
        <p:spPr>
          <a:xfrm>
            <a:off x="2516124" y="4690872"/>
            <a:ext cx="347472" cy="347472"/>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6" name="Step title 2"/>
          <p:cNvSpPr txBox="1"/>
          <p:nvPr/>
        </p:nvSpPr>
        <p:spPr>
          <a:xfrm>
            <a:off x="2927604" y="4636008"/>
            <a:ext cx="1025652"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Option A registered</a:t>
            </a:r>
            <a:endParaRPr lang="en-US" sz="1300" dirty="0"/>
          </a:p>
        </p:txBody>
      </p:sp>
      <p:sp>
        <p:nvSpPr>
          <p:cNvPr id="17" name="Step text 2"/>
          <p:cNvSpPr txBox="1"/>
          <p:nvPr/>
        </p:nvSpPr>
        <p:spPr>
          <a:xfrm>
            <a:off x="2516124" y="5166360"/>
            <a:ext cx="1391412" cy="658368"/>
          </a:xfrm>
          <a:prstGeom prst="rect">
            <a:avLst/>
          </a:prstGeom>
          <a:noFill/>
          <a:ln/>
        </p:spPr>
        <p:txBody>
          <a:bodyPr wrap="square" lIns="0" tIns="0" rIns="0" bIns="0" rtlCol="0" anchor="t"/>
          <a:lstStyle/>
          <a:p>
            <a:pPr indent="0" marL="0">
              <a:buNone/>
            </a:pPr>
            <a:r>
              <a:rPr lang="en-US" sz="1100" dirty="0">
                <a:solidFill>
                  <a:srgbClr val="4A5266"/>
                </a:solidFill>
              </a:rPr>
              <a:t>Gate entry CHN-GE-000007 + GCS inward</a:t>
            </a:r>
            <a:endParaRPr lang="en-US" sz="1100" dirty="0"/>
          </a:p>
        </p:txBody>
      </p:sp>
      <p:pic>
        <p:nvPicPr>
          <p:cNvPr id="18" name="Open step 2" descr="preencoded.png">
            <a:hlinkClick r:id="rId10" tooltip="Open picture: Option A registered" action="ppaction://hlinksldjump"/>
          </p:cNvPr>
          <p:cNvPicPr>
            <a:picLocks noChangeAspect="1"/>
          </p:cNvPicPr>
          <p:nvPr/>
        </p:nvPicPr>
        <p:blipFill>
          <a:blip r:embed="rId9"/>
          <a:stretch>
            <a:fillRect/>
          </a:stretch>
        </p:blipFill>
        <p:spPr>
          <a:xfrm>
            <a:off x="3569208" y="5852160"/>
            <a:ext cx="329184" cy="329184"/>
          </a:xfrm>
          <a:prstGeom prst="rect">
            <a:avLst/>
          </a:prstGeom>
        </p:spPr>
      </p:pic>
      <p:sp>
        <p:nvSpPr>
          <p:cNvPr id="19" name="Flow arrow 2"/>
          <p:cNvSpPr txBox="1"/>
          <p:nvPr/>
        </p:nvSpPr>
        <p:spPr>
          <a:xfrm>
            <a:off x="4026408" y="2880360"/>
            <a:ext cx="292608" cy="457200"/>
          </a:xfrm>
          <a:prstGeom prst="rect">
            <a:avLst/>
          </a:prstGeom>
          <a:noFill/>
          <a:ln/>
        </p:spPr>
        <p:txBody>
          <a:bodyPr wrap="square" lIns="0" tIns="0" rIns="0" bIns="0" rtlCol="0" anchor="ctr"/>
          <a:lstStyle/>
          <a:p>
            <a:pPr algn="ctr" indent="0" marL="0">
              <a:buNone/>
            </a:pPr>
            <a:r>
              <a:rPr lang="en-US" sz="2400" b="1" dirty="0">
                <a:solidFill>
                  <a:schemeClr val="accent2"/>
                </a:solidFill>
              </a:rPr>
              <a:t>›</a:t>
            </a:r>
            <a:endParaRPr lang="en-US" sz="2400" dirty="0"/>
          </a:p>
        </p:txBody>
      </p:sp>
      <p:sp>
        <p:nvSpPr>
          <p:cNvPr id="20" name="Step card 3"/>
          <p:cNvSpPr/>
          <p:nvPr/>
        </p:nvSpPr>
        <p:spPr>
          <a:xfrm>
            <a:off x="4300728" y="1600200"/>
            <a:ext cx="1665732" cy="4709160"/>
          </a:xfrm>
          <a:prstGeom prst="roundRect">
            <a:avLst>
              <a:gd name="adj" fmla="val 5489"/>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21" name="Step screen 3" descr="/tmp/claude-0/-home-claude/604fe074-c4a3-59f5-a7f0-a4d942adf429/scratchpad/deck/th/g04_optB_photo_required.jpg">
            <a:hlinkClick r:id="rId14" tooltip="Open picture: Option B: count + vehicle" action="ppaction://hlinksldjump"/>
          </p:cNvPr>
          <p:cNvPicPr>
            <a:picLocks noChangeAspect="1"/>
          </p:cNvPicPr>
          <p:nvPr/>
        </p:nvPicPr>
        <p:blipFill>
          <a:blip r:embed="rId11"/>
          <a:stretch>
            <a:fillRect/>
          </a:stretch>
        </p:blipFill>
        <p:spPr>
          <a:xfrm>
            <a:off x="4466245" y="1737360"/>
            <a:ext cx="1334697" cy="2788920"/>
          </a:xfrm>
          <a:prstGeom prst="rect">
            <a:avLst/>
          </a:prstGeom>
        </p:spPr>
      </p:pic>
      <p:sp>
        <p:nvSpPr>
          <p:cNvPr id="22" name="Step number 3"/>
          <p:cNvSpPr/>
          <p:nvPr/>
        </p:nvSpPr>
        <p:spPr>
          <a:xfrm>
            <a:off x="4437888" y="4690872"/>
            <a:ext cx="347472" cy="347472"/>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3" name="Step title 3"/>
          <p:cNvSpPr txBox="1"/>
          <p:nvPr/>
        </p:nvSpPr>
        <p:spPr>
          <a:xfrm>
            <a:off x="4849368" y="4636008"/>
            <a:ext cx="1025652"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Option B: count + vehicle</a:t>
            </a:r>
            <a:endParaRPr lang="en-US" sz="1300" dirty="0"/>
          </a:p>
        </p:txBody>
      </p:sp>
      <p:sp>
        <p:nvSpPr>
          <p:cNvPr id="24" name="Step text 3"/>
          <p:cNvSpPr txBox="1"/>
          <p:nvPr/>
        </p:nvSpPr>
        <p:spPr>
          <a:xfrm>
            <a:off x="4437888" y="5166360"/>
            <a:ext cx="1391412" cy="658368"/>
          </a:xfrm>
          <a:prstGeom prst="rect">
            <a:avLst/>
          </a:prstGeom>
          <a:noFill/>
          <a:ln/>
        </p:spPr>
        <p:txBody>
          <a:bodyPr wrap="square" lIns="0" tIns="0" rIns="0" bIns="0" rtlCol="0" anchor="t"/>
          <a:lstStyle/>
          <a:p>
            <a:pPr indent="0" marL="0">
              <a:buNone/>
            </a:pPr>
            <a:r>
              <a:rPr lang="en-US" sz="1100" dirty="0">
                <a:solidFill>
                  <a:srgbClr val="4A5266"/>
                </a:solidFill>
              </a:rPr>
              <a:t>Photo proof is required</a:t>
            </a:r>
            <a:endParaRPr lang="en-US" sz="1100" dirty="0"/>
          </a:p>
        </p:txBody>
      </p:sp>
      <p:pic>
        <p:nvPicPr>
          <p:cNvPr id="25" name="Open step 3" descr="preencoded.png">
            <a:hlinkClick r:id="rId14" tooltip="Open picture: Option B: count + vehicle" action="ppaction://hlinksldjump"/>
          </p:cNvPr>
          <p:cNvPicPr>
            <a:picLocks noChangeAspect="1"/>
          </p:cNvPicPr>
          <p:nvPr/>
        </p:nvPicPr>
        <p:blipFill>
          <a:blip r:embed="rId13"/>
          <a:stretch>
            <a:fillRect/>
          </a:stretch>
        </p:blipFill>
        <p:spPr>
          <a:xfrm>
            <a:off x="5490972" y="5852160"/>
            <a:ext cx="329184" cy="329184"/>
          </a:xfrm>
          <a:prstGeom prst="rect">
            <a:avLst/>
          </a:prstGeom>
        </p:spPr>
      </p:pic>
      <p:sp>
        <p:nvSpPr>
          <p:cNvPr id="26" name="Flow arrow 3"/>
          <p:cNvSpPr txBox="1"/>
          <p:nvPr/>
        </p:nvSpPr>
        <p:spPr>
          <a:xfrm>
            <a:off x="5948172" y="2880360"/>
            <a:ext cx="292608" cy="457200"/>
          </a:xfrm>
          <a:prstGeom prst="rect">
            <a:avLst/>
          </a:prstGeom>
          <a:noFill/>
          <a:ln/>
        </p:spPr>
        <p:txBody>
          <a:bodyPr wrap="square" lIns="0" tIns="0" rIns="0" bIns="0" rtlCol="0" anchor="ctr"/>
          <a:lstStyle/>
          <a:p>
            <a:pPr algn="ctr" indent="0" marL="0">
              <a:buNone/>
            </a:pPr>
            <a:r>
              <a:rPr lang="en-US" sz="2400" b="1" dirty="0">
                <a:solidFill>
                  <a:schemeClr val="accent2"/>
                </a:solidFill>
              </a:rPr>
              <a:t>›</a:t>
            </a:r>
            <a:endParaRPr lang="en-US" sz="2400" dirty="0"/>
          </a:p>
        </p:txBody>
      </p:sp>
      <p:sp>
        <p:nvSpPr>
          <p:cNvPr id="27" name="Step card 4"/>
          <p:cNvSpPr/>
          <p:nvPr/>
        </p:nvSpPr>
        <p:spPr>
          <a:xfrm>
            <a:off x="6222492" y="1600200"/>
            <a:ext cx="1665732" cy="4709160"/>
          </a:xfrm>
          <a:prstGeom prst="roundRect">
            <a:avLst>
              <a:gd name="adj" fmla="val 5489"/>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28" name="Step screen 4" descr="/tmp/claude-0/-home-claude/604fe074-c4a3-59f5-a7f0-a4d942adf429/scratchpad/deck/th/g05_camera.jpg">
            <a:hlinkClick r:id="rId18" tooltip="Open picture: Photo of customer DC" action="ppaction://hlinksldjump"/>
          </p:cNvPr>
          <p:cNvPicPr>
            <a:picLocks noChangeAspect="1"/>
          </p:cNvPicPr>
          <p:nvPr/>
        </p:nvPicPr>
        <p:blipFill>
          <a:blip r:embed="rId15"/>
          <a:stretch>
            <a:fillRect/>
          </a:stretch>
        </p:blipFill>
        <p:spPr>
          <a:xfrm>
            <a:off x="6388009" y="1737360"/>
            <a:ext cx="1334697" cy="2788920"/>
          </a:xfrm>
          <a:prstGeom prst="rect">
            <a:avLst/>
          </a:prstGeom>
        </p:spPr>
      </p:pic>
      <p:sp>
        <p:nvSpPr>
          <p:cNvPr id="29" name="Step number 4"/>
          <p:cNvSpPr/>
          <p:nvPr/>
        </p:nvSpPr>
        <p:spPr>
          <a:xfrm>
            <a:off x="6359652" y="4690872"/>
            <a:ext cx="347472" cy="347472"/>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0" name="Step title 4"/>
          <p:cNvSpPr txBox="1"/>
          <p:nvPr/>
        </p:nvSpPr>
        <p:spPr>
          <a:xfrm>
            <a:off x="6771132" y="4636008"/>
            <a:ext cx="1025652"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Photo of customer DC</a:t>
            </a:r>
            <a:endParaRPr lang="en-US" sz="1300" dirty="0"/>
          </a:p>
        </p:txBody>
      </p:sp>
      <p:sp>
        <p:nvSpPr>
          <p:cNvPr id="31" name="Step text 4"/>
          <p:cNvSpPr txBox="1"/>
          <p:nvPr/>
        </p:nvSpPr>
        <p:spPr>
          <a:xfrm>
            <a:off x="6359652" y="5166360"/>
            <a:ext cx="1391412" cy="658368"/>
          </a:xfrm>
          <a:prstGeom prst="rect">
            <a:avLst/>
          </a:prstGeom>
          <a:noFill/>
          <a:ln/>
        </p:spPr>
        <p:txBody>
          <a:bodyPr wrap="square" lIns="0" tIns="0" rIns="0" bIns="0" rtlCol="0" anchor="t"/>
          <a:lstStyle/>
          <a:p>
            <a:pPr indent="0" marL="0">
              <a:buNone/>
            </a:pPr>
            <a:r>
              <a:rPr lang="en-US" sz="1100" dirty="0">
                <a:solidFill>
                  <a:srgbClr val="4A5266"/>
                </a:solidFill>
              </a:rPr>
              <a:t>Every page, inside the frame</a:t>
            </a:r>
            <a:endParaRPr lang="en-US" sz="1100" dirty="0"/>
          </a:p>
        </p:txBody>
      </p:sp>
      <p:pic>
        <p:nvPicPr>
          <p:cNvPr id="32" name="Open step 4" descr="preencoded.png">
            <a:hlinkClick r:id="rId18" tooltip="Open picture: Photo of customer DC" action="ppaction://hlinksldjump"/>
          </p:cNvPr>
          <p:cNvPicPr>
            <a:picLocks noChangeAspect="1"/>
          </p:cNvPicPr>
          <p:nvPr/>
        </p:nvPicPr>
        <p:blipFill>
          <a:blip r:embed="rId17"/>
          <a:stretch>
            <a:fillRect/>
          </a:stretch>
        </p:blipFill>
        <p:spPr>
          <a:xfrm>
            <a:off x="7412736" y="5852160"/>
            <a:ext cx="329184" cy="329184"/>
          </a:xfrm>
          <a:prstGeom prst="rect">
            <a:avLst/>
          </a:prstGeom>
        </p:spPr>
      </p:pic>
      <p:sp>
        <p:nvSpPr>
          <p:cNvPr id="33" name="Flow arrow 4"/>
          <p:cNvSpPr txBox="1"/>
          <p:nvPr/>
        </p:nvSpPr>
        <p:spPr>
          <a:xfrm>
            <a:off x="7869936" y="2880360"/>
            <a:ext cx="292608" cy="457200"/>
          </a:xfrm>
          <a:prstGeom prst="rect">
            <a:avLst/>
          </a:prstGeom>
          <a:noFill/>
          <a:ln/>
        </p:spPr>
        <p:txBody>
          <a:bodyPr wrap="square" lIns="0" tIns="0" rIns="0" bIns="0" rtlCol="0" anchor="ctr"/>
          <a:lstStyle/>
          <a:p>
            <a:pPr algn="ctr" indent="0" marL="0">
              <a:buNone/>
            </a:pPr>
            <a:r>
              <a:rPr lang="en-US" sz="2400" b="1" dirty="0">
                <a:solidFill>
                  <a:schemeClr val="accent2"/>
                </a:solidFill>
              </a:rPr>
              <a:t>›</a:t>
            </a:r>
            <a:endParaRPr lang="en-US" sz="2400" dirty="0"/>
          </a:p>
        </p:txBody>
      </p:sp>
      <p:sp>
        <p:nvSpPr>
          <p:cNvPr id="34" name="Step card 5"/>
          <p:cNvSpPr/>
          <p:nvPr/>
        </p:nvSpPr>
        <p:spPr>
          <a:xfrm>
            <a:off x="8144256" y="1600200"/>
            <a:ext cx="1665732" cy="4709160"/>
          </a:xfrm>
          <a:prstGeom prst="roundRect">
            <a:avLst>
              <a:gd name="adj" fmla="val 5489"/>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35" name="Step screen 5" descr="/tmp/claude-0/-home-claude/604fe074-c4a3-59f5-a7f0-a4d942adf429/scratchpad/deck/th/g06_photo_matched.jpg">
            <a:hlinkClick r:id="rId22" tooltip="Open picture: Read and matched" action="ppaction://hlinksldjump"/>
          </p:cNvPr>
          <p:cNvPicPr>
            <a:picLocks noChangeAspect="1"/>
          </p:cNvPicPr>
          <p:nvPr/>
        </p:nvPicPr>
        <p:blipFill>
          <a:blip r:embed="rId19"/>
          <a:stretch>
            <a:fillRect/>
          </a:stretch>
        </p:blipFill>
        <p:spPr>
          <a:xfrm>
            <a:off x="8309773" y="1737360"/>
            <a:ext cx="1334697" cy="2788920"/>
          </a:xfrm>
          <a:prstGeom prst="rect">
            <a:avLst/>
          </a:prstGeom>
        </p:spPr>
      </p:pic>
      <p:sp>
        <p:nvSpPr>
          <p:cNvPr id="36" name="Step number 5"/>
          <p:cNvSpPr/>
          <p:nvPr/>
        </p:nvSpPr>
        <p:spPr>
          <a:xfrm>
            <a:off x="8281416" y="4690872"/>
            <a:ext cx="347472" cy="347472"/>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7" name="Step title 5"/>
          <p:cNvSpPr txBox="1"/>
          <p:nvPr/>
        </p:nvSpPr>
        <p:spPr>
          <a:xfrm>
            <a:off x="8692896" y="4636008"/>
            <a:ext cx="1025652"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Read and matched</a:t>
            </a:r>
            <a:endParaRPr lang="en-US" sz="1300" dirty="0"/>
          </a:p>
        </p:txBody>
      </p:sp>
      <p:sp>
        <p:nvSpPr>
          <p:cNvPr id="38" name="Step text 5"/>
          <p:cNvSpPr txBox="1"/>
          <p:nvPr/>
        </p:nvSpPr>
        <p:spPr>
          <a:xfrm>
            <a:off x="8281416" y="5166360"/>
            <a:ext cx="1391412" cy="658368"/>
          </a:xfrm>
          <a:prstGeom prst="rect">
            <a:avLst/>
          </a:prstGeom>
          <a:noFill/>
          <a:ln/>
        </p:spPr>
        <p:txBody>
          <a:bodyPr wrap="square" lIns="0" tIns="0" rIns="0" bIns="0" rtlCol="0" anchor="t"/>
          <a:lstStyle/>
          <a:p>
            <a:pPr indent="0" marL="0">
              <a:buNone/>
            </a:pPr>
            <a:r>
              <a:rPr lang="en-US" sz="1100" dirty="0">
                <a:solidFill>
                  <a:srgbClr val="4A5266"/>
                </a:solidFill>
              </a:rPr>
              <a:t>NF-08120, NF-08121 at HMIL as per ledger</a:t>
            </a:r>
            <a:endParaRPr lang="en-US" sz="1100" dirty="0"/>
          </a:p>
        </p:txBody>
      </p:sp>
      <p:pic>
        <p:nvPicPr>
          <p:cNvPr id="39" name="Open step 5" descr="preencoded.png">
            <a:hlinkClick r:id="rId22" tooltip="Open picture: Read and matched" action="ppaction://hlinksldjump"/>
          </p:cNvPr>
          <p:cNvPicPr>
            <a:picLocks noChangeAspect="1"/>
          </p:cNvPicPr>
          <p:nvPr/>
        </p:nvPicPr>
        <p:blipFill>
          <a:blip r:embed="rId21"/>
          <a:stretch>
            <a:fillRect/>
          </a:stretch>
        </p:blipFill>
        <p:spPr>
          <a:xfrm>
            <a:off x="9334500" y="5852160"/>
            <a:ext cx="329184" cy="329184"/>
          </a:xfrm>
          <a:prstGeom prst="rect">
            <a:avLst/>
          </a:prstGeom>
        </p:spPr>
      </p:pic>
      <p:sp>
        <p:nvSpPr>
          <p:cNvPr id="40" name="Flow arrow 5"/>
          <p:cNvSpPr txBox="1"/>
          <p:nvPr/>
        </p:nvSpPr>
        <p:spPr>
          <a:xfrm>
            <a:off x="9791700" y="2880360"/>
            <a:ext cx="292608" cy="457200"/>
          </a:xfrm>
          <a:prstGeom prst="rect">
            <a:avLst/>
          </a:prstGeom>
          <a:noFill/>
          <a:ln/>
        </p:spPr>
        <p:txBody>
          <a:bodyPr wrap="square" lIns="0" tIns="0" rIns="0" bIns="0" rtlCol="0" anchor="ctr"/>
          <a:lstStyle/>
          <a:p>
            <a:pPr algn="ctr" indent="0" marL="0">
              <a:buNone/>
            </a:pPr>
            <a:r>
              <a:rPr lang="en-US" sz="2400" b="1" dirty="0">
                <a:solidFill>
                  <a:schemeClr val="accent2"/>
                </a:solidFill>
              </a:rPr>
              <a:t>›</a:t>
            </a:r>
            <a:endParaRPr lang="en-US" sz="2400" dirty="0"/>
          </a:p>
        </p:txBody>
      </p:sp>
      <p:sp>
        <p:nvSpPr>
          <p:cNvPr id="41" name="Step card 6"/>
          <p:cNvSpPr/>
          <p:nvPr/>
        </p:nvSpPr>
        <p:spPr>
          <a:xfrm>
            <a:off x="10066020" y="1600200"/>
            <a:ext cx="1665732" cy="4709160"/>
          </a:xfrm>
          <a:prstGeom prst="roundRect">
            <a:avLst>
              <a:gd name="adj" fmla="val 5489"/>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42" name="Step screen 6" descr="/tmp/claude-0/-home-claude/604fe074-c4a3-59f5-a7f0-a4d942adf429/scratchpad/deck/th/g07_optB_created.jpg">
            <a:hlinkClick r:id="rId26" tooltip="Open picture: Option B slip" action="ppaction://hlinksldjump"/>
          </p:cNvPr>
          <p:cNvPicPr>
            <a:picLocks noChangeAspect="1"/>
          </p:cNvPicPr>
          <p:nvPr/>
        </p:nvPicPr>
        <p:blipFill>
          <a:blip r:embed="rId23"/>
          <a:stretch>
            <a:fillRect/>
          </a:stretch>
        </p:blipFill>
        <p:spPr>
          <a:xfrm>
            <a:off x="10231537" y="1737360"/>
            <a:ext cx="1334697" cy="2788920"/>
          </a:xfrm>
          <a:prstGeom prst="rect">
            <a:avLst/>
          </a:prstGeom>
        </p:spPr>
      </p:pic>
      <p:sp>
        <p:nvSpPr>
          <p:cNvPr id="43" name="Step number 6"/>
          <p:cNvSpPr/>
          <p:nvPr/>
        </p:nvSpPr>
        <p:spPr>
          <a:xfrm>
            <a:off x="10203180" y="4690872"/>
            <a:ext cx="347472" cy="347472"/>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44" name="Step title 6"/>
          <p:cNvSpPr txBox="1"/>
          <p:nvPr/>
        </p:nvSpPr>
        <p:spPr>
          <a:xfrm>
            <a:off x="10614660" y="4636008"/>
            <a:ext cx="1025652"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Option B slip</a:t>
            </a:r>
            <a:endParaRPr lang="en-US" sz="1300" dirty="0"/>
          </a:p>
        </p:txBody>
      </p:sp>
      <p:sp>
        <p:nvSpPr>
          <p:cNvPr id="45" name="Step text 6"/>
          <p:cNvSpPr txBox="1"/>
          <p:nvPr/>
        </p:nvSpPr>
        <p:spPr>
          <a:xfrm>
            <a:off x="10203180" y="5166360"/>
            <a:ext cx="1391412" cy="658368"/>
          </a:xfrm>
          <a:prstGeom prst="rect">
            <a:avLst/>
          </a:prstGeom>
          <a:noFill/>
          <a:ln/>
        </p:spPr>
        <p:txBody>
          <a:bodyPr wrap="square" lIns="0" tIns="0" rIns="0" bIns="0" rtlCol="0" anchor="t"/>
          <a:lstStyle/>
          <a:p>
            <a:pPr indent="0" marL="0">
              <a:buNone/>
            </a:pPr>
            <a:r>
              <a:rPr lang="en-US" sz="1100" dirty="0">
                <a:solidFill>
                  <a:srgbClr val="4A5266"/>
                </a:solidFill>
              </a:rPr>
              <a:t>Gate entry made with the slip</a:t>
            </a:r>
            <a:endParaRPr lang="en-US" sz="1100" dirty="0"/>
          </a:p>
        </p:txBody>
      </p:sp>
      <p:pic>
        <p:nvPicPr>
          <p:cNvPr id="46" name="Open step 6" descr="preencoded.png">
            <a:hlinkClick r:id="rId26" tooltip="Open picture: Option B slip" action="ppaction://hlinksldjump"/>
          </p:cNvPr>
          <p:cNvPicPr>
            <a:picLocks noChangeAspect="1"/>
          </p:cNvPicPr>
          <p:nvPr/>
        </p:nvPicPr>
        <p:blipFill>
          <a:blip r:embed="rId25"/>
          <a:stretch>
            <a:fillRect/>
          </a:stretch>
        </p:blipFill>
        <p:spPr>
          <a:xfrm>
            <a:off x="11256264" y="5852160"/>
            <a:ext cx="329184" cy="329184"/>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457200" y="320040"/>
            <a:ext cx="9509760" cy="640080"/>
          </a:xfrm>
          <a:prstGeom prst="rect">
            <a:avLst/>
          </a:prstGeom>
          <a:noFill/>
          <a:ln/>
        </p:spPr>
        <p:txBody>
          <a:bodyPr wrap="square" lIns="0" tIns="0" rIns="0" bIns="0" rtlCol="0" anchor="ctr"/>
          <a:lstStyle/>
          <a:p>
            <a:pPr indent="0" marL="0">
              <a:buNone/>
            </a:pPr>
            <a:r>
              <a:rPr lang="en-US" sz="3200" b="1" dirty="0">
                <a:solidFill>
                  <a:schemeClr val="tx2"/>
                </a:solidFill>
              </a:rPr>
              <a:t>IN gate - every inward is registered (2/2)</a:t>
            </a:r>
            <a:endParaRPr lang="en-US" sz="3200" dirty="0"/>
          </a:p>
        </p:txBody>
      </p:sp>
      <p:sp>
        <p:nvSpPr>
          <p:cNvPr id="3" name="Subtitle"/>
          <p:cNvSpPr txBox="1"/>
          <p:nvPr/>
        </p:nvSpPr>
        <p:spPr>
          <a:xfrm>
            <a:off x="457200" y="960120"/>
            <a:ext cx="9692640" cy="411480"/>
          </a:xfrm>
          <a:prstGeom prst="rect">
            <a:avLst/>
          </a:prstGeom>
          <a:noFill/>
          <a:ln/>
        </p:spPr>
        <p:txBody>
          <a:bodyPr wrap="square" lIns="0" tIns="0" rIns="0" bIns="0" rtlCol="0" anchor="ctr"/>
          <a:lstStyle/>
          <a:p>
            <a:pPr indent="0" marL="0">
              <a:buNone/>
            </a:pPr>
            <a:r>
              <a:rPr lang="en-US" sz="1500" dirty="0">
                <a:solidFill>
                  <a:srgbClr val="4A5266"/>
                </a:solidFill>
              </a:rPr>
              <a:t>Slip A → scan its QR · No slip → make Option B with document photo · Other plant → scan challan</a:t>
            </a:r>
            <a:endParaRPr lang="en-US" sz="1500" dirty="0"/>
          </a:p>
        </p:txBody>
      </p:sp>
      <p:sp>
        <p:nvSpPr>
          <p:cNvPr id="4" name="Who"/>
          <p:cNvSpPr/>
          <p:nvPr/>
        </p:nvSpPr>
        <p:spPr>
          <a:xfrm>
            <a:off x="9966960" y="384048"/>
            <a:ext cx="1783080" cy="457200"/>
          </a:xfrm>
          <a:prstGeom prst="roundRect">
            <a:avLst>
              <a:gd name="adj" fmla="val 20000"/>
            </a:avLst>
          </a:prstGeom>
          <a:solidFill>
            <a:schemeClr val="accent2"/>
          </a:solidFill>
          <a:ln/>
        </p:spPr>
        <p:txBody>
          <a:bodyPr wrap="square" lIns="38100" tIns="38100" rIns="38100" bIns="38100" rtlCol="0" anchor="ctr"/>
          <a:lstStyle/>
          <a:p>
            <a:pPr algn="ctr" indent="0" marL="0">
              <a:buNone/>
            </a:pPr>
            <a:r>
              <a:rPr lang="en-US" sz="1100" b="1" dirty="0">
                <a:solidFill>
                  <a:schemeClr val="bg1"/>
                </a:solidFill>
              </a:rPr>
              <a:t>Security - IN gate</a:t>
            </a:r>
            <a:endParaRPr lang="en-US" sz="1100" dirty="0"/>
          </a:p>
        </p:txBody>
      </p:sp>
      <p:pic>
        <p:nvPicPr>
          <p:cNvPr id="5" name="Back to map" descr="preencoded.png">
            <a:hlinkClick r:id="rId2" tooltip="Process map" action="ppaction://hlinksldjump"/>
          </p:cNvPr>
          <p:cNvPicPr>
            <a:picLocks noChangeAspect="1"/>
          </p:cNvPicPr>
          <p:nvPr/>
        </p:nvPicPr>
        <p:blipFill>
          <a:blip r:embed="rId1"/>
          <a:stretch>
            <a:fillRect/>
          </a:stretch>
        </p:blipFill>
        <p:spPr>
          <a:xfrm>
            <a:off x="11384280" y="987552"/>
            <a:ext cx="329184" cy="329184"/>
          </a:xfrm>
          <a:prstGeom prst="rect">
            <a:avLst/>
          </a:prstGeom>
        </p:spPr>
      </p:pic>
      <p:sp>
        <p:nvSpPr>
          <p:cNvPr id="6" name="Step card 1"/>
          <p:cNvSpPr/>
          <p:nvPr/>
        </p:nvSpPr>
        <p:spPr>
          <a:xfrm>
            <a:off x="457200" y="1600200"/>
            <a:ext cx="3587496" cy="4709160"/>
          </a:xfrm>
          <a:prstGeom prst="roundRect">
            <a:avLst>
              <a:gd name="adj" fmla="val 2549"/>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7" name="Step screen 1" descr="/tmp/claude-0/-home-claude/604fe074-c4a3-59f5-a7f0-a4d942adf429/scratchpad/deck/th/o_dc_photo.jpg">
            <a:hlinkClick r:id="rId6" tooltip="Open picture: Customer document" action="ppaction://hlinksldjump"/>
          </p:cNvPr>
          <p:cNvPicPr>
            <a:picLocks noChangeAspect="1"/>
          </p:cNvPicPr>
          <p:nvPr/>
        </p:nvPicPr>
        <p:blipFill>
          <a:blip r:embed="rId3"/>
          <a:stretch>
            <a:fillRect/>
          </a:stretch>
        </p:blipFill>
        <p:spPr>
          <a:xfrm>
            <a:off x="594360" y="1889379"/>
            <a:ext cx="3313176" cy="2484882"/>
          </a:xfrm>
          <a:prstGeom prst="rect">
            <a:avLst/>
          </a:prstGeom>
        </p:spPr>
      </p:pic>
      <p:sp>
        <p:nvSpPr>
          <p:cNvPr id="8" name="Step number 1"/>
          <p:cNvSpPr/>
          <p:nvPr/>
        </p:nvSpPr>
        <p:spPr>
          <a:xfrm>
            <a:off x="594360" y="4690872"/>
            <a:ext cx="347472" cy="347472"/>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9" name="Step title 1"/>
          <p:cNvSpPr txBox="1"/>
          <p:nvPr/>
        </p:nvSpPr>
        <p:spPr>
          <a:xfrm>
            <a:off x="1005840" y="4636008"/>
            <a:ext cx="2947416"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Customer document</a:t>
            </a:r>
            <a:endParaRPr lang="en-US" sz="1300" dirty="0"/>
          </a:p>
        </p:txBody>
      </p:sp>
      <p:sp>
        <p:nvSpPr>
          <p:cNvPr id="10" name="Step text 1"/>
          <p:cNvSpPr txBox="1"/>
          <p:nvPr/>
        </p:nvSpPr>
        <p:spPr>
          <a:xfrm>
            <a:off x="594360" y="5166360"/>
            <a:ext cx="3313176" cy="658368"/>
          </a:xfrm>
          <a:prstGeom prst="rect">
            <a:avLst/>
          </a:prstGeom>
          <a:noFill/>
          <a:ln/>
        </p:spPr>
        <p:txBody>
          <a:bodyPr wrap="square" lIns="0" tIns="0" rIns="0" bIns="0" rtlCol="0" anchor="t"/>
          <a:lstStyle/>
          <a:p>
            <a:pPr indent="0" marL="0">
              <a:buNone/>
            </a:pPr>
            <a:r>
              <a:rPr lang="en-US" sz="1100" dirty="0">
                <a:solidFill>
                  <a:srgbClr val="4A5266"/>
                </a:solidFill>
              </a:rPr>
              <a:t>Kept with the slip on the server</a:t>
            </a:r>
            <a:endParaRPr lang="en-US" sz="1100" dirty="0"/>
          </a:p>
        </p:txBody>
      </p:sp>
      <p:pic>
        <p:nvPicPr>
          <p:cNvPr id="11" name="Open step 1" descr="preencoded.png">
            <a:hlinkClick r:id="rId6" tooltip="Open picture: Customer document" action="ppaction://hlinksldjump"/>
          </p:cNvPr>
          <p:cNvPicPr>
            <a:picLocks noChangeAspect="1"/>
          </p:cNvPicPr>
          <p:nvPr/>
        </p:nvPicPr>
        <p:blipFill>
          <a:blip r:embed="rId5"/>
          <a:stretch>
            <a:fillRect/>
          </a:stretch>
        </p:blipFill>
        <p:spPr>
          <a:xfrm>
            <a:off x="3569208" y="5852160"/>
            <a:ext cx="329184" cy="329184"/>
          </a:xfrm>
          <a:prstGeom prst="rect">
            <a:avLst/>
          </a:prstGeom>
        </p:spPr>
      </p:pic>
      <p:sp>
        <p:nvSpPr>
          <p:cNvPr id="12" name="Flow arrow 1"/>
          <p:cNvSpPr txBox="1"/>
          <p:nvPr/>
        </p:nvSpPr>
        <p:spPr>
          <a:xfrm>
            <a:off x="4026408" y="2880360"/>
            <a:ext cx="292608" cy="457200"/>
          </a:xfrm>
          <a:prstGeom prst="rect">
            <a:avLst/>
          </a:prstGeom>
          <a:noFill/>
          <a:ln/>
        </p:spPr>
        <p:txBody>
          <a:bodyPr wrap="square" lIns="0" tIns="0" rIns="0" bIns="0" rtlCol="0" anchor="ctr"/>
          <a:lstStyle/>
          <a:p>
            <a:pPr algn="ctr" indent="0" marL="0">
              <a:buNone/>
            </a:pPr>
            <a:r>
              <a:rPr lang="en-US" sz="2400" b="1" dirty="0">
                <a:solidFill>
                  <a:schemeClr val="accent2"/>
                </a:solidFill>
              </a:rPr>
              <a:t>›</a:t>
            </a:r>
            <a:endParaRPr lang="en-US" sz="2400" dirty="0"/>
          </a:p>
        </p:txBody>
      </p:sp>
      <p:sp>
        <p:nvSpPr>
          <p:cNvPr id="13" name="Step card 2"/>
          <p:cNvSpPr/>
          <p:nvPr/>
        </p:nvSpPr>
        <p:spPr>
          <a:xfrm>
            <a:off x="4300728" y="1600200"/>
            <a:ext cx="3587496" cy="4709160"/>
          </a:xfrm>
          <a:prstGeom prst="roundRect">
            <a:avLst>
              <a:gd name="adj" fmla="val 2549"/>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14" name="Step screen 2" descr="/tmp/claude-0/-home-claude/604fe074-c4a3-59f5-a7f0-a4d942adf429/scratchpad/deck/th/o_slipB.jpg">
            <a:hlinkClick r:id="rId10" tooltip="Open picture: Output: Option B slip" action="ppaction://hlinksldjump"/>
          </p:cNvPr>
          <p:cNvPicPr>
            <a:picLocks noChangeAspect="1"/>
          </p:cNvPicPr>
          <p:nvPr/>
        </p:nvPicPr>
        <p:blipFill>
          <a:blip r:embed="rId7"/>
          <a:stretch>
            <a:fillRect/>
          </a:stretch>
        </p:blipFill>
        <p:spPr>
          <a:xfrm>
            <a:off x="5186085" y="1737360"/>
            <a:ext cx="1816782" cy="2788920"/>
          </a:xfrm>
          <a:prstGeom prst="rect">
            <a:avLst/>
          </a:prstGeom>
        </p:spPr>
      </p:pic>
      <p:sp>
        <p:nvSpPr>
          <p:cNvPr id="15" name="Step number 2"/>
          <p:cNvSpPr/>
          <p:nvPr/>
        </p:nvSpPr>
        <p:spPr>
          <a:xfrm>
            <a:off x="4437888" y="4690872"/>
            <a:ext cx="347472" cy="347472"/>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16" name="Step title 2"/>
          <p:cNvSpPr txBox="1"/>
          <p:nvPr/>
        </p:nvSpPr>
        <p:spPr>
          <a:xfrm>
            <a:off x="4849368" y="4636008"/>
            <a:ext cx="2947416"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Output: Option B slip</a:t>
            </a:r>
            <a:endParaRPr lang="en-US" sz="1300" dirty="0"/>
          </a:p>
        </p:txBody>
      </p:sp>
      <p:sp>
        <p:nvSpPr>
          <p:cNvPr id="17" name="Step text 2"/>
          <p:cNvSpPr txBox="1"/>
          <p:nvPr/>
        </p:nvSpPr>
        <p:spPr>
          <a:xfrm>
            <a:off x="4437888" y="5166360"/>
            <a:ext cx="3313176" cy="658368"/>
          </a:xfrm>
          <a:prstGeom prst="rect">
            <a:avLst/>
          </a:prstGeom>
          <a:noFill/>
          <a:ln/>
        </p:spPr>
        <p:txBody>
          <a:bodyPr wrap="square" lIns="0" tIns="0" rIns="0" bIns="0" rtlCol="0" anchor="t"/>
          <a:lstStyle/>
          <a:p>
            <a:pPr indent="0" marL="0">
              <a:buNone/>
            </a:pPr>
            <a:r>
              <a:rPr lang="en-US" sz="1100" dirty="0">
                <a:solidFill>
                  <a:srgbClr val="4A5266"/>
                </a:solidFill>
              </a:rPr>
              <a:t>Count only - knocked off at the yard</a:t>
            </a:r>
            <a:endParaRPr lang="en-US" sz="1100" dirty="0"/>
          </a:p>
        </p:txBody>
      </p:sp>
      <p:pic>
        <p:nvPicPr>
          <p:cNvPr id="18" name="Open step 2" descr="preencoded.png">
            <a:hlinkClick r:id="rId10" tooltip="Open picture: Output: Option B slip" action="ppaction://hlinksldjump"/>
          </p:cNvPr>
          <p:cNvPicPr>
            <a:picLocks noChangeAspect="1"/>
          </p:cNvPicPr>
          <p:nvPr/>
        </p:nvPicPr>
        <p:blipFill>
          <a:blip r:embed="rId9"/>
          <a:stretch>
            <a:fillRect/>
          </a:stretch>
        </p:blipFill>
        <p:spPr>
          <a:xfrm>
            <a:off x="7412736" y="5852160"/>
            <a:ext cx="329184" cy="329184"/>
          </a:xfrm>
          <a:prstGeom prst="rect">
            <a:avLst/>
          </a:prstGeom>
        </p:spPr>
      </p:pic>
      <p:sp>
        <p:nvSpPr>
          <p:cNvPr id="19" name="Flow arrow 2"/>
          <p:cNvSpPr txBox="1"/>
          <p:nvPr/>
        </p:nvSpPr>
        <p:spPr>
          <a:xfrm>
            <a:off x="7869936" y="2880360"/>
            <a:ext cx="292608" cy="457200"/>
          </a:xfrm>
          <a:prstGeom prst="rect">
            <a:avLst/>
          </a:prstGeom>
          <a:noFill/>
          <a:ln/>
        </p:spPr>
        <p:txBody>
          <a:bodyPr wrap="square" lIns="0" tIns="0" rIns="0" bIns="0" rtlCol="0" anchor="ctr"/>
          <a:lstStyle/>
          <a:p>
            <a:pPr algn="ctr" indent="0" marL="0">
              <a:buNone/>
            </a:pPr>
            <a:r>
              <a:rPr lang="en-US" sz="2400" b="1" dirty="0">
                <a:solidFill>
                  <a:schemeClr val="accent2"/>
                </a:solidFill>
              </a:rPr>
              <a:t>›</a:t>
            </a:r>
            <a:endParaRPr lang="en-US" sz="2400" dirty="0"/>
          </a:p>
        </p:txBody>
      </p:sp>
      <p:sp>
        <p:nvSpPr>
          <p:cNvPr id="20" name="Step card 3"/>
          <p:cNvSpPr/>
          <p:nvPr/>
        </p:nvSpPr>
        <p:spPr>
          <a:xfrm>
            <a:off x="8144256" y="1600200"/>
            <a:ext cx="3587496" cy="4709160"/>
          </a:xfrm>
          <a:prstGeom prst="roundRect">
            <a:avLst>
              <a:gd name="adj" fmla="val 2549"/>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21" name="Step screen 3" descr="/tmp/claude-0/-home-claude/604fe074-c4a3-59f5-a7f0-a4d942adf429/scratchpad/deck/th/w04_gate_register_chn.jpg">
            <a:hlinkClick r:id="rId14" tooltip="Open picture: Gate inward register (web)" action="ppaction://hlinksldjump"/>
          </p:cNvPr>
          <p:cNvPicPr>
            <a:picLocks noChangeAspect="1"/>
          </p:cNvPicPr>
          <p:nvPr/>
        </p:nvPicPr>
        <p:blipFill>
          <a:blip r:embed="rId11"/>
          <a:stretch>
            <a:fillRect/>
          </a:stretch>
        </p:blipFill>
        <p:spPr>
          <a:xfrm>
            <a:off x="8281416" y="2096452"/>
            <a:ext cx="3313176" cy="2070735"/>
          </a:xfrm>
          <a:prstGeom prst="rect">
            <a:avLst/>
          </a:prstGeom>
        </p:spPr>
      </p:pic>
      <p:sp>
        <p:nvSpPr>
          <p:cNvPr id="22" name="Step number 3"/>
          <p:cNvSpPr/>
          <p:nvPr/>
        </p:nvSpPr>
        <p:spPr>
          <a:xfrm>
            <a:off x="8281416" y="4690872"/>
            <a:ext cx="347472" cy="347472"/>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9</a:t>
            </a:r>
            <a:endParaRPr lang="en-US" sz="1300" dirty="0"/>
          </a:p>
        </p:txBody>
      </p:sp>
      <p:sp>
        <p:nvSpPr>
          <p:cNvPr id="23" name="Step title 3"/>
          <p:cNvSpPr txBox="1"/>
          <p:nvPr/>
        </p:nvSpPr>
        <p:spPr>
          <a:xfrm>
            <a:off x="8692896" y="4636008"/>
            <a:ext cx="2947416"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Gate inward register (web)</a:t>
            </a:r>
            <a:endParaRPr lang="en-US" sz="1300" dirty="0"/>
          </a:p>
        </p:txBody>
      </p:sp>
      <p:sp>
        <p:nvSpPr>
          <p:cNvPr id="24" name="Step text 3"/>
          <p:cNvSpPr txBox="1"/>
          <p:nvPr/>
        </p:nvSpPr>
        <p:spPr>
          <a:xfrm>
            <a:off x="8281416" y="5166360"/>
            <a:ext cx="3313176" cy="658368"/>
          </a:xfrm>
          <a:prstGeom prst="rect">
            <a:avLst/>
          </a:prstGeom>
          <a:noFill/>
          <a:ln/>
        </p:spPr>
        <p:txBody>
          <a:bodyPr wrap="square" lIns="0" tIns="0" rIns="0" bIns="0" rtlCol="0" anchor="t"/>
          <a:lstStyle/>
          <a:p>
            <a:pPr indent="0" marL="0">
              <a:buNone/>
            </a:pPr>
            <a:r>
              <a:rPr lang="en-US" sz="1100" dirty="0">
                <a:solidFill>
                  <a:srgbClr val="4A5266"/>
                </a:solidFill>
              </a:rPr>
              <a:t>Every inward with its yard status</a:t>
            </a:r>
            <a:endParaRPr lang="en-US" sz="1100" dirty="0"/>
          </a:p>
        </p:txBody>
      </p:sp>
      <p:pic>
        <p:nvPicPr>
          <p:cNvPr id="25" name="Open step 3" descr="preencoded.png">
            <a:hlinkClick r:id="rId14" tooltip="Open picture: Gate inward register (web)" action="ppaction://hlinksldjump"/>
          </p:cNvPr>
          <p:cNvPicPr>
            <a:picLocks noChangeAspect="1"/>
          </p:cNvPicPr>
          <p:nvPr/>
        </p:nvPicPr>
        <p:blipFill>
          <a:blip r:embed="rId13"/>
          <a:stretch>
            <a:fillRect/>
          </a:stretch>
        </p:blipFill>
        <p:spPr>
          <a:xfrm>
            <a:off x="11256264" y="5852160"/>
            <a:ext cx="329184" cy="329184"/>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457200" y="320040"/>
            <a:ext cx="9509760" cy="640080"/>
          </a:xfrm>
          <a:prstGeom prst="rect">
            <a:avLst/>
          </a:prstGeom>
          <a:noFill/>
          <a:ln/>
        </p:spPr>
        <p:txBody>
          <a:bodyPr wrap="square" lIns="0" tIns="0" rIns="0" bIns="0" rtlCol="0" anchor="ctr"/>
          <a:lstStyle/>
          <a:p>
            <a:pPr indent="0" marL="0">
              <a:buNone/>
            </a:pPr>
            <a:r>
              <a:rPr lang="en-US" sz="3200" b="1" dirty="0">
                <a:solidFill>
                  <a:schemeClr val="tx2"/>
                </a:solidFill>
              </a:rPr>
              <a:t>Pallet yard in-ward</a:t>
            </a:r>
            <a:endParaRPr lang="en-US" sz="3200" dirty="0"/>
          </a:p>
        </p:txBody>
      </p:sp>
      <p:sp>
        <p:nvSpPr>
          <p:cNvPr id="3" name="Subtitle"/>
          <p:cNvSpPr txBox="1"/>
          <p:nvPr/>
        </p:nvSpPr>
        <p:spPr>
          <a:xfrm>
            <a:off x="457200" y="960120"/>
            <a:ext cx="9692640" cy="411480"/>
          </a:xfrm>
          <a:prstGeom prst="rect">
            <a:avLst/>
          </a:prstGeom>
          <a:noFill/>
          <a:ln/>
        </p:spPr>
        <p:txBody>
          <a:bodyPr wrap="square" lIns="0" tIns="0" rIns="0" bIns="0" rtlCol="0" anchor="ctr"/>
          <a:lstStyle/>
          <a:p>
            <a:pPr indent="0" marL="0">
              <a:buNone/>
            </a:pPr>
            <a:r>
              <a:rPr lang="en-US" sz="1500" dirty="0">
                <a:solidFill>
                  <a:srgbClr val="4A5266"/>
                </a:solidFill>
              </a:rPr>
              <a:t>Scan the RTS - the HHT knows if it is Option A or B and follows that process</a:t>
            </a:r>
            <a:endParaRPr lang="en-US" sz="1500" dirty="0"/>
          </a:p>
        </p:txBody>
      </p:sp>
      <p:sp>
        <p:nvSpPr>
          <p:cNvPr id="4" name="Who"/>
          <p:cNvSpPr/>
          <p:nvPr/>
        </p:nvSpPr>
        <p:spPr>
          <a:xfrm>
            <a:off x="9966960" y="384048"/>
            <a:ext cx="1783080" cy="457200"/>
          </a:xfrm>
          <a:prstGeom prst="roundRect">
            <a:avLst>
              <a:gd name="adj" fmla="val 20000"/>
            </a:avLst>
          </a:prstGeom>
          <a:solidFill>
            <a:schemeClr val="accent5"/>
          </a:solidFill>
          <a:ln/>
        </p:spPr>
        <p:txBody>
          <a:bodyPr wrap="square" lIns="38100" tIns="38100" rIns="38100" bIns="38100" rtlCol="0" anchor="ctr"/>
          <a:lstStyle/>
          <a:p>
            <a:pPr algn="ctr" indent="0" marL="0">
              <a:buNone/>
            </a:pPr>
            <a:r>
              <a:rPr lang="en-US" sz="1100" b="1" dirty="0">
                <a:solidFill>
                  <a:schemeClr val="bg1"/>
                </a:solidFill>
              </a:rPr>
              <a:t>Pallet yard</a:t>
            </a:r>
            <a:endParaRPr lang="en-US" sz="1100" dirty="0"/>
          </a:p>
        </p:txBody>
      </p:sp>
      <p:pic>
        <p:nvPicPr>
          <p:cNvPr id="5" name="Back to map" descr="preencoded.png">
            <a:hlinkClick r:id="rId2" tooltip="Process map" action="ppaction://hlinksldjump"/>
          </p:cNvPr>
          <p:cNvPicPr>
            <a:picLocks noChangeAspect="1"/>
          </p:cNvPicPr>
          <p:nvPr/>
        </p:nvPicPr>
        <p:blipFill>
          <a:blip r:embed="rId1"/>
          <a:stretch>
            <a:fillRect/>
          </a:stretch>
        </p:blipFill>
        <p:spPr>
          <a:xfrm>
            <a:off x="11384280" y="987552"/>
            <a:ext cx="329184" cy="329184"/>
          </a:xfrm>
          <a:prstGeom prst="rect">
            <a:avLst/>
          </a:prstGeom>
        </p:spPr>
      </p:pic>
      <p:sp>
        <p:nvSpPr>
          <p:cNvPr id="6" name="Step card 1"/>
          <p:cNvSpPr/>
          <p:nvPr/>
        </p:nvSpPr>
        <p:spPr>
          <a:xfrm>
            <a:off x="457200" y="1600200"/>
            <a:ext cx="1665732" cy="4709160"/>
          </a:xfrm>
          <a:prstGeom prst="roundRect">
            <a:avLst>
              <a:gd name="adj" fmla="val 5489"/>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7" name="Step screen 1" descr="/tmp/claude-0/-home-claude/604fe074-c4a3-59f5-a7f0-a4d942adf429/scratchpad/deck/th/y01_list.jpg">
            <a:hlinkClick r:id="rId6" tooltip="Open picture: Slips to receive" action="ppaction://hlinksldjump"/>
          </p:cNvPr>
          <p:cNvPicPr>
            <a:picLocks noChangeAspect="1"/>
          </p:cNvPicPr>
          <p:nvPr/>
        </p:nvPicPr>
        <p:blipFill>
          <a:blip r:embed="rId3"/>
          <a:stretch>
            <a:fillRect/>
          </a:stretch>
        </p:blipFill>
        <p:spPr>
          <a:xfrm>
            <a:off x="622717" y="1737360"/>
            <a:ext cx="1334697" cy="2788920"/>
          </a:xfrm>
          <a:prstGeom prst="rect">
            <a:avLst/>
          </a:prstGeom>
        </p:spPr>
      </p:pic>
      <p:sp>
        <p:nvSpPr>
          <p:cNvPr id="8" name="Step number 1"/>
          <p:cNvSpPr/>
          <p:nvPr/>
        </p:nvSpPr>
        <p:spPr>
          <a:xfrm>
            <a:off x="594360" y="4690872"/>
            <a:ext cx="347472" cy="347472"/>
          </a:xfrm>
          <a:prstGeom prst="ellipse">
            <a:avLst/>
          </a:prstGeom>
          <a:solidFill>
            <a:schemeClr val="accent5"/>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Step title 1"/>
          <p:cNvSpPr txBox="1"/>
          <p:nvPr/>
        </p:nvSpPr>
        <p:spPr>
          <a:xfrm>
            <a:off x="1005840" y="4636008"/>
            <a:ext cx="1025652"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Slips to receive</a:t>
            </a:r>
            <a:endParaRPr lang="en-US" sz="1300" dirty="0"/>
          </a:p>
        </p:txBody>
      </p:sp>
      <p:sp>
        <p:nvSpPr>
          <p:cNvPr id="10" name="Step text 1"/>
          <p:cNvSpPr txBox="1"/>
          <p:nvPr/>
        </p:nvSpPr>
        <p:spPr>
          <a:xfrm>
            <a:off x="594360" y="5166360"/>
            <a:ext cx="1391412" cy="658368"/>
          </a:xfrm>
          <a:prstGeom prst="rect">
            <a:avLst/>
          </a:prstGeom>
          <a:noFill/>
          <a:ln/>
        </p:spPr>
        <p:txBody>
          <a:bodyPr wrap="square" lIns="0" tIns="0" rIns="0" bIns="0" rtlCol="0" anchor="t"/>
          <a:lstStyle/>
          <a:p>
            <a:pPr indent="0" marL="0">
              <a:buNone/>
            </a:pPr>
            <a:r>
              <a:rPr lang="en-US" sz="1100" dirty="0">
                <a:solidFill>
                  <a:srgbClr val="4A5266"/>
                </a:solidFill>
              </a:rPr>
              <a:t>Option A / Option B shown per slip</a:t>
            </a:r>
            <a:endParaRPr lang="en-US" sz="1100" dirty="0"/>
          </a:p>
        </p:txBody>
      </p:sp>
      <p:pic>
        <p:nvPicPr>
          <p:cNvPr id="11" name="Open step 1" descr="preencoded.png">
            <a:hlinkClick r:id="rId6" tooltip="Open picture: Slips to receive" action="ppaction://hlinksldjump"/>
          </p:cNvPr>
          <p:cNvPicPr>
            <a:picLocks noChangeAspect="1"/>
          </p:cNvPicPr>
          <p:nvPr/>
        </p:nvPicPr>
        <p:blipFill>
          <a:blip r:embed="rId5"/>
          <a:stretch>
            <a:fillRect/>
          </a:stretch>
        </p:blipFill>
        <p:spPr>
          <a:xfrm>
            <a:off x="1647444" y="5852160"/>
            <a:ext cx="329184" cy="329184"/>
          </a:xfrm>
          <a:prstGeom prst="rect">
            <a:avLst/>
          </a:prstGeom>
        </p:spPr>
      </p:pic>
      <p:sp>
        <p:nvSpPr>
          <p:cNvPr id="12" name="Flow arrow 1"/>
          <p:cNvSpPr txBox="1"/>
          <p:nvPr/>
        </p:nvSpPr>
        <p:spPr>
          <a:xfrm>
            <a:off x="2104644" y="2880360"/>
            <a:ext cx="292608" cy="457200"/>
          </a:xfrm>
          <a:prstGeom prst="rect">
            <a:avLst/>
          </a:prstGeom>
          <a:noFill/>
          <a:ln/>
        </p:spPr>
        <p:txBody>
          <a:bodyPr wrap="square" lIns="0" tIns="0" rIns="0" bIns="0" rtlCol="0" anchor="ctr"/>
          <a:lstStyle/>
          <a:p>
            <a:pPr algn="ctr" indent="0" marL="0">
              <a:buNone/>
            </a:pPr>
            <a:r>
              <a:rPr lang="en-US" sz="2400" b="1" dirty="0">
                <a:solidFill>
                  <a:schemeClr val="accent5"/>
                </a:solidFill>
              </a:rPr>
              <a:t>›</a:t>
            </a:r>
            <a:endParaRPr lang="en-US" sz="2400" dirty="0"/>
          </a:p>
        </p:txBody>
      </p:sp>
      <p:sp>
        <p:nvSpPr>
          <p:cNvPr id="13" name="Step card 2"/>
          <p:cNvSpPr/>
          <p:nvPr/>
        </p:nvSpPr>
        <p:spPr>
          <a:xfrm>
            <a:off x="2378964" y="1600200"/>
            <a:ext cx="1665732" cy="4709160"/>
          </a:xfrm>
          <a:prstGeom prst="roundRect">
            <a:avLst>
              <a:gd name="adj" fmla="val 5489"/>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14" name="Step screen 2" descr="/tmp/claude-0/-home-claude/604fe074-c4a3-59f5-a7f0-a4d942adf429/scratchpad/deck/th/y02_slipA_open.jpg">
            <a:hlinkClick r:id="rId10" tooltip="Open picture: Option A: steps" action="ppaction://hlinksldjump"/>
          </p:cNvPr>
          <p:cNvPicPr>
            <a:picLocks noChangeAspect="1"/>
          </p:cNvPicPr>
          <p:nvPr/>
        </p:nvPicPr>
        <p:blipFill>
          <a:blip r:embed="rId7"/>
          <a:stretch>
            <a:fillRect/>
          </a:stretch>
        </p:blipFill>
        <p:spPr>
          <a:xfrm>
            <a:off x="2544481" y="1737360"/>
            <a:ext cx="1334697" cy="2788920"/>
          </a:xfrm>
          <a:prstGeom prst="rect">
            <a:avLst/>
          </a:prstGeom>
        </p:spPr>
      </p:pic>
      <p:sp>
        <p:nvSpPr>
          <p:cNvPr id="15" name="Step number 2"/>
          <p:cNvSpPr/>
          <p:nvPr/>
        </p:nvSpPr>
        <p:spPr>
          <a:xfrm>
            <a:off x="2516124" y="4690872"/>
            <a:ext cx="347472" cy="347472"/>
          </a:xfrm>
          <a:prstGeom prst="ellipse">
            <a:avLst/>
          </a:prstGeom>
          <a:solidFill>
            <a:schemeClr val="accent5"/>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6" name="Step title 2"/>
          <p:cNvSpPr txBox="1"/>
          <p:nvPr/>
        </p:nvSpPr>
        <p:spPr>
          <a:xfrm>
            <a:off x="2927604" y="4636008"/>
            <a:ext cx="1025652"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Option A: steps</a:t>
            </a:r>
            <a:endParaRPr lang="en-US" sz="1300" dirty="0"/>
          </a:p>
        </p:txBody>
      </p:sp>
      <p:sp>
        <p:nvSpPr>
          <p:cNvPr id="17" name="Step text 2"/>
          <p:cNvSpPr txBox="1"/>
          <p:nvPr/>
        </p:nvSpPr>
        <p:spPr>
          <a:xfrm>
            <a:off x="2516124" y="5166360"/>
            <a:ext cx="1391412" cy="658368"/>
          </a:xfrm>
          <a:prstGeom prst="rect">
            <a:avLst/>
          </a:prstGeom>
          <a:noFill/>
          <a:ln/>
        </p:spPr>
        <p:txBody>
          <a:bodyPr wrap="square" lIns="0" tIns="0" rIns="0" bIns="0" rtlCol="0" anchor="t"/>
          <a:lstStyle/>
          <a:p>
            <a:pPr indent="0" marL="0">
              <a:buNone/>
            </a:pPr>
            <a:r>
              <a:rPr lang="en-US" sz="1100" dirty="0">
                <a:solidFill>
                  <a:srgbClr val="4A5266"/>
                </a:solidFill>
              </a:rPr>
              <a:t>Tick pallets against the slip list</a:t>
            </a:r>
            <a:endParaRPr lang="en-US" sz="1100" dirty="0"/>
          </a:p>
        </p:txBody>
      </p:sp>
      <p:pic>
        <p:nvPicPr>
          <p:cNvPr id="18" name="Open step 2" descr="preencoded.png">
            <a:hlinkClick r:id="rId10" tooltip="Open picture: Option A: steps" action="ppaction://hlinksldjump"/>
          </p:cNvPr>
          <p:cNvPicPr>
            <a:picLocks noChangeAspect="1"/>
          </p:cNvPicPr>
          <p:nvPr/>
        </p:nvPicPr>
        <p:blipFill>
          <a:blip r:embed="rId9"/>
          <a:stretch>
            <a:fillRect/>
          </a:stretch>
        </p:blipFill>
        <p:spPr>
          <a:xfrm>
            <a:off x="3569208" y="5852160"/>
            <a:ext cx="329184" cy="329184"/>
          </a:xfrm>
          <a:prstGeom prst="rect">
            <a:avLst/>
          </a:prstGeom>
        </p:spPr>
      </p:pic>
      <p:sp>
        <p:nvSpPr>
          <p:cNvPr id="19" name="Flow arrow 2"/>
          <p:cNvSpPr txBox="1"/>
          <p:nvPr/>
        </p:nvSpPr>
        <p:spPr>
          <a:xfrm>
            <a:off x="4026408" y="2880360"/>
            <a:ext cx="292608" cy="457200"/>
          </a:xfrm>
          <a:prstGeom prst="rect">
            <a:avLst/>
          </a:prstGeom>
          <a:noFill/>
          <a:ln/>
        </p:spPr>
        <p:txBody>
          <a:bodyPr wrap="square" lIns="0" tIns="0" rIns="0" bIns="0" rtlCol="0" anchor="ctr"/>
          <a:lstStyle/>
          <a:p>
            <a:pPr algn="ctr" indent="0" marL="0">
              <a:buNone/>
            </a:pPr>
            <a:r>
              <a:rPr lang="en-US" sz="2400" b="1" dirty="0">
                <a:solidFill>
                  <a:schemeClr val="accent5"/>
                </a:solidFill>
              </a:rPr>
              <a:t>›</a:t>
            </a:r>
            <a:endParaRPr lang="en-US" sz="2400" dirty="0"/>
          </a:p>
        </p:txBody>
      </p:sp>
      <p:sp>
        <p:nvSpPr>
          <p:cNvPr id="20" name="Step card 3"/>
          <p:cNvSpPr/>
          <p:nvPr/>
        </p:nvSpPr>
        <p:spPr>
          <a:xfrm>
            <a:off x="4300728" y="1600200"/>
            <a:ext cx="1665732" cy="4709160"/>
          </a:xfrm>
          <a:prstGeom prst="roundRect">
            <a:avLst>
              <a:gd name="adj" fmla="val 5489"/>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21" name="Step screen 3" descr="/tmp/claude-0/-home-claude/604fe074-c4a3-59f5-a7f0-a4d942adf429/scratchpad/deck/th/y03_slipA_all.jpg">
            <a:hlinkClick r:id="rId14" tooltip="Open picture: Option A: all matched" action="ppaction://hlinksldjump"/>
          </p:cNvPr>
          <p:cNvPicPr>
            <a:picLocks noChangeAspect="1"/>
          </p:cNvPicPr>
          <p:nvPr/>
        </p:nvPicPr>
        <p:blipFill>
          <a:blip r:embed="rId11"/>
          <a:stretch>
            <a:fillRect/>
          </a:stretch>
        </p:blipFill>
        <p:spPr>
          <a:xfrm>
            <a:off x="4466245" y="1737360"/>
            <a:ext cx="1334697" cy="2788920"/>
          </a:xfrm>
          <a:prstGeom prst="rect">
            <a:avLst/>
          </a:prstGeom>
        </p:spPr>
      </p:pic>
      <p:sp>
        <p:nvSpPr>
          <p:cNvPr id="22" name="Step number 3"/>
          <p:cNvSpPr/>
          <p:nvPr/>
        </p:nvSpPr>
        <p:spPr>
          <a:xfrm>
            <a:off x="4437888" y="4690872"/>
            <a:ext cx="347472" cy="347472"/>
          </a:xfrm>
          <a:prstGeom prst="ellipse">
            <a:avLst/>
          </a:prstGeom>
          <a:solidFill>
            <a:schemeClr val="accent5"/>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3" name="Step title 3"/>
          <p:cNvSpPr txBox="1"/>
          <p:nvPr/>
        </p:nvSpPr>
        <p:spPr>
          <a:xfrm>
            <a:off x="4849368" y="4636008"/>
            <a:ext cx="1025652"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Option A: all matched</a:t>
            </a:r>
            <a:endParaRPr lang="en-US" sz="1300" dirty="0"/>
          </a:p>
        </p:txBody>
      </p:sp>
      <p:sp>
        <p:nvSpPr>
          <p:cNvPr id="24" name="Step text 3"/>
          <p:cNvSpPr txBox="1"/>
          <p:nvPr/>
        </p:nvSpPr>
        <p:spPr>
          <a:xfrm>
            <a:off x="4437888" y="5166360"/>
            <a:ext cx="1391412" cy="658368"/>
          </a:xfrm>
          <a:prstGeom prst="rect">
            <a:avLst/>
          </a:prstGeom>
          <a:noFill/>
          <a:ln/>
        </p:spPr>
        <p:txBody>
          <a:bodyPr wrap="square" lIns="0" tIns="0" rIns="0" bIns="0" rtlCol="0" anchor="t"/>
          <a:lstStyle/>
          <a:p>
            <a:pPr indent="0" marL="0">
              <a:buNone/>
            </a:pPr>
            <a:r>
              <a:rPr lang="en-US" sz="1100" dirty="0">
                <a:solidFill>
                  <a:srgbClr val="4A5266"/>
                </a:solidFill>
              </a:rPr>
              <a:t>2 of 2 ticked → Reconcile &amp; close</a:t>
            </a:r>
            <a:endParaRPr lang="en-US" sz="1100" dirty="0"/>
          </a:p>
        </p:txBody>
      </p:sp>
      <p:pic>
        <p:nvPicPr>
          <p:cNvPr id="25" name="Open step 3" descr="preencoded.png">
            <a:hlinkClick r:id="rId14" tooltip="Open picture: Option A: all matched" action="ppaction://hlinksldjump"/>
          </p:cNvPr>
          <p:cNvPicPr>
            <a:picLocks noChangeAspect="1"/>
          </p:cNvPicPr>
          <p:nvPr/>
        </p:nvPicPr>
        <p:blipFill>
          <a:blip r:embed="rId13"/>
          <a:stretch>
            <a:fillRect/>
          </a:stretch>
        </p:blipFill>
        <p:spPr>
          <a:xfrm>
            <a:off x="5490972" y="5852160"/>
            <a:ext cx="329184" cy="329184"/>
          </a:xfrm>
          <a:prstGeom prst="rect">
            <a:avLst/>
          </a:prstGeom>
        </p:spPr>
      </p:pic>
      <p:sp>
        <p:nvSpPr>
          <p:cNvPr id="26" name="Flow arrow 3"/>
          <p:cNvSpPr txBox="1"/>
          <p:nvPr/>
        </p:nvSpPr>
        <p:spPr>
          <a:xfrm>
            <a:off x="5948172" y="2880360"/>
            <a:ext cx="292608" cy="457200"/>
          </a:xfrm>
          <a:prstGeom prst="rect">
            <a:avLst/>
          </a:prstGeom>
          <a:noFill/>
          <a:ln/>
        </p:spPr>
        <p:txBody>
          <a:bodyPr wrap="square" lIns="0" tIns="0" rIns="0" bIns="0" rtlCol="0" anchor="ctr"/>
          <a:lstStyle/>
          <a:p>
            <a:pPr algn="ctr" indent="0" marL="0">
              <a:buNone/>
            </a:pPr>
            <a:r>
              <a:rPr lang="en-US" sz="2400" b="1" dirty="0">
                <a:solidFill>
                  <a:schemeClr val="accent5"/>
                </a:solidFill>
              </a:rPr>
              <a:t>›</a:t>
            </a:r>
            <a:endParaRPr lang="en-US" sz="2400" dirty="0"/>
          </a:p>
        </p:txBody>
      </p:sp>
      <p:sp>
        <p:nvSpPr>
          <p:cNvPr id="27" name="Step card 4"/>
          <p:cNvSpPr/>
          <p:nvPr/>
        </p:nvSpPr>
        <p:spPr>
          <a:xfrm>
            <a:off x="6222492" y="1600200"/>
            <a:ext cx="1665732" cy="4709160"/>
          </a:xfrm>
          <a:prstGeom prst="roundRect">
            <a:avLst>
              <a:gd name="adj" fmla="val 5489"/>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28" name="Step screen 4" descr="/tmp/claude-0/-home-claude/604fe074-c4a3-59f5-a7f0-a4d942adf429/scratchpad/deck/th/y05_slipB_open.jpg">
            <a:hlinkClick r:id="rId18" tooltip="Open picture: Option B: steps" action="ppaction://hlinksldjump"/>
          </p:cNvPr>
          <p:cNvPicPr>
            <a:picLocks noChangeAspect="1"/>
          </p:cNvPicPr>
          <p:nvPr/>
        </p:nvPicPr>
        <p:blipFill>
          <a:blip r:embed="rId15"/>
          <a:stretch>
            <a:fillRect/>
          </a:stretch>
        </p:blipFill>
        <p:spPr>
          <a:xfrm>
            <a:off x="6388009" y="1737360"/>
            <a:ext cx="1334697" cy="2788920"/>
          </a:xfrm>
          <a:prstGeom prst="rect">
            <a:avLst/>
          </a:prstGeom>
        </p:spPr>
      </p:pic>
      <p:sp>
        <p:nvSpPr>
          <p:cNvPr id="29" name="Step number 4"/>
          <p:cNvSpPr/>
          <p:nvPr/>
        </p:nvSpPr>
        <p:spPr>
          <a:xfrm>
            <a:off x="6359652" y="4690872"/>
            <a:ext cx="347472" cy="347472"/>
          </a:xfrm>
          <a:prstGeom prst="ellipse">
            <a:avLst/>
          </a:prstGeom>
          <a:solidFill>
            <a:schemeClr val="accent5"/>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0" name="Step title 4"/>
          <p:cNvSpPr txBox="1"/>
          <p:nvPr/>
        </p:nvSpPr>
        <p:spPr>
          <a:xfrm>
            <a:off x="6771132" y="4636008"/>
            <a:ext cx="1025652"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Option B: steps</a:t>
            </a:r>
            <a:endParaRPr lang="en-US" sz="1300" dirty="0"/>
          </a:p>
        </p:txBody>
      </p:sp>
      <p:sp>
        <p:nvSpPr>
          <p:cNvPr id="31" name="Step text 4"/>
          <p:cNvSpPr txBox="1"/>
          <p:nvPr/>
        </p:nvSpPr>
        <p:spPr>
          <a:xfrm>
            <a:off x="6359652" y="5166360"/>
            <a:ext cx="1391412" cy="658368"/>
          </a:xfrm>
          <a:prstGeom prst="rect">
            <a:avLst/>
          </a:prstGeom>
          <a:noFill/>
          <a:ln/>
        </p:spPr>
        <p:txBody>
          <a:bodyPr wrap="square" lIns="0" tIns="0" rIns="0" bIns="0" rtlCol="0" anchor="t"/>
          <a:lstStyle/>
          <a:p>
            <a:pPr indent="0" marL="0">
              <a:buNone/>
            </a:pPr>
            <a:r>
              <a:rPr lang="en-US" sz="1100" dirty="0">
                <a:solidFill>
                  <a:srgbClr val="4A5266"/>
                </a:solidFill>
              </a:rPr>
              <a:t>1 photo · 2 scan · 3 count</a:t>
            </a:r>
            <a:endParaRPr lang="en-US" sz="1100" dirty="0"/>
          </a:p>
        </p:txBody>
      </p:sp>
      <p:pic>
        <p:nvPicPr>
          <p:cNvPr id="32" name="Open step 4" descr="preencoded.png">
            <a:hlinkClick r:id="rId18" tooltip="Open picture: Option B: steps" action="ppaction://hlinksldjump"/>
          </p:cNvPr>
          <p:cNvPicPr>
            <a:picLocks noChangeAspect="1"/>
          </p:cNvPicPr>
          <p:nvPr/>
        </p:nvPicPr>
        <p:blipFill>
          <a:blip r:embed="rId17"/>
          <a:stretch>
            <a:fillRect/>
          </a:stretch>
        </p:blipFill>
        <p:spPr>
          <a:xfrm>
            <a:off x="7412736" y="5852160"/>
            <a:ext cx="329184" cy="329184"/>
          </a:xfrm>
          <a:prstGeom prst="rect">
            <a:avLst/>
          </a:prstGeom>
        </p:spPr>
      </p:pic>
      <p:sp>
        <p:nvSpPr>
          <p:cNvPr id="33" name="Flow arrow 4"/>
          <p:cNvSpPr txBox="1"/>
          <p:nvPr/>
        </p:nvSpPr>
        <p:spPr>
          <a:xfrm>
            <a:off x="7869936" y="2880360"/>
            <a:ext cx="292608" cy="457200"/>
          </a:xfrm>
          <a:prstGeom prst="rect">
            <a:avLst/>
          </a:prstGeom>
          <a:noFill/>
          <a:ln/>
        </p:spPr>
        <p:txBody>
          <a:bodyPr wrap="square" lIns="0" tIns="0" rIns="0" bIns="0" rtlCol="0" anchor="ctr"/>
          <a:lstStyle/>
          <a:p>
            <a:pPr algn="ctr" indent="0" marL="0">
              <a:buNone/>
            </a:pPr>
            <a:r>
              <a:rPr lang="en-US" sz="2400" b="1" dirty="0">
                <a:solidFill>
                  <a:schemeClr val="accent5"/>
                </a:solidFill>
              </a:rPr>
              <a:t>›</a:t>
            </a:r>
            <a:endParaRPr lang="en-US" sz="2400" dirty="0"/>
          </a:p>
        </p:txBody>
      </p:sp>
      <p:sp>
        <p:nvSpPr>
          <p:cNvPr id="34" name="Step card 5"/>
          <p:cNvSpPr/>
          <p:nvPr/>
        </p:nvSpPr>
        <p:spPr>
          <a:xfrm>
            <a:off x="8144256" y="1600200"/>
            <a:ext cx="1665732" cy="4709160"/>
          </a:xfrm>
          <a:prstGeom prst="roundRect">
            <a:avLst>
              <a:gd name="adj" fmla="val 5489"/>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35" name="Step screen 5" descr="/tmp/claude-0/-home-claude/604fe074-c4a3-59f5-a7f0-a4d942adf429/scratchpad/deck/th/y06_slipB_doc_view.jpg">
            <a:hlinkClick r:id="rId22" tooltip="Open picture: Option B: view document" action="ppaction://hlinksldjump"/>
          </p:cNvPr>
          <p:cNvPicPr>
            <a:picLocks noChangeAspect="1"/>
          </p:cNvPicPr>
          <p:nvPr/>
        </p:nvPicPr>
        <p:blipFill>
          <a:blip r:embed="rId19"/>
          <a:stretch>
            <a:fillRect/>
          </a:stretch>
        </p:blipFill>
        <p:spPr>
          <a:xfrm>
            <a:off x="8309773" y="1737360"/>
            <a:ext cx="1334697" cy="2788920"/>
          </a:xfrm>
          <a:prstGeom prst="rect">
            <a:avLst/>
          </a:prstGeom>
        </p:spPr>
      </p:pic>
      <p:sp>
        <p:nvSpPr>
          <p:cNvPr id="36" name="Step number 5"/>
          <p:cNvSpPr/>
          <p:nvPr/>
        </p:nvSpPr>
        <p:spPr>
          <a:xfrm>
            <a:off x="8281416" y="4690872"/>
            <a:ext cx="347472" cy="347472"/>
          </a:xfrm>
          <a:prstGeom prst="ellipse">
            <a:avLst/>
          </a:prstGeom>
          <a:solidFill>
            <a:schemeClr val="accent5"/>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7" name="Step title 5"/>
          <p:cNvSpPr txBox="1"/>
          <p:nvPr/>
        </p:nvSpPr>
        <p:spPr>
          <a:xfrm>
            <a:off x="8692896" y="4636008"/>
            <a:ext cx="1025652"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Option B: view document</a:t>
            </a:r>
            <a:endParaRPr lang="en-US" sz="1300" dirty="0"/>
          </a:p>
        </p:txBody>
      </p:sp>
      <p:sp>
        <p:nvSpPr>
          <p:cNvPr id="38" name="Step text 5"/>
          <p:cNvSpPr txBox="1"/>
          <p:nvPr/>
        </p:nvSpPr>
        <p:spPr>
          <a:xfrm>
            <a:off x="8281416" y="5166360"/>
            <a:ext cx="1391412" cy="658368"/>
          </a:xfrm>
          <a:prstGeom prst="rect">
            <a:avLst/>
          </a:prstGeom>
          <a:noFill/>
          <a:ln/>
        </p:spPr>
        <p:txBody>
          <a:bodyPr wrap="square" lIns="0" tIns="0" rIns="0" bIns="0" rtlCol="0" anchor="t"/>
          <a:lstStyle/>
          <a:p>
            <a:pPr indent="0" marL="0">
              <a:buNone/>
            </a:pPr>
            <a:r>
              <a:rPr lang="en-US" sz="1100" dirty="0">
                <a:solidFill>
                  <a:srgbClr val="4A5266"/>
                </a:solidFill>
              </a:rPr>
              <a:t>Photo from the gate, zoom 1-3×</a:t>
            </a:r>
            <a:endParaRPr lang="en-US" sz="1100" dirty="0"/>
          </a:p>
        </p:txBody>
      </p:sp>
      <p:pic>
        <p:nvPicPr>
          <p:cNvPr id="39" name="Open step 5" descr="preencoded.png">
            <a:hlinkClick r:id="rId22" tooltip="Open picture: Option B: view document" action="ppaction://hlinksldjump"/>
          </p:cNvPr>
          <p:cNvPicPr>
            <a:picLocks noChangeAspect="1"/>
          </p:cNvPicPr>
          <p:nvPr/>
        </p:nvPicPr>
        <p:blipFill>
          <a:blip r:embed="rId21"/>
          <a:stretch>
            <a:fillRect/>
          </a:stretch>
        </p:blipFill>
        <p:spPr>
          <a:xfrm>
            <a:off x="9334500" y="5852160"/>
            <a:ext cx="329184" cy="329184"/>
          </a:xfrm>
          <a:prstGeom prst="rect">
            <a:avLst/>
          </a:prstGeom>
        </p:spPr>
      </p:pic>
      <p:sp>
        <p:nvSpPr>
          <p:cNvPr id="40" name="Flow arrow 5"/>
          <p:cNvSpPr txBox="1"/>
          <p:nvPr/>
        </p:nvSpPr>
        <p:spPr>
          <a:xfrm>
            <a:off x="9791700" y="2880360"/>
            <a:ext cx="292608" cy="457200"/>
          </a:xfrm>
          <a:prstGeom prst="rect">
            <a:avLst/>
          </a:prstGeom>
          <a:noFill/>
          <a:ln/>
        </p:spPr>
        <p:txBody>
          <a:bodyPr wrap="square" lIns="0" tIns="0" rIns="0" bIns="0" rtlCol="0" anchor="ctr"/>
          <a:lstStyle/>
          <a:p>
            <a:pPr algn="ctr" indent="0" marL="0">
              <a:buNone/>
            </a:pPr>
            <a:r>
              <a:rPr lang="en-US" sz="2400" b="1" dirty="0">
                <a:solidFill>
                  <a:schemeClr val="accent5"/>
                </a:solidFill>
              </a:rPr>
              <a:t>›</a:t>
            </a:r>
            <a:endParaRPr lang="en-US" sz="2400" dirty="0"/>
          </a:p>
        </p:txBody>
      </p:sp>
      <p:sp>
        <p:nvSpPr>
          <p:cNvPr id="41" name="Step card 6"/>
          <p:cNvSpPr/>
          <p:nvPr/>
        </p:nvSpPr>
        <p:spPr>
          <a:xfrm>
            <a:off x="10066020" y="1600200"/>
            <a:ext cx="1665732" cy="4709160"/>
          </a:xfrm>
          <a:prstGeom prst="roundRect">
            <a:avLst>
              <a:gd name="adj" fmla="val 5489"/>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42" name="Step screen 6" descr="/tmp/claude-0/-home-claude/604fe074-c4a3-59f5-a7f0-a4d942adf429/scratchpad/deck/th/y08_slipB_2of2.jpg">
            <a:hlinkClick r:id="rId26" tooltip="Open picture: Option B: count matches" action="ppaction://hlinksldjump"/>
          </p:cNvPr>
          <p:cNvPicPr>
            <a:picLocks noChangeAspect="1"/>
          </p:cNvPicPr>
          <p:nvPr/>
        </p:nvPicPr>
        <p:blipFill>
          <a:blip r:embed="rId23"/>
          <a:stretch>
            <a:fillRect/>
          </a:stretch>
        </p:blipFill>
        <p:spPr>
          <a:xfrm>
            <a:off x="10231537" y="1737360"/>
            <a:ext cx="1334697" cy="2788920"/>
          </a:xfrm>
          <a:prstGeom prst="rect">
            <a:avLst/>
          </a:prstGeom>
        </p:spPr>
      </p:pic>
      <p:sp>
        <p:nvSpPr>
          <p:cNvPr id="43" name="Step number 6"/>
          <p:cNvSpPr/>
          <p:nvPr/>
        </p:nvSpPr>
        <p:spPr>
          <a:xfrm>
            <a:off x="10203180" y="4690872"/>
            <a:ext cx="347472" cy="347472"/>
          </a:xfrm>
          <a:prstGeom prst="ellipse">
            <a:avLst/>
          </a:prstGeom>
          <a:solidFill>
            <a:schemeClr val="accent5"/>
          </a:solid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44" name="Step title 6"/>
          <p:cNvSpPr txBox="1"/>
          <p:nvPr/>
        </p:nvSpPr>
        <p:spPr>
          <a:xfrm>
            <a:off x="10614660" y="4636008"/>
            <a:ext cx="1025652"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Option B: count matches</a:t>
            </a:r>
            <a:endParaRPr lang="en-US" sz="1300" dirty="0"/>
          </a:p>
        </p:txBody>
      </p:sp>
      <p:sp>
        <p:nvSpPr>
          <p:cNvPr id="45" name="Step text 6"/>
          <p:cNvSpPr txBox="1"/>
          <p:nvPr/>
        </p:nvSpPr>
        <p:spPr>
          <a:xfrm>
            <a:off x="10203180" y="5166360"/>
            <a:ext cx="1391412" cy="658368"/>
          </a:xfrm>
          <a:prstGeom prst="rect">
            <a:avLst/>
          </a:prstGeom>
          <a:noFill/>
          <a:ln/>
        </p:spPr>
        <p:txBody>
          <a:bodyPr wrap="square" lIns="0" tIns="0" rIns="0" bIns="0" rtlCol="0" anchor="t"/>
          <a:lstStyle/>
          <a:p>
            <a:pPr indent="0" marL="0">
              <a:buNone/>
            </a:pPr>
            <a:r>
              <a:rPr lang="en-US" sz="1100" dirty="0">
                <a:solidFill>
                  <a:srgbClr val="4A5266"/>
                </a:solidFill>
              </a:rPr>
              <a:t>2/2 ✓ on doc → Count &amp; close</a:t>
            </a:r>
            <a:endParaRPr lang="en-US" sz="1100" dirty="0"/>
          </a:p>
        </p:txBody>
      </p:sp>
      <p:pic>
        <p:nvPicPr>
          <p:cNvPr id="46" name="Open step 6" descr="preencoded.png">
            <a:hlinkClick r:id="rId26" tooltip="Open picture: Option B: count matches" action="ppaction://hlinksldjump"/>
          </p:cNvPr>
          <p:cNvPicPr>
            <a:picLocks noChangeAspect="1"/>
          </p:cNvPicPr>
          <p:nvPr/>
        </p:nvPicPr>
        <p:blipFill>
          <a:blip r:embed="rId25"/>
          <a:stretch>
            <a:fillRect/>
          </a:stretch>
        </p:blipFill>
        <p:spPr>
          <a:xfrm>
            <a:off x="11256264" y="5852160"/>
            <a:ext cx="329184" cy="329184"/>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p:cNvSpPr txBox="1"/>
          <p:nvPr/>
        </p:nvSpPr>
        <p:spPr>
          <a:xfrm>
            <a:off x="457200" y="320040"/>
            <a:ext cx="9509760" cy="640080"/>
          </a:xfrm>
          <a:prstGeom prst="rect">
            <a:avLst/>
          </a:prstGeom>
          <a:noFill/>
          <a:ln/>
        </p:spPr>
        <p:txBody>
          <a:bodyPr wrap="square" lIns="0" tIns="0" rIns="0" bIns="0" rtlCol="0" anchor="ctr"/>
          <a:lstStyle/>
          <a:p>
            <a:pPr indent="0" marL="0">
              <a:buNone/>
            </a:pPr>
            <a:r>
              <a:rPr lang="en-US" sz="3200" b="1" dirty="0">
                <a:solidFill>
                  <a:schemeClr val="tx2"/>
                </a:solidFill>
              </a:rPr>
              <a:t>Plant to plant - other plants’ pallets (1/2)</a:t>
            </a:r>
            <a:endParaRPr lang="en-US" sz="3200" dirty="0"/>
          </a:p>
        </p:txBody>
      </p:sp>
      <p:sp>
        <p:nvSpPr>
          <p:cNvPr id="3" name="Subtitle"/>
          <p:cNvSpPr txBox="1"/>
          <p:nvPr/>
        </p:nvSpPr>
        <p:spPr>
          <a:xfrm>
            <a:off x="457200" y="960120"/>
            <a:ext cx="9692640" cy="411480"/>
          </a:xfrm>
          <a:prstGeom prst="rect">
            <a:avLst/>
          </a:prstGeom>
          <a:noFill/>
          <a:ln/>
        </p:spPr>
        <p:txBody>
          <a:bodyPr wrap="square" lIns="0" tIns="0" rIns="0" bIns="0" rtlCol="0" anchor="ctr"/>
          <a:lstStyle/>
          <a:p>
            <a:pPr indent="0" marL="0">
              <a:buNone/>
            </a:pPr>
            <a:r>
              <a:rPr lang="en-US" sz="1500" dirty="0">
                <a:solidFill>
                  <a:srgbClr val="4A5266"/>
                </a:solidFill>
              </a:rPr>
              <a:t>Pallets of another AIS plant go home on a challan; the owner plant receives them on that challan</a:t>
            </a:r>
            <a:endParaRPr lang="en-US" sz="1500" dirty="0"/>
          </a:p>
        </p:txBody>
      </p:sp>
      <p:sp>
        <p:nvSpPr>
          <p:cNvPr id="4" name="Who"/>
          <p:cNvSpPr/>
          <p:nvPr/>
        </p:nvSpPr>
        <p:spPr>
          <a:xfrm>
            <a:off x="9966960" y="384048"/>
            <a:ext cx="1783080" cy="457200"/>
          </a:xfrm>
          <a:prstGeom prst="roundRect">
            <a:avLst>
              <a:gd name="adj" fmla="val 20000"/>
            </a:avLst>
          </a:prstGeom>
          <a:solidFill>
            <a:schemeClr val="accent4"/>
          </a:solidFill>
          <a:ln/>
        </p:spPr>
        <p:txBody>
          <a:bodyPr wrap="square" lIns="38100" tIns="38100" rIns="38100" bIns="38100" rtlCol="0" anchor="ctr"/>
          <a:lstStyle/>
          <a:p>
            <a:pPr algn="ctr" indent="0" marL="0">
              <a:buNone/>
            </a:pPr>
            <a:r>
              <a:rPr lang="en-US" sz="1100" b="1" dirty="0">
                <a:solidFill>
                  <a:schemeClr val="bg1"/>
                </a:solidFill>
              </a:rPr>
              <a:t>Pallet yard · Logistics · Security</a:t>
            </a:r>
            <a:endParaRPr lang="en-US" sz="1100" dirty="0"/>
          </a:p>
        </p:txBody>
      </p:sp>
      <p:pic>
        <p:nvPicPr>
          <p:cNvPr id="5" name="Back to map" descr="preencoded.png">
            <a:hlinkClick r:id="rId2" tooltip="Process map" action="ppaction://hlinksldjump"/>
          </p:cNvPr>
          <p:cNvPicPr>
            <a:picLocks noChangeAspect="1"/>
          </p:cNvPicPr>
          <p:nvPr/>
        </p:nvPicPr>
        <p:blipFill>
          <a:blip r:embed="rId1"/>
          <a:stretch>
            <a:fillRect/>
          </a:stretch>
        </p:blipFill>
        <p:spPr>
          <a:xfrm>
            <a:off x="11384280" y="987552"/>
            <a:ext cx="329184" cy="329184"/>
          </a:xfrm>
          <a:prstGeom prst="rect">
            <a:avLst/>
          </a:prstGeom>
        </p:spPr>
      </p:pic>
      <p:sp>
        <p:nvSpPr>
          <p:cNvPr id="6" name="Step card 1"/>
          <p:cNvSpPr/>
          <p:nvPr/>
        </p:nvSpPr>
        <p:spPr>
          <a:xfrm>
            <a:off x="457200" y="1600200"/>
            <a:ext cx="2050085" cy="4709160"/>
          </a:xfrm>
          <a:prstGeom prst="roundRect">
            <a:avLst>
              <a:gd name="adj" fmla="val 4460"/>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7" name="Step screen 1" descr="/tmp/claude-0/-home-claude/604fe074-c4a3-59f5-a7f0-a4d942adf429/scratchpad/deck/th/i01_new_return.jpg">
            <a:hlinkClick r:id="rId6" tooltip="Open picture: New empty return" action="ppaction://hlinksldjump"/>
          </p:cNvPr>
          <p:cNvPicPr>
            <a:picLocks noChangeAspect="1"/>
          </p:cNvPicPr>
          <p:nvPr/>
        </p:nvPicPr>
        <p:blipFill>
          <a:blip r:embed="rId3"/>
          <a:stretch>
            <a:fillRect/>
          </a:stretch>
        </p:blipFill>
        <p:spPr>
          <a:xfrm>
            <a:off x="814894" y="1737360"/>
            <a:ext cx="1334697" cy="2788920"/>
          </a:xfrm>
          <a:prstGeom prst="rect">
            <a:avLst/>
          </a:prstGeom>
        </p:spPr>
      </p:pic>
      <p:sp>
        <p:nvSpPr>
          <p:cNvPr id="8" name="Step number 1"/>
          <p:cNvSpPr/>
          <p:nvPr/>
        </p:nvSpPr>
        <p:spPr>
          <a:xfrm>
            <a:off x="594360" y="4690872"/>
            <a:ext cx="347472" cy="347472"/>
          </a:xfrm>
          <a:prstGeom prst="ellipse">
            <a:avLst/>
          </a:prstGeom>
          <a:solidFill>
            <a:schemeClr val="accent4"/>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Step title 1"/>
          <p:cNvSpPr txBox="1"/>
          <p:nvPr/>
        </p:nvSpPr>
        <p:spPr>
          <a:xfrm>
            <a:off x="1005840" y="4636008"/>
            <a:ext cx="1410005"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New empty return</a:t>
            </a:r>
            <a:endParaRPr lang="en-US" sz="1300" dirty="0"/>
          </a:p>
        </p:txBody>
      </p:sp>
      <p:sp>
        <p:nvSpPr>
          <p:cNvPr id="10" name="Step text 1"/>
          <p:cNvSpPr txBox="1"/>
          <p:nvPr/>
        </p:nvSpPr>
        <p:spPr>
          <a:xfrm>
            <a:off x="594360" y="5166360"/>
            <a:ext cx="1775765" cy="658368"/>
          </a:xfrm>
          <a:prstGeom prst="rect">
            <a:avLst/>
          </a:prstGeom>
          <a:noFill/>
          <a:ln/>
        </p:spPr>
        <p:txBody>
          <a:bodyPr wrap="square" lIns="0" tIns="0" rIns="0" bIns="0" rtlCol="0" anchor="t"/>
          <a:lstStyle/>
          <a:p>
            <a:pPr indent="0" marL="0">
              <a:buNone/>
            </a:pPr>
            <a:r>
              <a:rPr lang="en-US" sz="1100" dirty="0">
                <a:solidFill>
                  <a:srgbClr val="4A5266"/>
                </a:solidFill>
              </a:rPr>
              <a:t>Owner plant PUN · 3 held</a:t>
            </a:r>
            <a:endParaRPr lang="en-US" sz="1100" dirty="0"/>
          </a:p>
        </p:txBody>
      </p:sp>
      <p:pic>
        <p:nvPicPr>
          <p:cNvPr id="11" name="Open step 1" descr="preencoded.png">
            <a:hlinkClick r:id="rId6" tooltip="Open picture: New empty return" action="ppaction://hlinksldjump"/>
          </p:cNvPr>
          <p:cNvPicPr>
            <a:picLocks noChangeAspect="1"/>
          </p:cNvPicPr>
          <p:nvPr/>
        </p:nvPicPr>
        <p:blipFill>
          <a:blip r:embed="rId5"/>
          <a:stretch>
            <a:fillRect/>
          </a:stretch>
        </p:blipFill>
        <p:spPr>
          <a:xfrm>
            <a:off x="2031797" y="5852160"/>
            <a:ext cx="329184" cy="329184"/>
          </a:xfrm>
          <a:prstGeom prst="rect">
            <a:avLst/>
          </a:prstGeom>
        </p:spPr>
      </p:pic>
      <p:sp>
        <p:nvSpPr>
          <p:cNvPr id="12" name="Flow arrow 1"/>
          <p:cNvSpPr txBox="1"/>
          <p:nvPr/>
        </p:nvSpPr>
        <p:spPr>
          <a:xfrm>
            <a:off x="2488997" y="2880360"/>
            <a:ext cx="292608" cy="457200"/>
          </a:xfrm>
          <a:prstGeom prst="rect">
            <a:avLst/>
          </a:prstGeom>
          <a:noFill/>
          <a:ln/>
        </p:spPr>
        <p:txBody>
          <a:bodyPr wrap="square" lIns="0" tIns="0" rIns="0" bIns="0" rtlCol="0" anchor="ctr"/>
          <a:lstStyle/>
          <a:p>
            <a:pPr algn="ctr" indent="0" marL="0">
              <a:buNone/>
            </a:pPr>
            <a:r>
              <a:rPr lang="en-US" sz="2400" b="1" dirty="0">
                <a:solidFill>
                  <a:schemeClr val="accent4"/>
                </a:solidFill>
              </a:rPr>
              <a:t>›</a:t>
            </a:r>
            <a:endParaRPr lang="en-US" sz="2400" dirty="0"/>
          </a:p>
        </p:txBody>
      </p:sp>
      <p:sp>
        <p:nvSpPr>
          <p:cNvPr id="13" name="Step card 2"/>
          <p:cNvSpPr/>
          <p:nvPr/>
        </p:nvSpPr>
        <p:spPr>
          <a:xfrm>
            <a:off x="2763317" y="1600200"/>
            <a:ext cx="2050085" cy="4709160"/>
          </a:xfrm>
          <a:prstGeom prst="roundRect">
            <a:avLst>
              <a:gd name="adj" fmla="val 4460"/>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14" name="Step screen 2" descr="/tmp/claude-0/-home-claude/604fe074-c4a3-59f5-a7f0-a4d942adf429/scratchpad/deck/th/i02_loaded.jpg">
            <a:hlinkClick r:id="rId10" tooltip="Open picture: Load at the yard" action="ppaction://hlinksldjump"/>
          </p:cNvPr>
          <p:cNvPicPr>
            <a:picLocks noChangeAspect="1"/>
          </p:cNvPicPr>
          <p:nvPr/>
        </p:nvPicPr>
        <p:blipFill>
          <a:blip r:embed="rId7"/>
          <a:stretch>
            <a:fillRect/>
          </a:stretch>
        </p:blipFill>
        <p:spPr>
          <a:xfrm>
            <a:off x="3121010" y="1737360"/>
            <a:ext cx="1334697" cy="2788920"/>
          </a:xfrm>
          <a:prstGeom prst="rect">
            <a:avLst/>
          </a:prstGeom>
        </p:spPr>
      </p:pic>
      <p:sp>
        <p:nvSpPr>
          <p:cNvPr id="15" name="Step number 2"/>
          <p:cNvSpPr/>
          <p:nvPr/>
        </p:nvSpPr>
        <p:spPr>
          <a:xfrm>
            <a:off x="2900477" y="4690872"/>
            <a:ext cx="347472" cy="347472"/>
          </a:xfrm>
          <a:prstGeom prst="ellipse">
            <a:avLst/>
          </a:prstGeom>
          <a:solidFill>
            <a:schemeClr val="accent4"/>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6" name="Step title 2"/>
          <p:cNvSpPr txBox="1"/>
          <p:nvPr/>
        </p:nvSpPr>
        <p:spPr>
          <a:xfrm>
            <a:off x="3311957" y="4636008"/>
            <a:ext cx="1410005"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Load at the yard</a:t>
            </a:r>
            <a:endParaRPr lang="en-US" sz="1300" dirty="0"/>
          </a:p>
        </p:txBody>
      </p:sp>
      <p:sp>
        <p:nvSpPr>
          <p:cNvPr id="17" name="Step text 2"/>
          <p:cNvSpPr txBox="1"/>
          <p:nvPr/>
        </p:nvSpPr>
        <p:spPr>
          <a:xfrm>
            <a:off x="2900477" y="5166360"/>
            <a:ext cx="1775765" cy="658368"/>
          </a:xfrm>
          <a:prstGeom prst="rect">
            <a:avLst/>
          </a:prstGeom>
          <a:noFill/>
          <a:ln/>
        </p:spPr>
        <p:txBody>
          <a:bodyPr wrap="square" lIns="0" tIns="0" rIns="0" bIns="0" rtlCol="0" anchor="t"/>
          <a:lstStyle/>
          <a:p>
            <a:pPr indent="0" marL="0">
              <a:buNone/>
            </a:pPr>
            <a:r>
              <a:rPr lang="en-US" sz="1100" dirty="0">
                <a:solidFill>
                  <a:srgbClr val="4A5266"/>
                </a:solidFill>
              </a:rPr>
              <a:t>Scan each empty pallet</a:t>
            </a:r>
            <a:endParaRPr lang="en-US" sz="1100" dirty="0"/>
          </a:p>
        </p:txBody>
      </p:sp>
      <p:pic>
        <p:nvPicPr>
          <p:cNvPr id="18" name="Open step 2" descr="preencoded.png">
            <a:hlinkClick r:id="rId10" tooltip="Open picture: Load at the yard" action="ppaction://hlinksldjump"/>
          </p:cNvPr>
          <p:cNvPicPr>
            <a:picLocks noChangeAspect="1"/>
          </p:cNvPicPr>
          <p:nvPr/>
        </p:nvPicPr>
        <p:blipFill>
          <a:blip r:embed="rId9"/>
          <a:stretch>
            <a:fillRect/>
          </a:stretch>
        </p:blipFill>
        <p:spPr>
          <a:xfrm>
            <a:off x="4337914" y="5852160"/>
            <a:ext cx="329184" cy="329184"/>
          </a:xfrm>
          <a:prstGeom prst="rect">
            <a:avLst/>
          </a:prstGeom>
        </p:spPr>
      </p:pic>
      <p:sp>
        <p:nvSpPr>
          <p:cNvPr id="19" name="Flow arrow 2"/>
          <p:cNvSpPr txBox="1"/>
          <p:nvPr/>
        </p:nvSpPr>
        <p:spPr>
          <a:xfrm>
            <a:off x="4795114" y="2880360"/>
            <a:ext cx="292608" cy="457200"/>
          </a:xfrm>
          <a:prstGeom prst="rect">
            <a:avLst/>
          </a:prstGeom>
          <a:noFill/>
          <a:ln/>
        </p:spPr>
        <p:txBody>
          <a:bodyPr wrap="square" lIns="0" tIns="0" rIns="0" bIns="0" rtlCol="0" anchor="ctr"/>
          <a:lstStyle/>
          <a:p>
            <a:pPr algn="ctr" indent="0" marL="0">
              <a:buNone/>
            </a:pPr>
            <a:r>
              <a:rPr lang="en-US" sz="2400" b="1" dirty="0">
                <a:solidFill>
                  <a:schemeClr val="accent4"/>
                </a:solidFill>
              </a:rPr>
              <a:t>›</a:t>
            </a:r>
            <a:endParaRPr lang="en-US" sz="2400" dirty="0"/>
          </a:p>
        </p:txBody>
      </p:sp>
      <p:sp>
        <p:nvSpPr>
          <p:cNvPr id="20" name="Step card 3"/>
          <p:cNvSpPr/>
          <p:nvPr/>
        </p:nvSpPr>
        <p:spPr>
          <a:xfrm>
            <a:off x="5069434" y="1600200"/>
            <a:ext cx="2050085" cy="4709160"/>
          </a:xfrm>
          <a:prstGeom prst="roundRect">
            <a:avLst>
              <a:gd name="adj" fmla="val 4460"/>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21" name="Step screen 3" descr="/tmp/claude-0/-home-claude/604fe074-c4a3-59f5-a7f0-a4d942adf429/scratchpad/deck/th/i04_challan_ready.jpg">
            <a:hlinkClick r:id="rId14" tooltip="Open picture: Challan + e-way bill" action="ppaction://hlinksldjump"/>
          </p:cNvPr>
          <p:cNvPicPr>
            <a:picLocks noChangeAspect="1"/>
          </p:cNvPicPr>
          <p:nvPr/>
        </p:nvPicPr>
        <p:blipFill>
          <a:blip r:embed="rId11"/>
          <a:stretch>
            <a:fillRect/>
          </a:stretch>
        </p:blipFill>
        <p:spPr>
          <a:xfrm>
            <a:off x="5427127" y="1737360"/>
            <a:ext cx="1334697" cy="2788920"/>
          </a:xfrm>
          <a:prstGeom prst="rect">
            <a:avLst/>
          </a:prstGeom>
        </p:spPr>
      </p:pic>
      <p:sp>
        <p:nvSpPr>
          <p:cNvPr id="22" name="Step number 3"/>
          <p:cNvSpPr/>
          <p:nvPr/>
        </p:nvSpPr>
        <p:spPr>
          <a:xfrm>
            <a:off x="5206594" y="4690872"/>
            <a:ext cx="347472" cy="347472"/>
          </a:xfrm>
          <a:prstGeom prst="ellipse">
            <a:avLst/>
          </a:prstGeom>
          <a:solidFill>
            <a:schemeClr val="accent4"/>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3" name="Step title 3"/>
          <p:cNvSpPr txBox="1"/>
          <p:nvPr/>
        </p:nvSpPr>
        <p:spPr>
          <a:xfrm>
            <a:off x="5618074" y="4636008"/>
            <a:ext cx="1410005"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Challan + e-way bill</a:t>
            </a:r>
            <a:endParaRPr lang="en-US" sz="1300" dirty="0"/>
          </a:p>
        </p:txBody>
      </p:sp>
      <p:sp>
        <p:nvSpPr>
          <p:cNvPr id="24" name="Step text 3"/>
          <p:cNvSpPr txBox="1"/>
          <p:nvPr/>
        </p:nvSpPr>
        <p:spPr>
          <a:xfrm>
            <a:off x="5206594" y="5166360"/>
            <a:ext cx="1775765" cy="658368"/>
          </a:xfrm>
          <a:prstGeom prst="rect">
            <a:avLst/>
          </a:prstGeom>
          <a:noFill/>
          <a:ln/>
        </p:spPr>
        <p:txBody>
          <a:bodyPr wrap="square" lIns="0" tIns="0" rIns="0" bIns="0" rtlCol="0" anchor="t"/>
          <a:lstStyle/>
          <a:p>
            <a:pPr indent="0" marL="0">
              <a:buNone/>
            </a:pPr>
            <a:r>
              <a:rPr lang="en-US" sz="1100" dirty="0">
                <a:solidFill>
                  <a:srgbClr val="4A5266"/>
                </a:solidFill>
              </a:rPr>
              <a:t>Printed on the plant printer</a:t>
            </a:r>
            <a:endParaRPr lang="en-US" sz="1100" dirty="0"/>
          </a:p>
        </p:txBody>
      </p:sp>
      <p:pic>
        <p:nvPicPr>
          <p:cNvPr id="25" name="Open step 3" descr="preencoded.png">
            <a:hlinkClick r:id="rId14" tooltip="Open picture: Challan + e-way bill" action="ppaction://hlinksldjump"/>
          </p:cNvPr>
          <p:cNvPicPr>
            <a:picLocks noChangeAspect="1"/>
          </p:cNvPicPr>
          <p:nvPr/>
        </p:nvPicPr>
        <p:blipFill>
          <a:blip r:embed="rId13"/>
          <a:stretch>
            <a:fillRect/>
          </a:stretch>
        </p:blipFill>
        <p:spPr>
          <a:xfrm>
            <a:off x="6644030" y="5852160"/>
            <a:ext cx="329184" cy="329184"/>
          </a:xfrm>
          <a:prstGeom prst="rect">
            <a:avLst/>
          </a:prstGeom>
        </p:spPr>
      </p:pic>
      <p:sp>
        <p:nvSpPr>
          <p:cNvPr id="26" name="Flow arrow 3"/>
          <p:cNvSpPr txBox="1"/>
          <p:nvPr/>
        </p:nvSpPr>
        <p:spPr>
          <a:xfrm>
            <a:off x="7101230" y="2880360"/>
            <a:ext cx="292608" cy="457200"/>
          </a:xfrm>
          <a:prstGeom prst="rect">
            <a:avLst/>
          </a:prstGeom>
          <a:noFill/>
          <a:ln/>
        </p:spPr>
        <p:txBody>
          <a:bodyPr wrap="square" lIns="0" tIns="0" rIns="0" bIns="0" rtlCol="0" anchor="ctr"/>
          <a:lstStyle/>
          <a:p>
            <a:pPr algn="ctr" indent="0" marL="0">
              <a:buNone/>
            </a:pPr>
            <a:r>
              <a:rPr lang="en-US" sz="2400" b="1" dirty="0">
                <a:solidFill>
                  <a:schemeClr val="accent4"/>
                </a:solidFill>
              </a:rPr>
              <a:t>›</a:t>
            </a:r>
            <a:endParaRPr lang="en-US" sz="2400" dirty="0"/>
          </a:p>
        </p:txBody>
      </p:sp>
      <p:sp>
        <p:nvSpPr>
          <p:cNvPr id="27" name="Step card 4"/>
          <p:cNvSpPr/>
          <p:nvPr/>
        </p:nvSpPr>
        <p:spPr>
          <a:xfrm>
            <a:off x="7375550" y="1600200"/>
            <a:ext cx="2050085" cy="4709160"/>
          </a:xfrm>
          <a:prstGeom prst="roundRect">
            <a:avLst>
              <a:gd name="adj" fmla="val 4460"/>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28" name="Step screen 4" descr="/tmp/claude-0/-home-claude/604fe074-c4a3-59f5-a7f0-a4d942adf429/scratchpad/deck/th/o_rtchallan.jpg">
            <a:hlinkClick r:id="rId18" tooltip="Open picture: Output: return challan" action="ppaction://hlinksldjump"/>
          </p:cNvPr>
          <p:cNvPicPr>
            <a:picLocks noChangeAspect="1"/>
          </p:cNvPicPr>
          <p:nvPr/>
        </p:nvPicPr>
        <p:blipFill>
          <a:blip r:embed="rId15"/>
          <a:stretch>
            <a:fillRect/>
          </a:stretch>
        </p:blipFill>
        <p:spPr>
          <a:xfrm>
            <a:off x="7512710" y="2346386"/>
            <a:ext cx="1775765" cy="1570869"/>
          </a:xfrm>
          <a:prstGeom prst="rect">
            <a:avLst/>
          </a:prstGeom>
        </p:spPr>
      </p:pic>
      <p:sp>
        <p:nvSpPr>
          <p:cNvPr id="29" name="Step number 4"/>
          <p:cNvSpPr/>
          <p:nvPr/>
        </p:nvSpPr>
        <p:spPr>
          <a:xfrm>
            <a:off x="7512710" y="4690872"/>
            <a:ext cx="347472" cy="347472"/>
          </a:xfrm>
          <a:prstGeom prst="ellipse">
            <a:avLst/>
          </a:prstGeom>
          <a:solidFill>
            <a:schemeClr val="accent4"/>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0" name="Step title 4"/>
          <p:cNvSpPr txBox="1"/>
          <p:nvPr/>
        </p:nvSpPr>
        <p:spPr>
          <a:xfrm>
            <a:off x="7924190" y="4636008"/>
            <a:ext cx="1410005"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Output: return challan</a:t>
            </a:r>
            <a:endParaRPr lang="en-US" sz="1300" dirty="0"/>
          </a:p>
        </p:txBody>
      </p:sp>
      <p:sp>
        <p:nvSpPr>
          <p:cNvPr id="31" name="Step text 4"/>
          <p:cNvSpPr txBox="1"/>
          <p:nvPr/>
        </p:nvSpPr>
        <p:spPr>
          <a:xfrm>
            <a:off x="7512710" y="5166360"/>
            <a:ext cx="1775765" cy="658368"/>
          </a:xfrm>
          <a:prstGeom prst="rect">
            <a:avLst/>
          </a:prstGeom>
          <a:noFill/>
          <a:ln/>
        </p:spPr>
        <p:txBody>
          <a:bodyPr wrap="square" lIns="0" tIns="0" rIns="0" bIns="0" rtlCol="0" anchor="t"/>
          <a:lstStyle/>
          <a:p>
            <a:pPr indent="0" marL="0">
              <a:buNone/>
            </a:pPr>
            <a:r>
              <a:rPr lang="en-US" sz="1100" dirty="0">
                <a:solidFill>
                  <a:srgbClr val="4A5266"/>
                </a:solidFill>
              </a:rPr>
              <a:t>Return of empty pallets to PUN</a:t>
            </a:r>
            <a:endParaRPr lang="en-US" sz="1100" dirty="0"/>
          </a:p>
        </p:txBody>
      </p:sp>
      <p:pic>
        <p:nvPicPr>
          <p:cNvPr id="32" name="Open step 4" descr="preencoded.png">
            <a:hlinkClick r:id="rId18" tooltip="Open picture: Output: return challan" action="ppaction://hlinksldjump"/>
          </p:cNvPr>
          <p:cNvPicPr>
            <a:picLocks noChangeAspect="1"/>
          </p:cNvPicPr>
          <p:nvPr/>
        </p:nvPicPr>
        <p:blipFill>
          <a:blip r:embed="rId17"/>
          <a:stretch>
            <a:fillRect/>
          </a:stretch>
        </p:blipFill>
        <p:spPr>
          <a:xfrm>
            <a:off x="8950147" y="5852160"/>
            <a:ext cx="329184" cy="329184"/>
          </a:xfrm>
          <a:prstGeom prst="rect">
            <a:avLst/>
          </a:prstGeom>
        </p:spPr>
      </p:pic>
      <p:sp>
        <p:nvSpPr>
          <p:cNvPr id="33" name="Flow arrow 4"/>
          <p:cNvSpPr txBox="1"/>
          <p:nvPr/>
        </p:nvSpPr>
        <p:spPr>
          <a:xfrm>
            <a:off x="9407347" y="2880360"/>
            <a:ext cx="292608" cy="457200"/>
          </a:xfrm>
          <a:prstGeom prst="rect">
            <a:avLst/>
          </a:prstGeom>
          <a:noFill/>
          <a:ln/>
        </p:spPr>
        <p:txBody>
          <a:bodyPr wrap="square" lIns="0" tIns="0" rIns="0" bIns="0" rtlCol="0" anchor="ctr"/>
          <a:lstStyle/>
          <a:p>
            <a:pPr algn="ctr" indent="0" marL="0">
              <a:buNone/>
            </a:pPr>
            <a:r>
              <a:rPr lang="en-US" sz="2400" b="1" dirty="0">
                <a:solidFill>
                  <a:schemeClr val="accent4"/>
                </a:solidFill>
              </a:rPr>
              <a:t>›</a:t>
            </a:r>
            <a:endParaRPr lang="en-US" sz="2400" dirty="0"/>
          </a:p>
        </p:txBody>
      </p:sp>
      <p:sp>
        <p:nvSpPr>
          <p:cNvPr id="34" name="Step card 5"/>
          <p:cNvSpPr/>
          <p:nvPr/>
        </p:nvSpPr>
        <p:spPr>
          <a:xfrm>
            <a:off x="9681667" y="1600200"/>
            <a:ext cx="2050085" cy="4709160"/>
          </a:xfrm>
          <a:prstGeom prst="roundRect">
            <a:avLst>
              <a:gd name="adj" fmla="val 4460"/>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35" name="Step screen 5" descr="/tmp/claude-0/-home-claude/604fe074-c4a3-59f5-a7f0-a4d942adf429/scratchpad/deck/th/i06_out_gate_challan.jpg">
            <a:hlinkClick r:id="rId22" tooltip="Open picture: OUT gate" action="ppaction://hlinksldjump"/>
          </p:cNvPr>
          <p:cNvPicPr>
            <a:picLocks noChangeAspect="1"/>
          </p:cNvPicPr>
          <p:nvPr/>
        </p:nvPicPr>
        <p:blipFill>
          <a:blip r:embed="rId19"/>
          <a:stretch>
            <a:fillRect/>
          </a:stretch>
        </p:blipFill>
        <p:spPr>
          <a:xfrm>
            <a:off x="10039361" y="1737360"/>
            <a:ext cx="1334697" cy="2788920"/>
          </a:xfrm>
          <a:prstGeom prst="rect">
            <a:avLst/>
          </a:prstGeom>
        </p:spPr>
      </p:pic>
      <p:sp>
        <p:nvSpPr>
          <p:cNvPr id="36" name="Step number 5"/>
          <p:cNvSpPr/>
          <p:nvPr/>
        </p:nvSpPr>
        <p:spPr>
          <a:xfrm>
            <a:off x="9818827" y="4690872"/>
            <a:ext cx="347472" cy="347472"/>
          </a:xfrm>
          <a:prstGeom prst="ellipse">
            <a:avLst/>
          </a:prstGeom>
          <a:solidFill>
            <a:schemeClr val="accent4"/>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7" name="Step title 5"/>
          <p:cNvSpPr txBox="1"/>
          <p:nvPr/>
        </p:nvSpPr>
        <p:spPr>
          <a:xfrm>
            <a:off x="10230307" y="4636008"/>
            <a:ext cx="1410005"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OUT gate</a:t>
            </a:r>
            <a:endParaRPr lang="en-US" sz="1300" dirty="0"/>
          </a:p>
        </p:txBody>
      </p:sp>
      <p:sp>
        <p:nvSpPr>
          <p:cNvPr id="38" name="Step text 5"/>
          <p:cNvSpPr txBox="1"/>
          <p:nvPr/>
        </p:nvSpPr>
        <p:spPr>
          <a:xfrm>
            <a:off x="9818827" y="5166360"/>
            <a:ext cx="1775765" cy="658368"/>
          </a:xfrm>
          <a:prstGeom prst="rect">
            <a:avLst/>
          </a:prstGeom>
          <a:noFill/>
          <a:ln/>
        </p:spPr>
        <p:txBody>
          <a:bodyPr wrap="square" lIns="0" tIns="0" rIns="0" bIns="0" rtlCol="0" anchor="t"/>
          <a:lstStyle/>
          <a:p>
            <a:pPr indent="0" marL="0">
              <a:buNone/>
            </a:pPr>
            <a:r>
              <a:rPr lang="en-US" sz="1100" dirty="0">
                <a:solidFill>
                  <a:srgbClr val="4A5266"/>
                </a:solidFill>
              </a:rPr>
              <a:t>Challan QR → dispatched to PUN</a:t>
            </a:r>
            <a:endParaRPr lang="en-US" sz="1100" dirty="0"/>
          </a:p>
        </p:txBody>
      </p:sp>
      <p:pic>
        <p:nvPicPr>
          <p:cNvPr id="39" name="Open step 5" descr="preencoded.png">
            <a:hlinkClick r:id="rId22" tooltip="Open picture: OUT gate" action="ppaction://hlinksldjump"/>
          </p:cNvPr>
          <p:cNvPicPr>
            <a:picLocks noChangeAspect="1"/>
          </p:cNvPicPr>
          <p:nvPr/>
        </p:nvPicPr>
        <p:blipFill>
          <a:blip r:embed="rId21"/>
          <a:stretch>
            <a:fillRect/>
          </a:stretch>
        </p:blipFill>
        <p:spPr>
          <a:xfrm>
            <a:off x="11256264" y="5852160"/>
            <a:ext cx="329184" cy="329184"/>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itle"/>
          <p:cNvSpPr txBox="1"/>
          <p:nvPr/>
        </p:nvSpPr>
        <p:spPr>
          <a:xfrm>
            <a:off x="457200" y="320040"/>
            <a:ext cx="9509760" cy="640080"/>
          </a:xfrm>
          <a:prstGeom prst="rect">
            <a:avLst/>
          </a:prstGeom>
          <a:noFill/>
          <a:ln/>
        </p:spPr>
        <p:txBody>
          <a:bodyPr wrap="square" lIns="0" tIns="0" rIns="0" bIns="0" rtlCol="0" anchor="ctr"/>
          <a:lstStyle/>
          <a:p>
            <a:pPr indent="0" marL="0">
              <a:buNone/>
            </a:pPr>
            <a:r>
              <a:rPr lang="en-US" sz="3200" b="1" dirty="0">
                <a:solidFill>
                  <a:schemeClr val="tx2"/>
                </a:solidFill>
              </a:rPr>
              <a:t>Plant to plant - other plants’ pallets (2/2)</a:t>
            </a:r>
            <a:endParaRPr lang="en-US" sz="3200" dirty="0"/>
          </a:p>
        </p:txBody>
      </p:sp>
      <p:sp>
        <p:nvSpPr>
          <p:cNvPr id="3" name="Subtitle"/>
          <p:cNvSpPr txBox="1"/>
          <p:nvPr/>
        </p:nvSpPr>
        <p:spPr>
          <a:xfrm>
            <a:off x="457200" y="960120"/>
            <a:ext cx="9692640" cy="411480"/>
          </a:xfrm>
          <a:prstGeom prst="rect">
            <a:avLst/>
          </a:prstGeom>
          <a:noFill/>
          <a:ln/>
        </p:spPr>
        <p:txBody>
          <a:bodyPr wrap="square" lIns="0" tIns="0" rIns="0" bIns="0" rtlCol="0" anchor="ctr"/>
          <a:lstStyle/>
          <a:p>
            <a:pPr indent="0" marL="0">
              <a:buNone/>
            </a:pPr>
            <a:r>
              <a:rPr lang="en-US" sz="1500" dirty="0">
                <a:solidFill>
                  <a:srgbClr val="4A5266"/>
                </a:solidFill>
              </a:rPr>
              <a:t>Pallets of another AIS plant go home on a challan; the owner plant receives them on that challan</a:t>
            </a:r>
            <a:endParaRPr lang="en-US" sz="1500" dirty="0"/>
          </a:p>
        </p:txBody>
      </p:sp>
      <p:sp>
        <p:nvSpPr>
          <p:cNvPr id="4" name="Who"/>
          <p:cNvSpPr/>
          <p:nvPr/>
        </p:nvSpPr>
        <p:spPr>
          <a:xfrm>
            <a:off x="9966960" y="384048"/>
            <a:ext cx="1783080" cy="457200"/>
          </a:xfrm>
          <a:prstGeom prst="roundRect">
            <a:avLst>
              <a:gd name="adj" fmla="val 20000"/>
            </a:avLst>
          </a:prstGeom>
          <a:solidFill>
            <a:schemeClr val="accent4"/>
          </a:solidFill>
          <a:ln/>
        </p:spPr>
        <p:txBody>
          <a:bodyPr wrap="square" lIns="38100" tIns="38100" rIns="38100" bIns="38100" rtlCol="0" anchor="ctr"/>
          <a:lstStyle/>
          <a:p>
            <a:pPr algn="ctr" indent="0" marL="0">
              <a:buNone/>
            </a:pPr>
            <a:r>
              <a:rPr lang="en-US" sz="1100" b="1" dirty="0">
                <a:solidFill>
                  <a:schemeClr val="bg1"/>
                </a:solidFill>
              </a:rPr>
              <a:t>Pallet yard · Logistics · Security</a:t>
            </a:r>
            <a:endParaRPr lang="en-US" sz="1100" dirty="0"/>
          </a:p>
        </p:txBody>
      </p:sp>
      <p:pic>
        <p:nvPicPr>
          <p:cNvPr id="5" name="Back to map" descr="preencoded.png">
            <a:hlinkClick r:id="rId2" tooltip="Process map" action="ppaction://hlinksldjump"/>
          </p:cNvPr>
          <p:cNvPicPr>
            <a:picLocks noChangeAspect="1"/>
          </p:cNvPicPr>
          <p:nvPr/>
        </p:nvPicPr>
        <p:blipFill>
          <a:blip r:embed="rId1"/>
          <a:stretch>
            <a:fillRect/>
          </a:stretch>
        </p:blipFill>
        <p:spPr>
          <a:xfrm>
            <a:off x="11384280" y="987552"/>
            <a:ext cx="329184" cy="329184"/>
          </a:xfrm>
          <a:prstGeom prst="rect">
            <a:avLst/>
          </a:prstGeom>
        </p:spPr>
      </p:pic>
      <p:sp>
        <p:nvSpPr>
          <p:cNvPr id="6" name="Step card 1"/>
          <p:cNvSpPr/>
          <p:nvPr/>
        </p:nvSpPr>
        <p:spPr>
          <a:xfrm>
            <a:off x="457200" y="1600200"/>
            <a:ext cx="3587496" cy="4709160"/>
          </a:xfrm>
          <a:prstGeom prst="roundRect">
            <a:avLst>
              <a:gd name="adj" fmla="val 2549"/>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7" name="Step screen 1" descr="/tmp/claude-0/-home-claude/604fe074-c4a3-59f5-a7f0-a4d942adf429/scratchpad/deck/th/i07_pun_in_gate.jpg">
            <a:hlinkClick r:id="rId6" tooltip="Open picture: PUN IN gate" action="ppaction://hlinksldjump"/>
          </p:cNvPr>
          <p:cNvPicPr>
            <a:picLocks noChangeAspect="1"/>
          </p:cNvPicPr>
          <p:nvPr/>
        </p:nvPicPr>
        <p:blipFill>
          <a:blip r:embed="rId3"/>
          <a:stretch>
            <a:fillRect/>
          </a:stretch>
        </p:blipFill>
        <p:spPr>
          <a:xfrm>
            <a:off x="1583599" y="1737360"/>
            <a:ext cx="1334697" cy="2788920"/>
          </a:xfrm>
          <a:prstGeom prst="rect">
            <a:avLst/>
          </a:prstGeom>
        </p:spPr>
      </p:pic>
      <p:sp>
        <p:nvSpPr>
          <p:cNvPr id="8" name="Step number 1"/>
          <p:cNvSpPr/>
          <p:nvPr/>
        </p:nvSpPr>
        <p:spPr>
          <a:xfrm>
            <a:off x="594360" y="4690872"/>
            <a:ext cx="347472" cy="347472"/>
          </a:xfrm>
          <a:prstGeom prst="ellipse">
            <a:avLst/>
          </a:prstGeom>
          <a:solidFill>
            <a:schemeClr val="accent4"/>
          </a:solid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9" name="Step title 1"/>
          <p:cNvSpPr txBox="1"/>
          <p:nvPr/>
        </p:nvSpPr>
        <p:spPr>
          <a:xfrm>
            <a:off x="1005840" y="4636008"/>
            <a:ext cx="2947416"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PUN IN gate</a:t>
            </a:r>
            <a:endParaRPr lang="en-US" sz="1300" dirty="0"/>
          </a:p>
        </p:txBody>
      </p:sp>
      <p:sp>
        <p:nvSpPr>
          <p:cNvPr id="10" name="Step text 1"/>
          <p:cNvSpPr txBox="1"/>
          <p:nvPr/>
        </p:nvSpPr>
        <p:spPr>
          <a:xfrm>
            <a:off x="594360" y="5166360"/>
            <a:ext cx="3313176" cy="658368"/>
          </a:xfrm>
          <a:prstGeom prst="rect">
            <a:avLst/>
          </a:prstGeom>
          <a:noFill/>
          <a:ln/>
        </p:spPr>
        <p:txBody>
          <a:bodyPr wrap="square" lIns="0" tIns="0" rIns="0" bIns="0" rtlCol="0" anchor="t"/>
          <a:lstStyle/>
          <a:p>
            <a:pPr indent="0" marL="0">
              <a:buNone/>
            </a:pPr>
            <a:r>
              <a:rPr lang="en-US" sz="1100" dirty="0">
                <a:solidFill>
                  <a:srgbClr val="4A5266"/>
                </a:solidFill>
              </a:rPr>
              <a:t>Same challan scanned → gate entry</a:t>
            </a:r>
            <a:endParaRPr lang="en-US" sz="1100" dirty="0"/>
          </a:p>
        </p:txBody>
      </p:sp>
      <p:pic>
        <p:nvPicPr>
          <p:cNvPr id="11" name="Open step 1" descr="preencoded.png">
            <a:hlinkClick r:id="rId6" tooltip="Open picture: PUN IN gate" action="ppaction://hlinksldjump"/>
          </p:cNvPr>
          <p:cNvPicPr>
            <a:picLocks noChangeAspect="1"/>
          </p:cNvPicPr>
          <p:nvPr/>
        </p:nvPicPr>
        <p:blipFill>
          <a:blip r:embed="rId5"/>
          <a:stretch>
            <a:fillRect/>
          </a:stretch>
        </p:blipFill>
        <p:spPr>
          <a:xfrm>
            <a:off x="3569208" y="5852160"/>
            <a:ext cx="329184" cy="329184"/>
          </a:xfrm>
          <a:prstGeom prst="rect">
            <a:avLst/>
          </a:prstGeom>
        </p:spPr>
      </p:pic>
      <p:sp>
        <p:nvSpPr>
          <p:cNvPr id="12" name="Flow arrow 1"/>
          <p:cNvSpPr txBox="1"/>
          <p:nvPr/>
        </p:nvSpPr>
        <p:spPr>
          <a:xfrm>
            <a:off x="4026408" y="2880360"/>
            <a:ext cx="292608" cy="457200"/>
          </a:xfrm>
          <a:prstGeom prst="rect">
            <a:avLst/>
          </a:prstGeom>
          <a:noFill/>
          <a:ln/>
        </p:spPr>
        <p:txBody>
          <a:bodyPr wrap="square" lIns="0" tIns="0" rIns="0" bIns="0" rtlCol="0" anchor="ctr"/>
          <a:lstStyle/>
          <a:p>
            <a:pPr algn="ctr" indent="0" marL="0">
              <a:buNone/>
            </a:pPr>
            <a:r>
              <a:rPr lang="en-US" sz="2400" b="1" dirty="0">
                <a:solidFill>
                  <a:schemeClr val="accent4"/>
                </a:solidFill>
              </a:rPr>
              <a:t>›</a:t>
            </a:r>
            <a:endParaRPr lang="en-US" sz="2400" dirty="0"/>
          </a:p>
        </p:txBody>
      </p:sp>
      <p:sp>
        <p:nvSpPr>
          <p:cNvPr id="13" name="Step card 2"/>
          <p:cNvSpPr/>
          <p:nvPr/>
        </p:nvSpPr>
        <p:spPr>
          <a:xfrm>
            <a:off x="4300728" y="1600200"/>
            <a:ext cx="3587496" cy="4709160"/>
          </a:xfrm>
          <a:prstGeom prst="roundRect">
            <a:avLst>
              <a:gd name="adj" fmla="val 2549"/>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14" name="Step screen 2" descr="/tmp/claude-0/-home-claude/604fe074-c4a3-59f5-a7f0-a4d942adf429/scratchpad/deck/th/i09_pun_yard_open.jpg">
            <a:hlinkClick r:id="rId10" tooltip="Open picture: PUN yard: challan" action="ppaction://hlinksldjump"/>
          </p:cNvPr>
          <p:cNvPicPr>
            <a:picLocks noChangeAspect="1"/>
          </p:cNvPicPr>
          <p:nvPr/>
        </p:nvPicPr>
        <p:blipFill>
          <a:blip r:embed="rId7"/>
          <a:stretch>
            <a:fillRect/>
          </a:stretch>
        </p:blipFill>
        <p:spPr>
          <a:xfrm>
            <a:off x="5427127" y="1737360"/>
            <a:ext cx="1334697" cy="2788920"/>
          </a:xfrm>
          <a:prstGeom prst="rect">
            <a:avLst/>
          </a:prstGeom>
        </p:spPr>
      </p:pic>
      <p:sp>
        <p:nvSpPr>
          <p:cNvPr id="15" name="Step number 2"/>
          <p:cNvSpPr/>
          <p:nvPr/>
        </p:nvSpPr>
        <p:spPr>
          <a:xfrm>
            <a:off x="4437888" y="4690872"/>
            <a:ext cx="347472" cy="347472"/>
          </a:xfrm>
          <a:prstGeom prst="ellipse">
            <a:avLst/>
          </a:prstGeom>
          <a:solidFill>
            <a:schemeClr val="accent4"/>
          </a:solid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16" name="Step title 2"/>
          <p:cNvSpPr txBox="1"/>
          <p:nvPr/>
        </p:nvSpPr>
        <p:spPr>
          <a:xfrm>
            <a:off x="4849368" y="4636008"/>
            <a:ext cx="2947416"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PUN yard: challan</a:t>
            </a:r>
            <a:endParaRPr lang="en-US" sz="1300" dirty="0"/>
          </a:p>
        </p:txBody>
      </p:sp>
      <p:sp>
        <p:nvSpPr>
          <p:cNvPr id="17" name="Step text 2"/>
          <p:cNvSpPr txBox="1"/>
          <p:nvPr/>
        </p:nvSpPr>
        <p:spPr>
          <a:xfrm>
            <a:off x="4437888" y="5166360"/>
            <a:ext cx="3313176" cy="658368"/>
          </a:xfrm>
          <a:prstGeom prst="rect">
            <a:avLst/>
          </a:prstGeom>
          <a:noFill/>
          <a:ln/>
        </p:spPr>
        <p:txBody>
          <a:bodyPr wrap="square" lIns="0" tIns="0" rIns="0" bIns="0" rtlCol="0" anchor="t"/>
          <a:lstStyle/>
          <a:p>
            <a:pPr indent="0" marL="0">
              <a:buNone/>
            </a:pPr>
            <a:r>
              <a:rPr lang="en-US" sz="1100" dirty="0">
                <a:solidFill>
                  <a:srgbClr val="4A5266"/>
                </a:solidFill>
              </a:rPr>
              <a:t>Our pallets back from CHN</a:t>
            </a:r>
            <a:endParaRPr lang="en-US" sz="1100" dirty="0"/>
          </a:p>
        </p:txBody>
      </p:sp>
      <p:pic>
        <p:nvPicPr>
          <p:cNvPr id="18" name="Open step 2" descr="preencoded.png">
            <a:hlinkClick r:id="rId10" tooltip="Open picture: PUN yard: challan" action="ppaction://hlinksldjump"/>
          </p:cNvPr>
          <p:cNvPicPr>
            <a:picLocks noChangeAspect="1"/>
          </p:cNvPicPr>
          <p:nvPr/>
        </p:nvPicPr>
        <p:blipFill>
          <a:blip r:embed="rId9"/>
          <a:stretch>
            <a:fillRect/>
          </a:stretch>
        </p:blipFill>
        <p:spPr>
          <a:xfrm>
            <a:off x="7412736" y="5852160"/>
            <a:ext cx="329184" cy="329184"/>
          </a:xfrm>
          <a:prstGeom prst="rect">
            <a:avLst/>
          </a:prstGeom>
        </p:spPr>
      </p:pic>
      <p:sp>
        <p:nvSpPr>
          <p:cNvPr id="19" name="Flow arrow 2"/>
          <p:cNvSpPr txBox="1"/>
          <p:nvPr/>
        </p:nvSpPr>
        <p:spPr>
          <a:xfrm>
            <a:off x="7869936" y="2880360"/>
            <a:ext cx="292608" cy="457200"/>
          </a:xfrm>
          <a:prstGeom prst="rect">
            <a:avLst/>
          </a:prstGeom>
          <a:noFill/>
          <a:ln/>
        </p:spPr>
        <p:txBody>
          <a:bodyPr wrap="square" lIns="0" tIns="0" rIns="0" bIns="0" rtlCol="0" anchor="ctr"/>
          <a:lstStyle/>
          <a:p>
            <a:pPr algn="ctr" indent="0" marL="0">
              <a:buNone/>
            </a:pPr>
            <a:r>
              <a:rPr lang="en-US" sz="2400" b="1" dirty="0">
                <a:solidFill>
                  <a:schemeClr val="accent4"/>
                </a:solidFill>
              </a:rPr>
              <a:t>›</a:t>
            </a:r>
            <a:endParaRPr lang="en-US" sz="2400" dirty="0"/>
          </a:p>
        </p:txBody>
      </p:sp>
      <p:sp>
        <p:nvSpPr>
          <p:cNvPr id="20" name="Step card 3"/>
          <p:cNvSpPr/>
          <p:nvPr/>
        </p:nvSpPr>
        <p:spPr>
          <a:xfrm>
            <a:off x="8144256" y="1600200"/>
            <a:ext cx="3587496" cy="4709160"/>
          </a:xfrm>
          <a:prstGeom prst="roundRect">
            <a:avLst>
              <a:gd name="adj" fmla="val 2549"/>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21" name="Step screen 3" descr="/tmp/claude-0/-home-claude/604fe074-c4a3-59f5-a7f0-a4d942adf429/scratchpad/deck/th/i10_pun_yard_all.jpg">
            <a:hlinkClick r:id="rId14" tooltip="Open picture: Received and closed" action="ppaction://hlinksldjump"/>
          </p:cNvPr>
          <p:cNvPicPr>
            <a:picLocks noChangeAspect="1"/>
          </p:cNvPicPr>
          <p:nvPr/>
        </p:nvPicPr>
        <p:blipFill>
          <a:blip r:embed="rId11"/>
          <a:stretch>
            <a:fillRect/>
          </a:stretch>
        </p:blipFill>
        <p:spPr>
          <a:xfrm>
            <a:off x="9270655" y="1737360"/>
            <a:ext cx="1334697" cy="2788920"/>
          </a:xfrm>
          <a:prstGeom prst="rect">
            <a:avLst/>
          </a:prstGeom>
        </p:spPr>
      </p:pic>
      <p:sp>
        <p:nvSpPr>
          <p:cNvPr id="22" name="Step number 3"/>
          <p:cNvSpPr/>
          <p:nvPr/>
        </p:nvSpPr>
        <p:spPr>
          <a:xfrm>
            <a:off x="8281416" y="4690872"/>
            <a:ext cx="347472" cy="347472"/>
          </a:xfrm>
          <a:prstGeom prst="ellipse">
            <a:avLst/>
          </a:prstGeom>
          <a:solidFill>
            <a:schemeClr val="accent4"/>
          </a:solid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23" name="Step title 3"/>
          <p:cNvSpPr txBox="1"/>
          <p:nvPr/>
        </p:nvSpPr>
        <p:spPr>
          <a:xfrm>
            <a:off x="8692896" y="4636008"/>
            <a:ext cx="2947416"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Received and closed</a:t>
            </a:r>
            <a:endParaRPr lang="en-US" sz="1300" dirty="0"/>
          </a:p>
        </p:txBody>
      </p:sp>
      <p:sp>
        <p:nvSpPr>
          <p:cNvPr id="24" name="Step text 3"/>
          <p:cNvSpPr txBox="1"/>
          <p:nvPr/>
        </p:nvSpPr>
        <p:spPr>
          <a:xfrm>
            <a:off x="8281416" y="5166360"/>
            <a:ext cx="3313176" cy="658368"/>
          </a:xfrm>
          <a:prstGeom prst="rect">
            <a:avLst/>
          </a:prstGeom>
          <a:noFill/>
          <a:ln/>
        </p:spPr>
        <p:txBody>
          <a:bodyPr wrap="square" lIns="0" tIns="0" rIns="0" bIns="0" rtlCol="0" anchor="t"/>
          <a:lstStyle/>
          <a:p>
            <a:pPr indent="0" marL="0">
              <a:buNone/>
            </a:pPr>
            <a:r>
              <a:rPr lang="en-US" sz="1100" dirty="0">
                <a:solidFill>
                  <a:srgbClr val="4A5266"/>
                </a:solidFill>
              </a:rPr>
              <a:t>3 of 3 → AVAILABLE at home</a:t>
            </a:r>
            <a:endParaRPr lang="en-US" sz="1100" dirty="0"/>
          </a:p>
        </p:txBody>
      </p:sp>
      <p:pic>
        <p:nvPicPr>
          <p:cNvPr id="25" name="Open step 3" descr="preencoded.png">
            <a:hlinkClick r:id="rId14" tooltip="Open picture: Received and closed" action="ppaction://hlinksldjump"/>
          </p:cNvPr>
          <p:cNvPicPr>
            <a:picLocks noChangeAspect="1"/>
          </p:cNvPicPr>
          <p:nvPr/>
        </p:nvPicPr>
        <p:blipFill>
          <a:blip r:embed="rId13"/>
          <a:stretch>
            <a:fillRect/>
          </a:stretch>
        </p:blipFill>
        <p:spPr>
          <a:xfrm>
            <a:off x="11256264" y="5852160"/>
            <a:ext cx="329184" cy="329184"/>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itle"/>
          <p:cNvSpPr txBox="1"/>
          <p:nvPr/>
        </p:nvSpPr>
        <p:spPr>
          <a:xfrm>
            <a:off x="457200" y="320040"/>
            <a:ext cx="9509760" cy="640080"/>
          </a:xfrm>
          <a:prstGeom prst="rect">
            <a:avLst/>
          </a:prstGeom>
          <a:noFill/>
          <a:ln/>
        </p:spPr>
        <p:txBody>
          <a:bodyPr wrap="square" lIns="0" tIns="0" rIns="0" bIns="0" rtlCol="0" anchor="ctr"/>
          <a:lstStyle/>
          <a:p>
            <a:pPr indent="0" marL="0">
              <a:buNone/>
            </a:pPr>
            <a:r>
              <a:rPr lang="en-US" sz="3200" b="1" dirty="0">
                <a:solidFill>
                  <a:schemeClr val="tx2"/>
                </a:solidFill>
              </a:rPr>
              <a:t>Monitoring on the web</a:t>
            </a:r>
            <a:endParaRPr lang="en-US" sz="3200" dirty="0"/>
          </a:p>
        </p:txBody>
      </p:sp>
      <p:sp>
        <p:nvSpPr>
          <p:cNvPr id="3" name="Subtitle"/>
          <p:cNvSpPr txBox="1"/>
          <p:nvPr/>
        </p:nvSpPr>
        <p:spPr>
          <a:xfrm>
            <a:off x="457200" y="960120"/>
            <a:ext cx="9692640" cy="411480"/>
          </a:xfrm>
          <a:prstGeom prst="rect">
            <a:avLst/>
          </a:prstGeom>
          <a:noFill/>
          <a:ln/>
        </p:spPr>
        <p:txBody>
          <a:bodyPr wrap="square" lIns="0" tIns="0" rIns="0" bIns="0" rtlCol="0" anchor="ctr"/>
          <a:lstStyle/>
          <a:p>
            <a:pPr indent="0" marL="0">
              <a:buNone/>
            </a:pPr>
            <a:r>
              <a:rPr lang="en-US" sz="1500" dirty="0">
                <a:solidFill>
                  <a:srgbClr val="4A5266"/>
                </a:solidFill>
              </a:rPr>
              <a:t>Where every pallet is, what is overdue, what was missed - all plants on one server</a:t>
            </a:r>
            <a:endParaRPr lang="en-US" sz="1500" dirty="0"/>
          </a:p>
        </p:txBody>
      </p:sp>
      <p:sp>
        <p:nvSpPr>
          <p:cNvPr id="4" name="Who"/>
          <p:cNvSpPr/>
          <p:nvPr/>
        </p:nvSpPr>
        <p:spPr>
          <a:xfrm>
            <a:off x="9966960" y="384048"/>
            <a:ext cx="1783080" cy="457200"/>
          </a:xfrm>
          <a:prstGeom prst="roundRect">
            <a:avLst>
              <a:gd name="adj" fmla="val 20000"/>
            </a:avLst>
          </a:prstGeom>
          <a:solidFill>
            <a:schemeClr val="accent1"/>
          </a:solidFill>
          <a:ln/>
        </p:spPr>
        <p:txBody>
          <a:bodyPr wrap="square" lIns="38100" tIns="38100" rIns="38100" bIns="38100" rtlCol="0" anchor="ctr"/>
          <a:lstStyle/>
          <a:p>
            <a:pPr algn="ctr" indent="0" marL="0">
              <a:buNone/>
            </a:pPr>
            <a:r>
              <a:rPr lang="en-US" sz="1100" b="1" dirty="0">
                <a:solidFill>
                  <a:schemeClr val="bg1"/>
                </a:solidFill>
              </a:rPr>
              <a:t>Plant · Logistics · Management</a:t>
            </a:r>
            <a:endParaRPr lang="en-US" sz="1100" dirty="0"/>
          </a:p>
        </p:txBody>
      </p:sp>
      <p:pic>
        <p:nvPicPr>
          <p:cNvPr id="5" name="Back to map" descr="preencoded.png">
            <a:hlinkClick r:id="rId2" tooltip="Process map" action="ppaction://hlinksldjump"/>
          </p:cNvPr>
          <p:cNvPicPr>
            <a:picLocks noChangeAspect="1"/>
          </p:cNvPicPr>
          <p:nvPr/>
        </p:nvPicPr>
        <p:blipFill>
          <a:blip r:embed="rId1"/>
          <a:stretch>
            <a:fillRect/>
          </a:stretch>
        </p:blipFill>
        <p:spPr>
          <a:xfrm>
            <a:off x="11384280" y="987552"/>
            <a:ext cx="329184" cy="329184"/>
          </a:xfrm>
          <a:prstGeom prst="rect">
            <a:avLst/>
          </a:prstGeom>
        </p:spPr>
      </p:pic>
      <p:sp>
        <p:nvSpPr>
          <p:cNvPr id="6" name="Step card 1"/>
          <p:cNvSpPr/>
          <p:nvPr/>
        </p:nvSpPr>
        <p:spPr>
          <a:xfrm>
            <a:off x="457200" y="1600200"/>
            <a:ext cx="1665732" cy="4709160"/>
          </a:xfrm>
          <a:prstGeom prst="roundRect">
            <a:avLst>
              <a:gd name="adj" fmla="val 5489"/>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7" name="Step screen 1" descr="/tmp/claude-0/-home-claude/604fe074-c4a3-59f5-a7f0-a4d942adf429/scratchpad/deck/th/w01_dashboard.jpg">
            <a:hlinkClick r:id="rId6" tooltip="Open picture: Dashboard" action="ppaction://hlinksldjump"/>
          </p:cNvPr>
          <p:cNvPicPr>
            <a:picLocks noChangeAspect="1"/>
          </p:cNvPicPr>
          <p:nvPr/>
        </p:nvPicPr>
        <p:blipFill>
          <a:blip r:embed="rId3"/>
          <a:stretch>
            <a:fillRect/>
          </a:stretch>
        </p:blipFill>
        <p:spPr>
          <a:xfrm>
            <a:off x="594360" y="2697004"/>
            <a:ext cx="1391412" cy="869632"/>
          </a:xfrm>
          <a:prstGeom prst="rect">
            <a:avLst/>
          </a:prstGeom>
        </p:spPr>
      </p:pic>
      <p:sp>
        <p:nvSpPr>
          <p:cNvPr id="8" name="Step number 1"/>
          <p:cNvSpPr/>
          <p:nvPr/>
        </p:nvSpPr>
        <p:spPr>
          <a:xfrm>
            <a:off x="594360" y="4690872"/>
            <a:ext cx="347472" cy="347472"/>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Step title 1"/>
          <p:cNvSpPr txBox="1"/>
          <p:nvPr/>
        </p:nvSpPr>
        <p:spPr>
          <a:xfrm>
            <a:off x="1005840" y="4636008"/>
            <a:ext cx="1025652"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Dashboard</a:t>
            </a:r>
            <a:endParaRPr lang="en-US" sz="1300" dirty="0"/>
          </a:p>
        </p:txBody>
      </p:sp>
      <p:sp>
        <p:nvSpPr>
          <p:cNvPr id="10" name="Step text 1"/>
          <p:cNvSpPr txBox="1"/>
          <p:nvPr/>
        </p:nvSpPr>
        <p:spPr>
          <a:xfrm>
            <a:off x="594360" y="5166360"/>
            <a:ext cx="1391412" cy="658368"/>
          </a:xfrm>
          <a:prstGeom prst="rect">
            <a:avLst/>
          </a:prstGeom>
          <a:noFill/>
          <a:ln/>
        </p:spPr>
        <p:txBody>
          <a:bodyPr wrap="square" lIns="0" tIns="0" rIns="0" bIns="0" rtlCol="0" anchor="t"/>
          <a:lstStyle/>
          <a:p>
            <a:pPr indent="0" marL="0">
              <a:buNone/>
            </a:pPr>
            <a:r>
              <a:rPr lang="en-US" sz="1100" dirty="0">
                <a:solidFill>
                  <a:srgbClr val="4A5266"/>
                </a:solidFill>
              </a:rPr>
              <a:t>Pallets by place, holding, turnaround</a:t>
            </a:r>
            <a:endParaRPr lang="en-US" sz="1100" dirty="0"/>
          </a:p>
        </p:txBody>
      </p:sp>
      <p:pic>
        <p:nvPicPr>
          <p:cNvPr id="11" name="Open step 1" descr="preencoded.png">
            <a:hlinkClick r:id="rId6" tooltip="Open picture: Dashboard" action="ppaction://hlinksldjump"/>
          </p:cNvPr>
          <p:cNvPicPr>
            <a:picLocks noChangeAspect="1"/>
          </p:cNvPicPr>
          <p:nvPr/>
        </p:nvPicPr>
        <p:blipFill>
          <a:blip r:embed="rId5"/>
          <a:stretch>
            <a:fillRect/>
          </a:stretch>
        </p:blipFill>
        <p:spPr>
          <a:xfrm>
            <a:off x="1647444" y="5852160"/>
            <a:ext cx="329184" cy="329184"/>
          </a:xfrm>
          <a:prstGeom prst="rect">
            <a:avLst/>
          </a:prstGeom>
        </p:spPr>
      </p:pic>
      <p:sp>
        <p:nvSpPr>
          <p:cNvPr id="12" name="Flow arrow 1"/>
          <p:cNvSpPr txBox="1"/>
          <p:nvPr/>
        </p:nvSpPr>
        <p:spPr>
          <a:xfrm>
            <a:off x="2104644" y="2880360"/>
            <a:ext cx="292608" cy="457200"/>
          </a:xfrm>
          <a:prstGeom prst="rect">
            <a:avLst/>
          </a:prstGeom>
          <a:noFill/>
          <a:ln/>
        </p:spPr>
        <p:txBody>
          <a:bodyPr wrap="square" lIns="0" tIns="0" rIns="0" bIns="0" rtlCol="0" anchor="ctr"/>
          <a:lstStyle/>
          <a:p>
            <a:pPr algn="ctr" indent="0" marL="0">
              <a:buNone/>
            </a:pPr>
            <a:r>
              <a:rPr lang="en-US" sz="2400" b="1" dirty="0">
                <a:solidFill>
                  <a:schemeClr val="accent1"/>
                </a:solidFill>
              </a:rPr>
              <a:t>›</a:t>
            </a:r>
            <a:endParaRPr lang="en-US" sz="2400" dirty="0"/>
          </a:p>
        </p:txBody>
      </p:sp>
      <p:sp>
        <p:nvSpPr>
          <p:cNvPr id="13" name="Step card 2"/>
          <p:cNvSpPr/>
          <p:nvPr/>
        </p:nvSpPr>
        <p:spPr>
          <a:xfrm>
            <a:off x="2378964" y="1600200"/>
            <a:ext cx="1665732" cy="4709160"/>
          </a:xfrm>
          <a:prstGeom prst="roundRect">
            <a:avLst>
              <a:gd name="adj" fmla="val 5489"/>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14" name="Step screen 2" descr="/tmp/claude-0/-home-claude/604fe074-c4a3-59f5-a7f0-a4d942adf429/scratchpad/deck/th/w07_plant_position.jpg">
            <a:hlinkClick r:id="rId10" tooltip="Open picture: Plant position" action="ppaction://hlinksldjump"/>
          </p:cNvPr>
          <p:cNvPicPr>
            <a:picLocks noChangeAspect="1"/>
          </p:cNvPicPr>
          <p:nvPr/>
        </p:nvPicPr>
        <p:blipFill>
          <a:blip r:embed="rId7"/>
          <a:stretch>
            <a:fillRect/>
          </a:stretch>
        </p:blipFill>
        <p:spPr>
          <a:xfrm>
            <a:off x="2516124" y="2697004"/>
            <a:ext cx="1391412" cy="869632"/>
          </a:xfrm>
          <a:prstGeom prst="rect">
            <a:avLst/>
          </a:prstGeom>
        </p:spPr>
      </p:pic>
      <p:sp>
        <p:nvSpPr>
          <p:cNvPr id="15" name="Step number 2"/>
          <p:cNvSpPr/>
          <p:nvPr/>
        </p:nvSpPr>
        <p:spPr>
          <a:xfrm>
            <a:off x="2516124" y="4690872"/>
            <a:ext cx="347472" cy="347472"/>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6" name="Step title 2"/>
          <p:cNvSpPr txBox="1"/>
          <p:nvPr/>
        </p:nvSpPr>
        <p:spPr>
          <a:xfrm>
            <a:off x="2927604" y="4636008"/>
            <a:ext cx="1025652"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Plant position</a:t>
            </a:r>
            <a:endParaRPr lang="en-US" sz="1300" dirty="0"/>
          </a:p>
        </p:txBody>
      </p:sp>
      <p:sp>
        <p:nvSpPr>
          <p:cNvPr id="17" name="Step text 2"/>
          <p:cNvSpPr txBox="1"/>
          <p:nvPr/>
        </p:nvSpPr>
        <p:spPr>
          <a:xfrm>
            <a:off x="2516124" y="5166360"/>
            <a:ext cx="1391412" cy="658368"/>
          </a:xfrm>
          <a:prstGeom prst="rect">
            <a:avLst/>
          </a:prstGeom>
          <a:noFill/>
          <a:ln/>
        </p:spPr>
        <p:txBody>
          <a:bodyPr wrap="square" lIns="0" tIns="0" rIns="0" bIns="0" rtlCol="0" anchor="t"/>
          <a:lstStyle/>
          <a:p>
            <a:pPr indent="0" marL="0">
              <a:buNone/>
            </a:pPr>
            <a:r>
              <a:rPr lang="en-US" sz="1100" dirty="0">
                <a:solidFill>
                  <a:srgbClr val="4A5266"/>
                </a:solidFill>
              </a:rPr>
              <a:t>Where are our pallets?</a:t>
            </a:r>
            <a:endParaRPr lang="en-US" sz="1100" dirty="0"/>
          </a:p>
        </p:txBody>
      </p:sp>
      <p:pic>
        <p:nvPicPr>
          <p:cNvPr id="18" name="Open step 2" descr="preencoded.png">
            <a:hlinkClick r:id="rId10" tooltip="Open picture: Plant position" action="ppaction://hlinksldjump"/>
          </p:cNvPr>
          <p:cNvPicPr>
            <a:picLocks noChangeAspect="1"/>
          </p:cNvPicPr>
          <p:nvPr/>
        </p:nvPicPr>
        <p:blipFill>
          <a:blip r:embed="rId9"/>
          <a:stretch>
            <a:fillRect/>
          </a:stretch>
        </p:blipFill>
        <p:spPr>
          <a:xfrm>
            <a:off x="3569208" y="5852160"/>
            <a:ext cx="329184" cy="329184"/>
          </a:xfrm>
          <a:prstGeom prst="rect">
            <a:avLst/>
          </a:prstGeom>
        </p:spPr>
      </p:pic>
      <p:sp>
        <p:nvSpPr>
          <p:cNvPr id="19" name="Flow arrow 2"/>
          <p:cNvSpPr txBox="1"/>
          <p:nvPr/>
        </p:nvSpPr>
        <p:spPr>
          <a:xfrm>
            <a:off x="4026408" y="2880360"/>
            <a:ext cx="292608" cy="457200"/>
          </a:xfrm>
          <a:prstGeom prst="rect">
            <a:avLst/>
          </a:prstGeom>
          <a:noFill/>
          <a:ln/>
        </p:spPr>
        <p:txBody>
          <a:bodyPr wrap="square" lIns="0" tIns="0" rIns="0" bIns="0" rtlCol="0" anchor="ctr"/>
          <a:lstStyle/>
          <a:p>
            <a:pPr algn="ctr" indent="0" marL="0">
              <a:buNone/>
            </a:pPr>
            <a:r>
              <a:rPr lang="en-US" sz="2400" b="1" dirty="0">
                <a:solidFill>
                  <a:schemeClr val="accent1"/>
                </a:solidFill>
              </a:rPr>
              <a:t>›</a:t>
            </a:r>
            <a:endParaRPr lang="en-US" sz="2400" dirty="0"/>
          </a:p>
        </p:txBody>
      </p:sp>
      <p:sp>
        <p:nvSpPr>
          <p:cNvPr id="20" name="Step card 3"/>
          <p:cNvSpPr/>
          <p:nvPr/>
        </p:nvSpPr>
        <p:spPr>
          <a:xfrm>
            <a:off x="4300728" y="1600200"/>
            <a:ext cx="1665732" cy="4709160"/>
          </a:xfrm>
          <a:prstGeom prst="roundRect">
            <a:avLst>
              <a:gd name="adj" fmla="val 5489"/>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21" name="Step screen 3" descr="/tmp/claude-0/-home-claude/604fe074-c4a3-59f5-a7f0-a4d942adf429/scratchpad/deck/th/w06_slip_B_detail.jpg">
            <a:hlinkClick r:id="rId14" tooltip="Open picture: Return slip details" action="ppaction://hlinksldjump"/>
          </p:cNvPr>
          <p:cNvPicPr>
            <a:picLocks noChangeAspect="1"/>
          </p:cNvPicPr>
          <p:nvPr/>
        </p:nvPicPr>
        <p:blipFill>
          <a:blip r:embed="rId11"/>
          <a:stretch>
            <a:fillRect/>
          </a:stretch>
        </p:blipFill>
        <p:spPr>
          <a:xfrm>
            <a:off x="4437888" y="2697004"/>
            <a:ext cx="1391412" cy="869632"/>
          </a:xfrm>
          <a:prstGeom prst="rect">
            <a:avLst/>
          </a:prstGeom>
        </p:spPr>
      </p:pic>
      <p:sp>
        <p:nvSpPr>
          <p:cNvPr id="22" name="Step number 3"/>
          <p:cNvSpPr/>
          <p:nvPr/>
        </p:nvSpPr>
        <p:spPr>
          <a:xfrm>
            <a:off x="4437888" y="4690872"/>
            <a:ext cx="347472" cy="347472"/>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3" name="Step title 3"/>
          <p:cNvSpPr txBox="1"/>
          <p:nvPr/>
        </p:nvSpPr>
        <p:spPr>
          <a:xfrm>
            <a:off x="4849368" y="4636008"/>
            <a:ext cx="1025652"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Return slip details</a:t>
            </a:r>
            <a:endParaRPr lang="en-US" sz="1300" dirty="0"/>
          </a:p>
        </p:txBody>
      </p:sp>
      <p:sp>
        <p:nvSpPr>
          <p:cNvPr id="24" name="Step text 3"/>
          <p:cNvSpPr txBox="1"/>
          <p:nvPr/>
        </p:nvSpPr>
        <p:spPr>
          <a:xfrm>
            <a:off x="4437888" y="5166360"/>
            <a:ext cx="1391412" cy="658368"/>
          </a:xfrm>
          <a:prstGeom prst="rect">
            <a:avLst/>
          </a:prstGeom>
          <a:noFill/>
          <a:ln/>
        </p:spPr>
        <p:txBody>
          <a:bodyPr wrap="square" lIns="0" tIns="0" rIns="0" bIns="0" rtlCol="0" anchor="t"/>
          <a:lstStyle/>
          <a:p>
            <a:pPr indent="0" marL="0">
              <a:buNone/>
            </a:pPr>
            <a:r>
              <a:rPr lang="en-US" sz="1100" dirty="0">
                <a:solidFill>
                  <a:srgbClr val="4A5266"/>
                </a:solidFill>
              </a:rPr>
              <a:t>Pallets + customer document photo</a:t>
            </a:r>
            <a:endParaRPr lang="en-US" sz="1100" dirty="0"/>
          </a:p>
        </p:txBody>
      </p:sp>
      <p:pic>
        <p:nvPicPr>
          <p:cNvPr id="25" name="Open step 3" descr="preencoded.png">
            <a:hlinkClick r:id="rId14" tooltip="Open picture: Return slip details" action="ppaction://hlinksldjump"/>
          </p:cNvPr>
          <p:cNvPicPr>
            <a:picLocks noChangeAspect="1"/>
          </p:cNvPicPr>
          <p:nvPr/>
        </p:nvPicPr>
        <p:blipFill>
          <a:blip r:embed="rId13"/>
          <a:stretch>
            <a:fillRect/>
          </a:stretch>
        </p:blipFill>
        <p:spPr>
          <a:xfrm>
            <a:off x="5490972" y="5852160"/>
            <a:ext cx="329184" cy="329184"/>
          </a:xfrm>
          <a:prstGeom prst="rect">
            <a:avLst/>
          </a:prstGeom>
        </p:spPr>
      </p:pic>
      <p:sp>
        <p:nvSpPr>
          <p:cNvPr id="26" name="Flow arrow 3"/>
          <p:cNvSpPr txBox="1"/>
          <p:nvPr/>
        </p:nvSpPr>
        <p:spPr>
          <a:xfrm>
            <a:off x="5948172" y="2880360"/>
            <a:ext cx="292608" cy="457200"/>
          </a:xfrm>
          <a:prstGeom prst="rect">
            <a:avLst/>
          </a:prstGeom>
          <a:noFill/>
          <a:ln/>
        </p:spPr>
        <p:txBody>
          <a:bodyPr wrap="square" lIns="0" tIns="0" rIns="0" bIns="0" rtlCol="0" anchor="ctr"/>
          <a:lstStyle/>
          <a:p>
            <a:pPr algn="ctr" indent="0" marL="0">
              <a:buNone/>
            </a:pPr>
            <a:r>
              <a:rPr lang="en-US" sz="2400" b="1" dirty="0">
                <a:solidFill>
                  <a:schemeClr val="accent1"/>
                </a:solidFill>
              </a:rPr>
              <a:t>›</a:t>
            </a:r>
            <a:endParaRPr lang="en-US" sz="2400" dirty="0"/>
          </a:p>
        </p:txBody>
      </p:sp>
      <p:sp>
        <p:nvSpPr>
          <p:cNvPr id="27" name="Step card 4"/>
          <p:cNvSpPr/>
          <p:nvPr/>
        </p:nvSpPr>
        <p:spPr>
          <a:xfrm>
            <a:off x="6222492" y="1600200"/>
            <a:ext cx="1665732" cy="4709160"/>
          </a:xfrm>
          <a:prstGeom prst="roundRect">
            <a:avLst>
              <a:gd name="adj" fmla="val 5489"/>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28" name="Step screen 4" descr="/tmp/claude-0/-home-claude/604fe074-c4a3-59f5-a7f0-a4d942adf429/scratchpad/deck/th/w08_missed_scans.jpg">
            <a:hlinkClick r:id="rId18" tooltip="Open picture: Missed scans" action="ppaction://hlinksldjump"/>
          </p:cNvPr>
          <p:cNvPicPr>
            <a:picLocks noChangeAspect="1"/>
          </p:cNvPicPr>
          <p:nvPr/>
        </p:nvPicPr>
        <p:blipFill>
          <a:blip r:embed="rId15"/>
          <a:stretch>
            <a:fillRect/>
          </a:stretch>
        </p:blipFill>
        <p:spPr>
          <a:xfrm>
            <a:off x="6359652" y="2697004"/>
            <a:ext cx="1391412" cy="869632"/>
          </a:xfrm>
          <a:prstGeom prst="rect">
            <a:avLst/>
          </a:prstGeom>
        </p:spPr>
      </p:pic>
      <p:sp>
        <p:nvSpPr>
          <p:cNvPr id="29" name="Step number 4"/>
          <p:cNvSpPr/>
          <p:nvPr/>
        </p:nvSpPr>
        <p:spPr>
          <a:xfrm>
            <a:off x="6359652" y="4690872"/>
            <a:ext cx="347472" cy="347472"/>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0" name="Step title 4"/>
          <p:cNvSpPr txBox="1"/>
          <p:nvPr/>
        </p:nvSpPr>
        <p:spPr>
          <a:xfrm>
            <a:off x="6771132" y="4636008"/>
            <a:ext cx="1025652"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Missed scans</a:t>
            </a:r>
            <a:endParaRPr lang="en-US" sz="1300" dirty="0"/>
          </a:p>
        </p:txBody>
      </p:sp>
      <p:sp>
        <p:nvSpPr>
          <p:cNvPr id="31" name="Step text 4"/>
          <p:cNvSpPr txBox="1"/>
          <p:nvPr/>
        </p:nvSpPr>
        <p:spPr>
          <a:xfrm>
            <a:off x="6359652" y="5166360"/>
            <a:ext cx="1391412" cy="658368"/>
          </a:xfrm>
          <a:prstGeom prst="rect">
            <a:avLst/>
          </a:prstGeom>
          <a:noFill/>
          <a:ln/>
        </p:spPr>
        <p:txBody>
          <a:bodyPr wrap="square" lIns="0" tIns="0" rIns="0" bIns="0" rtlCol="0" anchor="t"/>
          <a:lstStyle/>
          <a:p>
            <a:pPr indent="0" marL="0">
              <a:buNone/>
            </a:pPr>
            <a:r>
              <a:rPr lang="en-US" sz="1100" dirty="0">
                <a:solidFill>
                  <a:srgbClr val="4A5266"/>
                </a:solidFill>
              </a:rPr>
              <a:t>Skipped scan points, auto-corrected</a:t>
            </a:r>
            <a:endParaRPr lang="en-US" sz="1100" dirty="0"/>
          </a:p>
        </p:txBody>
      </p:sp>
      <p:pic>
        <p:nvPicPr>
          <p:cNvPr id="32" name="Open step 4" descr="preencoded.png">
            <a:hlinkClick r:id="rId18" tooltip="Open picture: Missed scans" action="ppaction://hlinksldjump"/>
          </p:cNvPr>
          <p:cNvPicPr>
            <a:picLocks noChangeAspect="1"/>
          </p:cNvPicPr>
          <p:nvPr/>
        </p:nvPicPr>
        <p:blipFill>
          <a:blip r:embed="rId17"/>
          <a:stretch>
            <a:fillRect/>
          </a:stretch>
        </p:blipFill>
        <p:spPr>
          <a:xfrm>
            <a:off x="7412736" y="5852160"/>
            <a:ext cx="329184" cy="329184"/>
          </a:xfrm>
          <a:prstGeom prst="rect">
            <a:avLst/>
          </a:prstGeom>
        </p:spPr>
      </p:pic>
      <p:sp>
        <p:nvSpPr>
          <p:cNvPr id="33" name="Flow arrow 4"/>
          <p:cNvSpPr txBox="1"/>
          <p:nvPr/>
        </p:nvSpPr>
        <p:spPr>
          <a:xfrm>
            <a:off x="7869936" y="2880360"/>
            <a:ext cx="292608" cy="457200"/>
          </a:xfrm>
          <a:prstGeom prst="rect">
            <a:avLst/>
          </a:prstGeom>
          <a:noFill/>
          <a:ln/>
        </p:spPr>
        <p:txBody>
          <a:bodyPr wrap="square" lIns="0" tIns="0" rIns="0" bIns="0" rtlCol="0" anchor="ctr"/>
          <a:lstStyle/>
          <a:p>
            <a:pPr algn="ctr" indent="0" marL="0">
              <a:buNone/>
            </a:pPr>
            <a:r>
              <a:rPr lang="en-US" sz="2400" b="1" dirty="0">
                <a:solidFill>
                  <a:schemeClr val="accent1"/>
                </a:solidFill>
              </a:rPr>
              <a:t>›</a:t>
            </a:r>
            <a:endParaRPr lang="en-US" sz="2400" dirty="0"/>
          </a:p>
        </p:txBody>
      </p:sp>
      <p:sp>
        <p:nvSpPr>
          <p:cNvPr id="34" name="Step card 5"/>
          <p:cNvSpPr/>
          <p:nvPr/>
        </p:nvSpPr>
        <p:spPr>
          <a:xfrm>
            <a:off x="8144256" y="1600200"/>
            <a:ext cx="1665732" cy="4709160"/>
          </a:xfrm>
          <a:prstGeom prst="roundRect">
            <a:avLst>
              <a:gd name="adj" fmla="val 5489"/>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35" name="Step screen 5" descr="/tmp/claude-0/-home-claude/604fe074-c4a3-59f5-a7f0-a4d942adf429/scratchpad/deck/th/w09_live.jpg">
            <a:hlinkClick r:id="rId22" tooltip="Open picture: Live transactions" action="ppaction://hlinksldjump"/>
          </p:cNvPr>
          <p:cNvPicPr>
            <a:picLocks noChangeAspect="1"/>
          </p:cNvPicPr>
          <p:nvPr/>
        </p:nvPicPr>
        <p:blipFill>
          <a:blip r:embed="rId19"/>
          <a:stretch>
            <a:fillRect/>
          </a:stretch>
        </p:blipFill>
        <p:spPr>
          <a:xfrm>
            <a:off x="8281416" y="2697004"/>
            <a:ext cx="1391412" cy="869632"/>
          </a:xfrm>
          <a:prstGeom prst="rect">
            <a:avLst/>
          </a:prstGeom>
        </p:spPr>
      </p:pic>
      <p:sp>
        <p:nvSpPr>
          <p:cNvPr id="36" name="Step number 5"/>
          <p:cNvSpPr/>
          <p:nvPr/>
        </p:nvSpPr>
        <p:spPr>
          <a:xfrm>
            <a:off x="8281416" y="4690872"/>
            <a:ext cx="347472" cy="347472"/>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7" name="Step title 5"/>
          <p:cNvSpPr txBox="1"/>
          <p:nvPr/>
        </p:nvSpPr>
        <p:spPr>
          <a:xfrm>
            <a:off x="8692896" y="4636008"/>
            <a:ext cx="1025652"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Live transactions</a:t>
            </a:r>
            <a:endParaRPr lang="en-US" sz="1300" dirty="0"/>
          </a:p>
        </p:txBody>
      </p:sp>
      <p:sp>
        <p:nvSpPr>
          <p:cNvPr id="38" name="Step text 5"/>
          <p:cNvSpPr txBox="1"/>
          <p:nvPr/>
        </p:nvSpPr>
        <p:spPr>
          <a:xfrm>
            <a:off x="8281416" y="5166360"/>
            <a:ext cx="1391412" cy="658368"/>
          </a:xfrm>
          <a:prstGeom prst="rect">
            <a:avLst/>
          </a:prstGeom>
          <a:noFill/>
          <a:ln/>
        </p:spPr>
        <p:txBody>
          <a:bodyPr wrap="square" lIns="0" tIns="0" rIns="0" bIns="0" rtlCol="0" anchor="t"/>
          <a:lstStyle/>
          <a:p>
            <a:pPr indent="0" marL="0">
              <a:buNone/>
            </a:pPr>
            <a:r>
              <a:rPr lang="en-US" sz="1100" dirty="0">
                <a:solidFill>
                  <a:srgbClr val="4A5266"/>
                </a:solidFill>
              </a:rPr>
              <a:t>Every HHT scan within 10 s</a:t>
            </a:r>
            <a:endParaRPr lang="en-US" sz="1100" dirty="0"/>
          </a:p>
        </p:txBody>
      </p:sp>
      <p:pic>
        <p:nvPicPr>
          <p:cNvPr id="39" name="Open step 5" descr="preencoded.png">
            <a:hlinkClick r:id="rId22" tooltip="Open picture: Live transactions" action="ppaction://hlinksldjump"/>
          </p:cNvPr>
          <p:cNvPicPr>
            <a:picLocks noChangeAspect="1"/>
          </p:cNvPicPr>
          <p:nvPr/>
        </p:nvPicPr>
        <p:blipFill>
          <a:blip r:embed="rId21"/>
          <a:stretch>
            <a:fillRect/>
          </a:stretch>
        </p:blipFill>
        <p:spPr>
          <a:xfrm>
            <a:off x="9334500" y="5852160"/>
            <a:ext cx="329184" cy="329184"/>
          </a:xfrm>
          <a:prstGeom prst="rect">
            <a:avLst/>
          </a:prstGeom>
        </p:spPr>
      </p:pic>
      <p:sp>
        <p:nvSpPr>
          <p:cNvPr id="40" name="Flow arrow 5"/>
          <p:cNvSpPr txBox="1"/>
          <p:nvPr/>
        </p:nvSpPr>
        <p:spPr>
          <a:xfrm>
            <a:off x="9791700" y="2880360"/>
            <a:ext cx="292608" cy="457200"/>
          </a:xfrm>
          <a:prstGeom prst="rect">
            <a:avLst/>
          </a:prstGeom>
          <a:noFill/>
          <a:ln/>
        </p:spPr>
        <p:txBody>
          <a:bodyPr wrap="square" lIns="0" tIns="0" rIns="0" bIns="0" rtlCol="0" anchor="ctr"/>
          <a:lstStyle/>
          <a:p>
            <a:pPr algn="ctr" indent="0" marL="0">
              <a:buNone/>
            </a:pPr>
            <a:r>
              <a:rPr lang="en-US" sz="2400" b="1" dirty="0">
                <a:solidFill>
                  <a:schemeClr val="accent1"/>
                </a:solidFill>
              </a:rPr>
              <a:t>›</a:t>
            </a:r>
            <a:endParaRPr lang="en-US" sz="2400" dirty="0"/>
          </a:p>
        </p:txBody>
      </p:sp>
      <p:sp>
        <p:nvSpPr>
          <p:cNvPr id="41" name="Step card 6"/>
          <p:cNvSpPr/>
          <p:nvPr/>
        </p:nvSpPr>
        <p:spPr>
          <a:xfrm>
            <a:off x="10066020" y="1600200"/>
            <a:ext cx="1665732" cy="4709160"/>
          </a:xfrm>
          <a:prstGeom prst="roundRect">
            <a:avLst>
              <a:gd name="adj" fmla="val 5489"/>
            </a:avLst>
          </a:prstGeom>
          <a:solidFill>
            <a:schemeClr val="bg1"/>
          </a:solidFill>
          <a:ln w="9525">
            <a:solidFill>
              <a:srgbClr val="D5DBE8"/>
            </a:solidFill>
            <a:prstDash val="solid"/>
          </a:ln>
          <a:effectLst>
            <a:outerShdw sx="100000" sy="100000" kx="0" ky="0" algn="bl" rotWithShape="0" blurRad="76200" dist="25400" dir="5400000">
              <a:srgbClr val="1E2A5A">
                <a:alpha val="12000"/>
              </a:srgbClr>
            </a:outerShdw>
          </a:effectLst>
        </p:spPr>
      </p:sp>
      <p:pic>
        <p:nvPicPr>
          <p:cNvPr id="42" name="Step screen 6" descr="/tmp/claude-0/-home-claude/604fe074-c4a3-59f5-a7f0-a4d942adf429/scratchpad/deck/th/w10_transporters_plant_user.jpg">
            <a:hlinkClick r:id="rId26" tooltip="Open picture: Transporter master" action="ppaction://hlinksldjump"/>
          </p:cNvPr>
          <p:cNvPicPr>
            <a:picLocks noChangeAspect="1"/>
          </p:cNvPicPr>
          <p:nvPr/>
        </p:nvPicPr>
        <p:blipFill>
          <a:blip r:embed="rId23"/>
          <a:stretch>
            <a:fillRect/>
          </a:stretch>
        </p:blipFill>
        <p:spPr>
          <a:xfrm>
            <a:off x="10203180" y="2697004"/>
            <a:ext cx="1391412" cy="869632"/>
          </a:xfrm>
          <a:prstGeom prst="rect">
            <a:avLst/>
          </a:prstGeom>
        </p:spPr>
      </p:pic>
      <p:sp>
        <p:nvSpPr>
          <p:cNvPr id="43" name="Step number 6"/>
          <p:cNvSpPr/>
          <p:nvPr/>
        </p:nvSpPr>
        <p:spPr>
          <a:xfrm>
            <a:off x="10203180" y="4690872"/>
            <a:ext cx="347472" cy="347472"/>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44" name="Step title 6"/>
          <p:cNvSpPr txBox="1"/>
          <p:nvPr/>
        </p:nvSpPr>
        <p:spPr>
          <a:xfrm>
            <a:off x="10614660" y="4636008"/>
            <a:ext cx="1025652" cy="457200"/>
          </a:xfrm>
          <a:prstGeom prst="rect">
            <a:avLst/>
          </a:prstGeom>
          <a:noFill/>
          <a:ln/>
        </p:spPr>
        <p:txBody>
          <a:bodyPr wrap="square" lIns="0" tIns="0" rIns="0" bIns="0" rtlCol="0" anchor="ctr">
            <a:normAutofit/>
          </a:bodyPr>
          <a:lstStyle/>
          <a:p>
            <a:pPr indent="0" marL="0">
              <a:buNone/>
            </a:pPr>
            <a:r>
              <a:rPr lang="en-US" sz="1300" b="1" dirty="0">
                <a:solidFill>
                  <a:schemeClr val="tx2"/>
                </a:solidFill>
              </a:rPr>
              <a:t>Transporter master</a:t>
            </a:r>
            <a:endParaRPr lang="en-US" sz="1300" dirty="0"/>
          </a:p>
        </p:txBody>
      </p:sp>
      <p:sp>
        <p:nvSpPr>
          <p:cNvPr id="45" name="Step text 6"/>
          <p:cNvSpPr txBox="1"/>
          <p:nvPr/>
        </p:nvSpPr>
        <p:spPr>
          <a:xfrm>
            <a:off x="10203180" y="5166360"/>
            <a:ext cx="1391412" cy="658368"/>
          </a:xfrm>
          <a:prstGeom prst="rect">
            <a:avLst/>
          </a:prstGeom>
          <a:noFill/>
          <a:ln/>
        </p:spPr>
        <p:txBody>
          <a:bodyPr wrap="square" lIns="0" tIns="0" rIns="0" bIns="0" rtlCol="0" anchor="t"/>
          <a:lstStyle/>
          <a:p>
            <a:pPr indent="0" marL="0">
              <a:buNone/>
            </a:pPr>
            <a:r>
              <a:rPr lang="en-US" sz="1100" dirty="0">
                <a:solidFill>
                  <a:srgbClr val="4A5266"/>
                </a:solidFill>
              </a:rPr>
              <a:t>Template + upload for plant users</a:t>
            </a:r>
            <a:endParaRPr lang="en-US" sz="1100" dirty="0"/>
          </a:p>
        </p:txBody>
      </p:sp>
      <p:pic>
        <p:nvPicPr>
          <p:cNvPr id="46" name="Open step 6" descr="preencoded.png">
            <a:hlinkClick r:id="rId26" tooltip="Open picture: Transporter master" action="ppaction://hlinksldjump"/>
          </p:cNvPr>
          <p:cNvPicPr>
            <a:picLocks noChangeAspect="1"/>
          </p:cNvPicPr>
          <p:nvPr/>
        </p:nvPicPr>
        <p:blipFill>
          <a:blip r:embed="rId25"/>
          <a:stretch>
            <a:fillRect/>
          </a:stretch>
        </p:blipFill>
        <p:spPr>
          <a:xfrm>
            <a:off x="11256264" y="5852160"/>
            <a:ext cx="329184" cy="329184"/>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itle"/>
          <p:cNvSpPr txBox="1"/>
          <p:nvPr/>
        </p:nvSpPr>
        <p:spPr>
          <a:xfrm>
            <a:off x="548640" y="411480"/>
            <a:ext cx="10058400" cy="731520"/>
          </a:xfrm>
          <a:prstGeom prst="rect">
            <a:avLst/>
          </a:prstGeom>
          <a:noFill/>
          <a:ln/>
        </p:spPr>
        <p:txBody>
          <a:bodyPr wrap="square" lIns="0" tIns="0" rIns="0" bIns="0" rtlCol="0" anchor="ctr"/>
          <a:lstStyle/>
          <a:p>
            <a:pPr indent="0" marL="0">
              <a:buNone/>
            </a:pPr>
            <a:r>
              <a:rPr lang="en-US" sz="3600" b="1" dirty="0">
                <a:solidFill>
                  <a:schemeClr val="bg1"/>
                </a:solidFill>
              </a:rPr>
              <a:t>Controls built into the flow</a:t>
            </a:r>
            <a:endParaRPr lang="en-US" sz="3600" dirty="0"/>
          </a:p>
        </p:txBody>
      </p:sp>
      <p:sp>
        <p:nvSpPr>
          <p:cNvPr id="3" name="Control card 1"/>
          <p:cNvSpPr/>
          <p:nvPr/>
        </p:nvSpPr>
        <p:spPr>
          <a:xfrm>
            <a:off x="548640" y="1463040"/>
            <a:ext cx="2606040" cy="2103120"/>
          </a:xfrm>
          <a:prstGeom prst="roundRect">
            <a:avLst>
              <a:gd name="adj" fmla="val 5217"/>
            </a:avLst>
          </a:prstGeom>
          <a:solidFill>
            <a:srgbClr val="2B3A78"/>
          </a:solidFill>
          <a:ln w="9525">
            <a:solidFill>
              <a:srgbClr val="3B4C93"/>
            </a:solidFill>
            <a:prstDash val="solid"/>
          </a:ln>
        </p:spPr>
      </p:sp>
      <p:sp>
        <p:nvSpPr>
          <p:cNvPr id="4" name="Control icon bg 1"/>
          <p:cNvSpPr/>
          <p:nvPr/>
        </p:nvSpPr>
        <p:spPr>
          <a:xfrm>
            <a:off x="777240" y="1691640"/>
            <a:ext cx="640080" cy="640080"/>
          </a:xfrm>
          <a:prstGeom prst="ellipse">
            <a:avLst/>
          </a:prstGeom>
          <a:solidFill>
            <a:schemeClr val="accent2"/>
          </a:solidFill>
          <a:ln w="12700">
            <a:solidFill>
              <a:srgbClr val="D32F2F"/>
            </a:solidFill>
            <a:prstDash val="solid"/>
          </a:ln>
        </p:spPr>
      </p:sp>
      <p:pic>
        <p:nvPicPr>
          <p:cNvPr id="5" name="Control icon 1" descr="preencoded.png">    </p:cNvPr>
          <p:cNvPicPr>
            <a:picLocks noChangeAspect="1"/>
          </p:cNvPicPr>
          <p:nvPr/>
        </p:nvPicPr>
        <p:blipFill>
          <a:blip r:embed="rId1"/>
          <a:stretch>
            <a:fillRect/>
          </a:stretch>
        </p:blipFill>
        <p:spPr>
          <a:xfrm>
            <a:off x="932688" y="1847088"/>
            <a:ext cx="329184" cy="329184"/>
          </a:xfrm>
          <a:prstGeom prst="rect">
            <a:avLst/>
          </a:prstGeom>
        </p:spPr>
      </p:pic>
      <p:sp>
        <p:nvSpPr>
          <p:cNvPr id="6" name="Control text 1"/>
          <p:cNvSpPr txBox="1"/>
          <p:nvPr/>
        </p:nvSpPr>
        <p:spPr>
          <a:xfrm>
            <a:off x="777240" y="2468880"/>
            <a:ext cx="2194560" cy="1005840"/>
          </a:xfrm>
          <a:prstGeom prst="rect">
            <a:avLst/>
          </a:prstGeom>
          <a:noFill/>
          <a:ln/>
        </p:spPr>
        <p:txBody>
          <a:bodyPr wrap="square" lIns="0" tIns="0" rIns="0" bIns="0" rtlCol="0" anchor="t"/>
          <a:lstStyle/>
          <a:p>
            <a:pPr indent="0" marL="0">
              <a:buNone/>
            </a:pPr>
            <a:r>
              <a:rPr lang="en-US" sz="1600" b="1" u="sng" dirty="0">
                <a:solidFill>
                  <a:srgbClr val="FFFFFF"/>
                </a:solidFill>
                <a:hlinkClick r:id="rId2" action="ppaction://hlinksldjump" tooltip="Open the process">
                  <a:extLst>
                    <a:ext uri="{A12FA001-AC4F-418D-AE19-62706E023703}">
                      <ahyp:hlinkClr xmlns:ahyp="http://schemas.microsoft.com/office/drawing/2018/hyperlinkcolor" val="tx"/>
                    </a:ext>
                  </a:extLst>
                </a:hlinkClick>
              </a:rPr>
              <a:t>STOP - do PDI</a:t>
            </a:r>
            <a:endParaRPr lang="en-US" sz="1600" dirty="0"/>
          </a:p>
          <a:p>
            <a:pPr indent="0" marL="0">
              <a:buNone/>
            </a:pPr>
            <a:r>
              <a:rPr lang="en-US" sz="1300" dirty="0">
                <a:solidFill>
                  <a:srgbClr val="C9D3F0"/>
                </a:solidFill>
              </a:rPr>
              <a:t>A part card not on the GCS cannot be loaded</a:t>
            </a:r>
            <a:endParaRPr lang="en-US" sz="1600" dirty="0"/>
          </a:p>
        </p:txBody>
      </p:sp>
      <p:sp>
        <p:nvSpPr>
          <p:cNvPr id="7" name="Control card 2"/>
          <p:cNvSpPr/>
          <p:nvPr/>
        </p:nvSpPr>
        <p:spPr>
          <a:xfrm>
            <a:off x="3355848" y="1463040"/>
            <a:ext cx="2606040" cy="2103120"/>
          </a:xfrm>
          <a:prstGeom prst="roundRect">
            <a:avLst>
              <a:gd name="adj" fmla="val 5217"/>
            </a:avLst>
          </a:prstGeom>
          <a:solidFill>
            <a:srgbClr val="2B3A78"/>
          </a:solidFill>
          <a:ln w="9525">
            <a:solidFill>
              <a:srgbClr val="3B4C93"/>
            </a:solidFill>
            <a:prstDash val="solid"/>
          </a:ln>
        </p:spPr>
      </p:sp>
      <p:sp>
        <p:nvSpPr>
          <p:cNvPr id="8" name="Control icon bg 2"/>
          <p:cNvSpPr/>
          <p:nvPr/>
        </p:nvSpPr>
        <p:spPr>
          <a:xfrm>
            <a:off x="3584448" y="1691640"/>
            <a:ext cx="640080" cy="640080"/>
          </a:xfrm>
          <a:prstGeom prst="ellipse">
            <a:avLst/>
          </a:prstGeom>
          <a:solidFill>
            <a:schemeClr val="accent2"/>
          </a:solidFill>
          <a:ln w="12700">
            <a:solidFill>
              <a:srgbClr val="D32F2F"/>
            </a:solidFill>
            <a:prstDash val="solid"/>
          </a:ln>
        </p:spPr>
      </p:sp>
      <p:pic>
        <p:nvPicPr>
          <p:cNvPr id="9" name="Control icon 2" descr="preencoded.png">    </p:cNvPr>
          <p:cNvPicPr>
            <a:picLocks noChangeAspect="1"/>
          </p:cNvPicPr>
          <p:nvPr/>
        </p:nvPicPr>
        <p:blipFill>
          <a:blip r:embed="rId3"/>
          <a:stretch>
            <a:fillRect/>
          </a:stretch>
        </p:blipFill>
        <p:spPr>
          <a:xfrm>
            <a:off x="3739896" y="1847088"/>
            <a:ext cx="329184" cy="329184"/>
          </a:xfrm>
          <a:prstGeom prst="rect">
            <a:avLst/>
          </a:prstGeom>
        </p:spPr>
      </p:pic>
      <p:sp>
        <p:nvSpPr>
          <p:cNvPr id="10" name="Control text 2"/>
          <p:cNvSpPr txBox="1"/>
          <p:nvPr/>
        </p:nvSpPr>
        <p:spPr>
          <a:xfrm>
            <a:off x="3584448" y="2468880"/>
            <a:ext cx="2194560" cy="1005840"/>
          </a:xfrm>
          <a:prstGeom prst="rect">
            <a:avLst/>
          </a:prstGeom>
          <a:noFill/>
          <a:ln/>
        </p:spPr>
        <p:txBody>
          <a:bodyPr wrap="square" lIns="0" tIns="0" rIns="0" bIns="0" rtlCol="0" anchor="t"/>
          <a:lstStyle/>
          <a:p>
            <a:pPr indent="0" marL="0">
              <a:buNone/>
            </a:pPr>
            <a:r>
              <a:rPr lang="en-US" sz="1600" b="1" u="sng" dirty="0">
                <a:solidFill>
                  <a:srgbClr val="FFFFFF"/>
                </a:solidFill>
                <a:hlinkClick r:id="rId4" action="ppaction://hlinksldjump" tooltip="Open the process">
                  <a:extLst>
                    <a:ext uri="{A12FA001-AC4F-418D-AE19-62706E023703}">
                      <ahyp:hlinkClr xmlns:ahyp="http://schemas.microsoft.com/office/drawing/2018/hyperlinkcolor" val="tx"/>
                    </a:ext>
                  </a:extLst>
                </a:hlinkClick>
              </a:rPr>
              <a:t>Invoice vs loaded qty</a:t>
            </a:r>
            <a:endParaRPr lang="en-US" sz="1600" dirty="0"/>
          </a:p>
          <a:p>
            <a:pPr indent="0" marL="0">
              <a:buNone/>
            </a:pPr>
            <a:r>
              <a:rPr lang="en-US" sz="1300" dirty="0">
                <a:solidFill>
                  <a:srgbClr val="C9D3F0"/>
                </a:solidFill>
              </a:rPr>
              <a:t>Checked at Finish loading</a:t>
            </a:r>
            <a:endParaRPr lang="en-US" sz="1600" dirty="0"/>
          </a:p>
        </p:txBody>
      </p:sp>
      <p:sp>
        <p:nvSpPr>
          <p:cNvPr id="11" name="Control card 3"/>
          <p:cNvSpPr/>
          <p:nvPr/>
        </p:nvSpPr>
        <p:spPr>
          <a:xfrm>
            <a:off x="6163056" y="1463040"/>
            <a:ext cx="2606040" cy="2103120"/>
          </a:xfrm>
          <a:prstGeom prst="roundRect">
            <a:avLst>
              <a:gd name="adj" fmla="val 5217"/>
            </a:avLst>
          </a:prstGeom>
          <a:solidFill>
            <a:srgbClr val="2B3A78"/>
          </a:solidFill>
          <a:ln w="9525">
            <a:solidFill>
              <a:srgbClr val="3B4C93"/>
            </a:solidFill>
            <a:prstDash val="solid"/>
          </a:ln>
        </p:spPr>
      </p:sp>
      <p:sp>
        <p:nvSpPr>
          <p:cNvPr id="12" name="Control icon bg 3"/>
          <p:cNvSpPr/>
          <p:nvPr/>
        </p:nvSpPr>
        <p:spPr>
          <a:xfrm>
            <a:off x="6391656" y="1691640"/>
            <a:ext cx="640080" cy="640080"/>
          </a:xfrm>
          <a:prstGeom prst="ellipse">
            <a:avLst/>
          </a:prstGeom>
          <a:solidFill>
            <a:schemeClr val="accent2"/>
          </a:solidFill>
          <a:ln w="12700">
            <a:solidFill>
              <a:srgbClr val="D32F2F"/>
            </a:solidFill>
            <a:prstDash val="solid"/>
          </a:ln>
        </p:spPr>
      </p:sp>
      <p:pic>
        <p:nvPicPr>
          <p:cNvPr id="13" name="Control icon 3" descr="preencoded.png">    </p:cNvPr>
          <p:cNvPicPr>
            <a:picLocks noChangeAspect="1"/>
          </p:cNvPicPr>
          <p:nvPr/>
        </p:nvPicPr>
        <p:blipFill>
          <a:blip r:embed="rId5"/>
          <a:stretch>
            <a:fillRect/>
          </a:stretch>
        </p:blipFill>
        <p:spPr>
          <a:xfrm>
            <a:off x="6547104" y="1847088"/>
            <a:ext cx="329184" cy="329184"/>
          </a:xfrm>
          <a:prstGeom prst="rect">
            <a:avLst/>
          </a:prstGeom>
        </p:spPr>
      </p:pic>
      <p:sp>
        <p:nvSpPr>
          <p:cNvPr id="14" name="Control text 3"/>
          <p:cNvSpPr txBox="1"/>
          <p:nvPr/>
        </p:nvSpPr>
        <p:spPr>
          <a:xfrm>
            <a:off x="6391656" y="2468880"/>
            <a:ext cx="2194560" cy="1005840"/>
          </a:xfrm>
          <a:prstGeom prst="rect">
            <a:avLst/>
          </a:prstGeom>
          <a:noFill/>
          <a:ln/>
        </p:spPr>
        <p:txBody>
          <a:bodyPr wrap="square" lIns="0" tIns="0" rIns="0" bIns="0" rtlCol="0" anchor="t"/>
          <a:lstStyle/>
          <a:p>
            <a:pPr indent="0" marL="0">
              <a:buNone/>
            </a:pPr>
            <a:r>
              <a:rPr lang="en-US" sz="1600" b="1" u="sng" dirty="0">
                <a:solidFill>
                  <a:srgbClr val="FFFFFF"/>
                </a:solidFill>
                <a:hlinkClick r:id="rId6" action="ppaction://hlinksldjump" tooltip="Open the process">
                  <a:extLst>
                    <a:ext uri="{A12FA001-AC4F-418D-AE19-62706E023703}">
                      <ahyp:hlinkClr xmlns:ahyp="http://schemas.microsoft.com/office/drawing/2018/hyperlinkcolor" val="tx"/>
                    </a:ext>
                  </a:extLst>
                </a:hlinkClick>
              </a:rPr>
              <a:t>Signed QR at the gates</a:t>
            </a:r>
            <a:endParaRPr lang="en-US" sz="1600" dirty="0"/>
          </a:p>
          <a:p>
            <a:pPr indent="0" marL="0">
              <a:buNone/>
            </a:pPr>
            <a:r>
              <a:rPr lang="en-US" sz="1300" dirty="0">
                <a:solidFill>
                  <a:srgbClr val="C9D3F0"/>
                </a:solidFill>
              </a:rPr>
              <a:t>Forged or altered QR → HOLD VEHICLE</a:t>
            </a:r>
            <a:endParaRPr lang="en-US" sz="1600" dirty="0"/>
          </a:p>
        </p:txBody>
      </p:sp>
      <p:sp>
        <p:nvSpPr>
          <p:cNvPr id="15" name="Control card 4"/>
          <p:cNvSpPr/>
          <p:nvPr/>
        </p:nvSpPr>
        <p:spPr>
          <a:xfrm>
            <a:off x="8970264" y="1463040"/>
            <a:ext cx="2606040" cy="2103120"/>
          </a:xfrm>
          <a:prstGeom prst="roundRect">
            <a:avLst>
              <a:gd name="adj" fmla="val 5217"/>
            </a:avLst>
          </a:prstGeom>
          <a:solidFill>
            <a:srgbClr val="2B3A78"/>
          </a:solidFill>
          <a:ln w="9525">
            <a:solidFill>
              <a:srgbClr val="3B4C93"/>
            </a:solidFill>
            <a:prstDash val="solid"/>
          </a:ln>
        </p:spPr>
      </p:sp>
      <p:sp>
        <p:nvSpPr>
          <p:cNvPr id="16" name="Control icon bg 4"/>
          <p:cNvSpPr/>
          <p:nvPr/>
        </p:nvSpPr>
        <p:spPr>
          <a:xfrm>
            <a:off x="9198864" y="1691640"/>
            <a:ext cx="640080" cy="640080"/>
          </a:xfrm>
          <a:prstGeom prst="ellipse">
            <a:avLst/>
          </a:prstGeom>
          <a:solidFill>
            <a:schemeClr val="accent2"/>
          </a:solidFill>
          <a:ln w="12700">
            <a:solidFill>
              <a:srgbClr val="D32F2F"/>
            </a:solidFill>
            <a:prstDash val="solid"/>
          </a:ln>
        </p:spPr>
      </p:sp>
      <p:pic>
        <p:nvPicPr>
          <p:cNvPr id="17" name="Control icon 4" descr="preencoded.png">    </p:cNvPr>
          <p:cNvPicPr>
            <a:picLocks noChangeAspect="1"/>
          </p:cNvPicPr>
          <p:nvPr/>
        </p:nvPicPr>
        <p:blipFill>
          <a:blip r:embed="rId7"/>
          <a:stretch>
            <a:fillRect/>
          </a:stretch>
        </p:blipFill>
        <p:spPr>
          <a:xfrm>
            <a:off x="9354312" y="1847088"/>
            <a:ext cx="329184" cy="329184"/>
          </a:xfrm>
          <a:prstGeom prst="rect">
            <a:avLst/>
          </a:prstGeom>
        </p:spPr>
      </p:pic>
      <p:sp>
        <p:nvSpPr>
          <p:cNvPr id="18" name="Control text 4"/>
          <p:cNvSpPr txBox="1"/>
          <p:nvPr/>
        </p:nvSpPr>
        <p:spPr>
          <a:xfrm>
            <a:off x="9198864" y="2468880"/>
            <a:ext cx="2194560" cy="1005840"/>
          </a:xfrm>
          <a:prstGeom prst="rect">
            <a:avLst/>
          </a:prstGeom>
          <a:noFill/>
          <a:ln/>
        </p:spPr>
        <p:txBody>
          <a:bodyPr wrap="square" lIns="0" tIns="0" rIns="0" bIns="0" rtlCol="0" anchor="t"/>
          <a:lstStyle/>
          <a:p>
            <a:pPr indent="0" marL="0">
              <a:buNone/>
            </a:pPr>
            <a:r>
              <a:rPr lang="en-US" sz="1600" b="1" u="sng" dirty="0">
                <a:solidFill>
                  <a:srgbClr val="FFFFFF"/>
                </a:solidFill>
                <a:hlinkClick r:id="rId8" action="ppaction://hlinksldjump" tooltip="Open the process">
                  <a:extLst>
                    <a:ext uri="{A12FA001-AC4F-418D-AE19-62706E023703}">
                      <ahyp:hlinkClr xmlns:ahyp="http://schemas.microsoft.com/office/drawing/2018/hyperlinkcolor" val="tx"/>
                    </a:ext>
                  </a:extLst>
                </a:hlinkClick>
              </a:rPr>
              <a:t>Gate inward register</a:t>
            </a:r>
            <a:endParaRPr lang="en-US" sz="1600" dirty="0"/>
          </a:p>
          <a:p>
            <a:pPr indent="0" marL="0">
              <a:buNone/>
            </a:pPr>
            <a:r>
              <a:rPr lang="en-US" sz="1300" dirty="0">
                <a:solidFill>
                  <a:srgbClr val="C9D3F0"/>
                </a:solidFill>
              </a:rPr>
              <a:t>Every inward: slip A, slip B, plant challan</a:t>
            </a:r>
            <a:endParaRPr lang="en-US" sz="1600" dirty="0"/>
          </a:p>
        </p:txBody>
      </p:sp>
      <p:sp>
        <p:nvSpPr>
          <p:cNvPr id="19" name="Control card 5"/>
          <p:cNvSpPr/>
          <p:nvPr/>
        </p:nvSpPr>
        <p:spPr>
          <a:xfrm>
            <a:off x="548640" y="3794760"/>
            <a:ext cx="2606040" cy="2103120"/>
          </a:xfrm>
          <a:prstGeom prst="roundRect">
            <a:avLst>
              <a:gd name="adj" fmla="val 5217"/>
            </a:avLst>
          </a:prstGeom>
          <a:solidFill>
            <a:srgbClr val="2B3A78"/>
          </a:solidFill>
          <a:ln w="9525">
            <a:solidFill>
              <a:srgbClr val="3B4C93"/>
            </a:solidFill>
            <a:prstDash val="solid"/>
          </a:ln>
        </p:spPr>
      </p:sp>
      <p:sp>
        <p:nvSpPr>
          <p:cNvPr id="20" name="Control icon bg 5"/>
          <p:cNvSpPr/>
          <p:nvPr/>
        </p:nvSpPr>
        <p:spPr>
          <a:xfrm>
            <a:off x="777240" y="4023360"/>
            <a:ext cx="640080" cy="640080"/>
          </a:xfrm>
          <a:prstGeom prst="ellipse">
            <a:avLst/>
          </a:prstGeom>
          <a:solidFill>
            <a:schemeClr val="accent2"/>
          </a:solidFill>
          <a:ln w="12700">
            <a:solidFill>
              <a:srgbClr val="D32F2F"/>
            </a:solidFill>
            <a:prstDash val="solid"/>
          </a:ln>
        </p:spPr>
      </p:sp>
      <p:pic>
        <p:nvPicPr>
          <p:cNvPr id="21" name="Control icon 5" descr="preencoded.png">    </p:cNvPr>
          <p:cNvPicPr>
            <a:picLocks noChangeAspect="1"/>
          </p:cNvPicPr>
          <p:nvPr/>
        </p:nvPicPr>
        <p:blipFill>
          <a:blip r:embed="rId9"/>
          <a:stretch>
            <a:fillRect/>
          </a:stretch>
        </p:blipFill>
        <p:spPr>
          <a:xfrm>
            <a:off x="932688" y="4178808"/>
            <a:ext cx="329184" cy="329184"/>
          </a:xfrm>
          <a:prstGeom prst="rect">
            <a:avLst/>
          </a:prstGeom>
        </p:spPr>
      </p:pic>
      <p:sp>
        <p:nvSpPr>
          <p:cNvPr id="22" name="Control text 5"/>
          <p:cNvSpPr txBox="1"/>
          <p:nvPr/>
        </p:nvSpPr>
        <p:spPr>
          <a:xfrm>
            <a:off x="777240" y="4800600"/>
            <a:ext cx="2194560" cy="1005840"/>
          </a:xfrm>
          <a:prstGeom prst="rect">
            <a:avLst/>
          </a:prstGeom>
          <a:noFill/>
          <a:ln/>
        </p:spPr>
        <p:txBody>
          <a:bodyPr wrap="square" lIns="0" tIns="0" rIns="0" bIns="0" rtlCol="0" anchor="t"/>
          <a:lstStyle/>
          <a:p>
            <a:pPr indent="0" marL="0">
              <a:buNone/>
            </a:pPr>
            <a:r>
              <a:rPr lang="en-US" sz="1600" b="1" u="sng" dirty="0">
                <a:solidFill>
                  <a:srgbClr val="FFFFFF"/>
                </a:solidFill>
                <a:hlinkClick r:id="rId10" action="ppaction://hlinksldjump" tooltip="Open the process">
                  <a:extLst>
                    <a:ext uri="{A12FA001-AC4F-418D-AE19-62706E023703}">
                      <ahyp:hlinkClr xmlns:ahyp="http://schemas.microsoft.com/office/drawing/2018/hyperlinkcolor" val="tx"/>
                    </a:ext>
                  </a:extLst>
                </a:hlinkClick>
              </a:rPr>
              <a:t>Photo proof for Option B</a:t>
            </a:r>
            <a:endParaRPr lang="en-US" sz="1600" dirty="0"/>
          </a:p>
          <a:p>
            <a:pPr indent="0" marL="0">
              <a:buNone/>
            </a:pPr>
            <a:r>
              <a:rPr lang="en-US" sz="1300" dirty="0">
                <a:solidFill>
                  <a:srgbClr val="C9D3F0"/>
                </a:solidFill>
              </a:rPr>
              <a:t>Read, matched, kept for the yard</a:t>
            </a:r>
            <a:endParaRPr lang="en-US" sz="1600" dirty="0"/>
          </a:p>
        </p:txBody>
      </p:sp>
      <p:sp>
        <p:nvSpPr>
          <p:cNvPr id="23" name="Control card 6"/>
          <p:cNvSpPr/>
          <p:nvPr/>
        </p:nvSpPr>
        <p:spPr>
          <a:xfrm>
            <a:off x="3355848" y="3794760"/>
            <a:ext cx="2606040" cy="2103120"/>
          </a:xfrm>
          <a:prstGeom prst="roundRect">
            <a:avLst>
              <a:gd name="adj" fmla="val 5217"/>
            </a:avLst>
          </a:prstGeom>
          <a:solidFill>
            <a:srgbClr val="2B3A78"/>
          </a:solidFill>
          <a:ln w="9525">
            <a:solidFill>
              <a:srgbClr val="3B4C93"/>
            </a:solidFill>
            <a:prstDash val="solid"/>
          </a:ln>
        </p:spPr>
      </p:sp>
      <p:sp>
        <p:nvSpPr>
          <p:cNvPr id="24" name="Control icon bg 6"/>
          <p:cNvSpPr/>
          <p:nvPr/>
        </p:nvSpPr>
        <p:spPr>
          <a:xfrm>
            <a:off x="3584448" y="4023360"/>
            <a:ext cx="640080" cy="640080"/>
          </a:xfrm>
          <a:prstGeom prst="ellipse">
            <a:avLst/>
          </a:prstGeom>
          <a:solidFill>
            <a:schemeClr val="accent2"/>
          </a:solidFill>
          <a:ln w="12700">
            <a:solidFill>
              <a:srgbClr val="D32F2F"/>
            </a:solidFill>
            <a:prstDash val="solid"/>
          </a:ln>
        </p:spPr>
      </p:sp>
      <p:pic>
        <p:nvPicPr>
          <p:cNvPr id="25" name="Control icon 6" descr="preencoded.png">    </p:cNvPr>
          <p:cNvPicPr>
            <a:picLocks noChangeAspect="1"/>
          </p:cNvPicPr>
          <p:nvPr/>
        </p:nvPicPr>
        <p:blipFill>
          <a:blip r:embed="rId11"/>
          <a:stretch>
            <a:fillRect/>
          </a:stretch>
        </p:blipFill>
        <p:spPr>
          <a:xfrm>
            <a:off x="3739896" y="4178808"/>
            <a:ext cx="329184" cy="329184"/>
          </a:xfrm>
          <a:prstGeom prst="rect">
            <a:avLst/>
          </a:prstGeom>
        </p:spPr>
      </p:pic>
      <p:sp>
        <p:nvSpPr>
          <p:cNvPr id="26" name="Control text 6"/>
          <p:cNvSpPr txBox="1"/>
          <p:nvPr/>
        </p:nvSpPr>
        <p:spPr>
          <a:xfrm>
            <a:off x="3584448" y="4800600"/>
            <a:ext cx="2194560" cy="1005840"/>
          </a:xfrm>
          <a:prstGeom prst="rect">
            <a:avLst/>
          </a:prstGeom>
          <a:noFill/>
          <a:ln/>
        </p:spPr>
        <p:txBody>
          <a:bodyPr wrap="square" lIns="0" tIns="0" rIns="0" bIns="0" rtlCol="0" anchor="t"/>
          <a:lstStyle/>
          <a:p>
            <a:pPr indent="0" marL="0">
              <a:buNone/>
            </a:pPr>
            <a:r>
              <a:rPr lang="en-US" sz="1600" b="1" u="sng" dirty="0">
                <a:solidFill>
                  <a:srgbClr val="FFFFFF"/>
                </a:solidFill>
                <a:hlinkClick r:id="rId12" action="ppaction://hlinksldjump" tooltip="Open the process">
                  <a:extLst>
                    <a:ext uri="{A12FA001-AC4F-418D-AE19-62706E023703}">
                      <ahyp:hlinkClr xmlns:ahyp="http://schemas.microsoft.com/office/drawing/2018/hyperlinkcolor" val="tx"/>
                    </a:ext>
                  </a:extLst>
                </a:hlinkClick>
              </a:rPr>
              <a:t>Yard count + PIN</a:t>
            </a:r>
            <a:endParaRPr lang="en-US" sz="1600" dirty="0"/>
          </a:p>
          <a:p>
            <a:pPr indent="0" marL="0">
              <a:buNone/>
            </a:pPr>
            <a:r>
              <a:rPr lang="en-US" sz="1300" dirty="0">
                <a:solidFill>
                  <a:srgbClr val="C9D3F0"/>
                </a:solidFill>
              </a:rPr>
              <a:t>Differences need the supervisor PIN</a:t>
            </a:r>
            <a:endParaRPr lang="en-US" sz="1600" dirty="0"/>
          </a:p>
        </p:txBody>
      </p:sp>
      <p:sp>
        <p:nvSpPr>
          <p:cNvPr id="27" name="Control card 7"/>
          <p:cNvSpPr/>
          <p:nvPr/>
        </p:nvSpPr>
        <p:spPr>
          <a:xfrm>
            <a:off x="6163056" y="3794760"/>
            <a:ext cx="2606040" cy="2103120"/>
          </a:xfrm>
          <a:prstGeom prst="roundRect">
            <a:avLst>
              <a:gd name="adj" fmla="val 5217"/>
            </a:avLst>
          </a:prstGeom>
          <a:solidFill>
            <a:srgbClr val="2B3A78"/>
          </a:solidFill>
          <a:ln w="9525">
            <a:solidFill>
              <a:srgbClr val="3B4C93"/>
            </a:solidFill>
            <a:prstDash val="solid"/>
          </a:ln>
        </p:spPr>
      </p:sp>
      <p:sp>
        <p:nvSpPr>
          <p:cNvPr id="28" name="Control icon bg 7"/>
          <p:cNvSpPr/>
          <p:nvPr/>
        </p:nvSpPr>
        <p:spPr>
          <a:xfrm>
            <a:off x="6391656" y="4023360"/>
            <a:ext cx="640080" cy="640080"/>
          </a:xfrm>
          <a:prstGeom prst="ellipse">
            <a:avLst/>
          </a:prstGeom>
          <a:solidFill>
            <a:schemeClr val="accent2"/>
          </a:solidFill>
          <a:ln w="12700">
            <a:solidFill>
              <a:srgbClr val="D32F2F"/>
            </a:solidFill>
            <a:prstDash val="solid"/>
          </a:ln>
        </p:spPr>
      </p:sp>
      <p:pic>
        <p:nvPicPr>
          <p:cNvPr id="29" name="Control icon 7" descr="preencoded.png">    </p:cNvPr>
          <p:cNvPicPr>
            <a:picLocks noChangeAspect="1"/>
          </p:cNvPicPr>
          <p:nvPr/>
        </p:nvPicPr>
        <p:blipFill>
          <a:blip r:embed="rId13"/>
          <a:stretch>
            <a:fillRect/>
          </a:stretch>
        </p:blipFill>
        <p:spPr>
          <a:xfrm>
            <a:off x="6547104" y="4178808"/>
            <a:ext cx="329184" cy="329184"/>
          </a:xfrm>
          <a:prstGeom prst="rect">
            <a:avLst/>
          </a:prstGeom>
        </p:spPr>
      </p:pic>
      <p:sp>
        <p:nvSpPr>
          <p:cNvPr id="30" name="Control text 7"/>
          <p:cNvSpPr txBox="1"/>
          <p:nvPr/>
        </p:nvSpPr>
        <p:spPr>
          <a:xfrm>
            <a:off x="6391656" y="4800600"/>
            <a:ext cx="2194560" cy="1005840"/>
          </a:xfrm>
          <a:prstGeom prst="rect">
            <a:avLst/>
          </a:prstGeom>
          <a:noFill/>
          <a:ln/>
        </p:spPr>
        <p:txBody>
          <a:bodyPr wrap="square" lIns="0" tIns="0" rIns="0" bIns="0" rtlCol="0" anchor="t"/>
          <a:lstStyle/>
          <a:p>
            <a:pPr indent="0" marL="0">
              <a:buNone/>
            </a:pPr>
            <a:r>
              <a:rPr lang="en-US" sz="1600" b="1" u="sng" dirty="0">
                <a:solidFill>
                  <a:srgbClr val="FFFFFF"/>
                </a:solidFill>
                <a:hlinkClick r:id="rId14" action="ppaction://hlinksldjump" tooltip="Open the process">
                  <a:extLst>
                    <a:ext uri="{A12FA001-AC4F-418D-AE19-62706E023703}">
                      <ahyp:hlinkClr xmlns:ahyp="http://schemas.microsoft.com/office/drawing/2018/hyperlinkcolor" val="tx"/>
                    </a:ext>
                  </a:extLst>
                </a:hlinkClick>
              </a:rPr>
              <a:t>Other plants: challan only</a:t>
            </a:r>
            <a:endParaRPr lang="en-US" sz="1600" dirty="0"/>
          </a:p>
          <a:p>
            <a:pPr indent="0" marL="0">
              <a:buNone/>
            </a:pPr>
            <a:r>
              <a:rPr lang="en-US" sz="1300" dirty="0">
                <a:solidFill>
                  <a:srgbClr val="C9D3F0"/>
                </a:solidFill>
              </a:rPr>
              <a:t>Received home on the same challan</a:t>
            </a:r>
            <a:endParaRPr lang="en-US" sz="1600" dirty="0"/>
          </a:p>
        </p:txBody>
      </p:sp>
      <p:sp>
        <p:nvSpPr>
          <p:cNvPr id="31" name="Control card 8"/>
          <p:cNvSpPr/>
          <p:nvPr/>
        </p:nvSpPr>
        <p:spPr>
          <a:xfrm>
            <a:off x="8970264" y="3794760"/>
            <a:ext cx="2606040" cy="2103120"/>
          </a:xfrm>
          <a:prstGeom prst="roundRect">
            <a:avLst>
              <a:gd name="adj" fmla="val 5217"/>
            </a:avLst>
          </a:prstGeom>
          <a:solidFill>
            <a:srgbClr val="2B3A78"/>
          </a:solidFill>
          <a:ln w="9525">
            <a:solidFill>
              <a:srgbClr val="3B4C93"/>
            </a:solidFill>
            <a:prstDash val="solid"/>
          </a:ln>
        </p:spPr>
      </p:sp>
      <p:sp>
        <p:nvSpPr>
          <p:cNvPr id="32" name="Control icon bg 8"/>
          <p:cNvSpPr/>
          <p:nvPr/>
        </p:nvSpPr>
        <p:spPr>
          <a:xfrm>
            <a:off x="9198864" y="4023360"/>
            <a:ext cx="640080" cy="640080"/>
          </a:xfrm>
          <a:prstGeom prst="ellipse">
            <a:avLst/>
          </a:prstGeom>
          <a:solidFill>
            <a:schemeClr val="accent2"/>
          </a:solidFill>
          <a:ln w="12700">
            <a:solidFill>
              <a:srgbClr val="D32F2F"/>
            </a:solidFill>
            <a:prstDash val="solid"/>
          </a:ln>
        </p:spPr>
      </p:sp>
      <p:pic>
        <p:nvPicPr>
          <p:cNvPr id="33" name="Control icon 8" descr="preencoded.png">    </p:cNvPr>
          <p:cNvPicPr>
            <a:picLocks noChangeAspect="1"/>
          </p:cNvPicPr>
          <p:nvPr/>
        </p:nvPicPr>
        <p:blipFill>
          <a:blip r:embed="rId15"/>
          <a:stretch>
            <a:fillRect/>
          </a:stretch>
        </p:blipFill>
        <p:spPr>
          <a:xfrm>
            <a:off x="9354312" y="4178808"/>
            <a:ext cx="329184" cy="329184"/>
          </a:xfrm>
          <a:prstGeom prst="rect">
            <a:avLst/>
          </a:prstGeom>
        </p:spPr>
      </p:pic>
      <p:sp>
        <p:nvSpPr>
          <p:cNvPr id="34" name="Control text 8"/>
          <p:cNvSpPr txBox="1"/>
          <p:nvPr/>
        </p:nvSpPr>
        <p:spPr>
          <a:xfrm>
            <a:off x="9198864" y="4800600"/>
            <a:ext cx="2194560" cy="1005840"/>
          </a:xfrm>
          <a:prstGeom prst="rect">
            <a:avLst/>
          </a:prstGeom>
          <a:noFill/>
          <a:ln/>
        </p:spPr>
        <p:txBody>
          <a:bodyPr wrap="square" lIns="0" tIns="0" rIns="0" bIns="0" rtlCol="0" anchor="t"/>
          <a:lstStyle/>
          <a:p>
            <a:pPr indent="0" marL="0">
              <a:buNone/>
            </a:pPr>
            <a:r>
              <a:rPr lang="en-US" sz="1600" b="1" u="sng" dirty="0">
                <a:solidFill>
                  <a:srgbClr val="FFFFFF"/>
                </a:solidFill>
                <a:hlinkClick r:id="rId16" action="ppaction://hlinksldjump" tooltip="Open the process">
                  <a:extLst>
                    <a:ext uri="{A12FA001-AC4F-418D-AE19-62706E023703}">
                      <ahyp:hlinkClr xmlns:ahyp="http://schemas.microsoft.com/office/drawing/2018/hyperlinkcolor" val="tx"/>
                    </a:ext>
                  </a:extLst>
                </a:hlinkClick>
              </a:rPr>
              <a:t>Printers by job</a:t>
            </a:r>
            <a:endParaRPr lang="en-US" sz="1600" dirty="0"/>
          </a:p>
          <a:p>
            <a:pPr indent="0" marL="0">
              <a:buNone/>
            </a:pPr>
            <a:r>
              <a:rPr lang="en-US" sz="1300" dirty="0">
                <a:solidFill>
                  <a:srgbClr val="C9D3F0"/>
                </a:solidFill>
              </a:rPr>
              <a:t>GCS + challan: plant printer · slips: BT</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Label"/>
          <p:cNvSpPr txBox="1"/>
          <p:nvPr/>
        </p:nvSpPr>
        <p:spPr>
          <a:xfrm>
            <a:off x="4206240" y="457200"/>
            <a:ext cx="749808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SETUP AND SIGN-IN · STEP 1 OF 4</a:t>
            </a:r>
            <a:endParaRPr lang="en-US" sz="1100" dirty="0"/>
          </a:p>
        </p:txBody>
      </p:sp>
      <p:sp>
        <p:nvSpPr>
          <p:cNvPr id="3" name="Title"/>
          <p:cNvSpPr txBox="1"/>
          <p:nvPr/>
        </p:nvSpPr>
        <p:spPr>
          <a:xfrm>
            <a:off x="4206240" y="777240"/>
            <a:ext cx="7498080" cy="685800"/>
          </a:xfrm>
          <a:prstGeom prst="rect">
            <a:avLst/>
          </a:prstGeom>
          <a:noFill/>
          <a:ln/>
        </p:spPr>
        <p:txBody>
          <a:bodyPr wrap="square" lIns="0" tIns="0" rIns="0" bIns="0" rtlCol="0" anchor="ctr"/>
          <a:lstStyle/>
          <a:p>
            <a:pPr indent="0" marL="0">
              <a:buNone/>
            </a:pPr>
            <a:r>
              <a:rPr lang="en-US" sz="3200" b="1" dirty="0">
                <a:solidFill>
                  <a:schemeClr val="tx2"/>
                </a:solidFill>
              </a:rPr>
              <a:t>Connect to the server</a:t>
            </a:r>
            <a:endParaRPr lang="en-US" sz="3200" dirty="0"/>
          </a:p>
        </p:txBody>
      </p:sp>
      <p:pic>
        <p:nvPicPr>
          <p:cNvPr id="4" name="Picture" descr="/tmp/claude-0/-home-claude/604fe074-c4a3-59f5-a7f0-a4d942adf429/scratchpad/deck/img/s02_setup_server.jpg">    </p:cNvPr>
          <p:cNvPicPr>
            <a:picLocks noChangeAspect="1"/>
          </p:cNvPicPr>
          <p:nvPr/>
        </p:nvPicPr>
        <p:blipFill>
          <a:blip r:embed="rId1"/>
          <a:stretch>
            <a:fillRect/>
          </a:stretch>
        </p:blipFill>
        <p:spPr>
          <a:xfrm>
            <a:off x="669206" y="365760"/>
            <a:ext cx="2867827" cy="598932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4206240" y="1691640"/>
            <a:ext cx="7498080" cy="35661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Setup › 1. Server: scan the "HHT setup QR" shown by the tray icon on the server PC.</a:t>
            </a:r>
            <a:endParaRPr lang="en-US" sz="1700" dirty="0"/>
          </a:p>
          <a:p>
            <a:pPr marL="342900" indent="-342900">
              <a:spcAft>
                <a:spcPts val="1000"/>
              </a:spcAft>
              <a:buSzPct val="100000"/>
              <a:buChar char="•"/>
            </a:pPr>
            <a:r>
              <a:rPr lang="en-US" sz="1700" dirty="0">
                <a:solidFill>
                  <a:schemeClr val="tx1"/>
                </a:solidFill>
              </a:rPr>
              <a:t>The HHT tries every address in the QR and keeps the ones that answer. The address itself is never shown - only Online / Offline.</a:t>
            </a:r>
            <a:endParaRPr lang="en-US" sz="1700" dirty="0"/>
          </a:p>
          <a:p>
            <a:pPr marL="342900" indent="-342900">
              <a:spcAft>
                <a:spcPts val="1000"/>
              </a:spcAft>
              <a:buSzPct val="100000"/>
              <a:buChar char="•"/>
            </a:pPr>
            <a:r>
              <a:rPr lang="en-US" sz="1700" dirty="0">
                <a:solidFill>
                  <a:schemeClr val="tx1"/>
                </a:solidFill>
              </a:rPr>
              <a:t>IT can still enter it under "Enter manually".</a:t>
            </a:r>
            <a:endParaRPr lang="en-US" sz="1700" dirty="0"/>
          </a:p>
        </p:txBody>
      </p:sp>
      <p:pic>
        <p:nvPicPr>
          <p:cNvPr id="6" name="Back button" descr="preencoded.png">
            <a:hlinkClick r:id="rId3" tooltip="Back to Setup and sign-in" action="ppaction://hlinksldjump"/>
          </p:cNvPr>
          <p:cNvPicPr>
            <a:picLocks noChangeAspect="1"/>
          </p:cNvPicPr>
          <p:nvPr/>
        </p:nvPicPr>
        <p:blipFill>
          <a:blip r:embed="rId2"/>
          <a:stretch>
            <a:fillRect/>
          </a:stretch>
        </p:blipFill>
        <p:spPr>
          <a:xfrm>
            <a:off x="4206240" y="5715000"/>
            <a:ext cx="420624" cy="420624"/>
          </a:xfrm>
          <a:prstGeom prst="rect">
            <a:avLst/>
          </a:prstGeom>
        </p:spPr>
      </p:pic>
      <p:sp>
        <p:nvSpPr>
          <p:cNvPr id="7" name="Back link"/>
          <p:cNvSpPr txBox="1"/>
          <p:nvPr/>
        </p:nvSpPr>
        <p:spPr>
          <a:xfrm>
            <a:off x="4736592" y="5715000"/>
            <a:ext cx="576072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p:cNvPr>
          <p:cNvPicPr>
            <a:picLocks noChangeAspect="1"/>
          </p:cNvPicPr>
          <p:nvPr/>
        </p:nvPicPr>
        <p:blipFill>
          <a:blip r:embed="rId5"/>
          <a:stretch>
            <a:fillRect/>
          </a:stretch>
        </p:blipFill>
        <p:spPr>
          <a:xfrm>
            <a:off x="10789920" y="5715000"/>
            <a:ext cx="384048" cy="384048"/>
          </a:xfrm>
          <a:prstGeom prst="rect">
            <a:avLst/>
          </a:prstGeom>
        </p:spPr>
      </p:pic>
      <p:pic>
        <p:nvPicPr>
          <p:cNvPr id="9" name="Next step" descr="preencoded.png">
            <a:hlinkClick r:id="rId7" tooltip="Next step" action="ppaction://hlinksldjump"/>
          </p:cNvPr>
          <p:cNvPicPr>
            <a:picLocks noChangeAspect="1"/>
          </p:cNvPicPr>
          <p:nvPr/>
        </p:nvPicPr>
        <p:blipFill>
          <a:blip r:embed="rId6"/>
          <a:stretch>
            <a:fillRect/>
          </a:stretch>
        </p:blipFill>
        <p:spPr>
          <a:xfrm>
            <a:off x="1129284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Label"/>
          <p:cNvSpPr txBox="1"/>
          <p:nvPr/>
        </p:nvSpPr>
        <p:spPr>
          <a:xfrm>
            <a:off x="4206240" y="457200"/>
            <a:ext cx="749808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SETUP AND SIGN-IN · STEP 2 OF 4</a:t>
            </a:r>
            <a:endParaRPr lang="en-US" sz="1100" dirty="0"/>
          </a:p>
        </p:txBody>
      </p:sp>
      <p:sp>
        <p:nvSpPr>
          <p:cNvPr id="3" name="Title"/>
          <p:cNvSpPr txBox="1"/>
          <p:nvPr/>
        </p:nvSpPr>
        <p:spPr>
          <a:xfrm>
            <a:off x="4206240" y="777240"/>
            <a:ext cx="7498080" cy="685800"/>
          </a:xfrm>
          <a:prstGeom prst="rect">
            <a:avLst/>
          </a:prstGeom>
          <a:noFill/>
          <a:ln/>
        </p:spPr>
        <p:txBody>
          <a:bodyPr wrap="square" lIns="0" tIns="0" rIns="0" bIns="0" rtlCol="0" anchor="ctr"/>
          <a:lstStyle/>
          <a:p>
            <a:pPr indent="0" marL="0">
              <a:buNone/>
            </a:pPr>
            <a:r>
              <a:rPr lang="en-US" sz="3200" b="1" dirty="0">
                <a:solidFill>
                  <a:schemeClr val="tx2"/>
                </a:solidFill>
              </a:rPr>
              <a:t>Sign in</a:t>
            </a:r>
            <a:endParaRPr lang="en-US" sz="3200" dirty="0"/>
          </a:p>
        </p:txBody>
      </p:sp>
      <p:pic>
        <p:nvPicPr>
          <p:cNvPr id="4" name="Picture" descr="/tmp/claude-0/-home-claude/604fe074-c4a3-59f5-a7f0-a4d942adf429/scratchpad/deck/img/s05_login_online.jpg">    </p:cNvPr>
          <p:cNvPicPr>
            <a:picLocks noChangeAspect="1"/>
          </p:cNvPicPr>
          <p:nvPr/>
        </p:nvPicPr>
        <p:blipFill>
          <a:blip r:embed="rId1"/>
          <a:stretch>
            <a:fillRect/>
          </a:stretch>
        </p:blipFill>
        <p:spPr>
          <a:xfrm>
            <a:off x="669206" y="365760"/>
            <a:ext cx="2867827" cy="598932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4206240" y="1691640"/>
            <a:ext cx="7498080" cy="35661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The status line shows only Online (green) or Offline (red).</a:t>
            </a:r>
            <a:endParaRPr lang="en-US" sz="1700" dirty="0"/>
          </a:p>
          <a:p>
            <a:pPr marL="342900" indent="-342900">
              <a:spcAft>
                <a:spcPts val="1000"/>
              </a:spcAft>
              <a:buSzPct val="100000"/>
              <a:buChar char="•"/>
            </a:pPr>
            <a:r>
              <a:rPr lang="en-US" sz="1700" dirty="0">
                <a:solidFill>
                  <a:schemeClr val="tx1"/>
                </a:solidFill>
              </a:rPr>
              <a:t>Setup (server, printer, vehicles) and Test printer are available before anyone signs in, so the Bluetooth printer can be checked at the start of the shift.</a:t>
            </a:r>
            <a:endParaRPr lang="en-US" sz="1700" dirty="0"/>
          </a:p>
          <a:p>
            <a:pPr marL="342900" indent="-342900">
              <a:spcAft>
                <a:spcPts val="1000"/>
              </a:spcAft>
              <a:buSzPct val="100000"/>
              <a:buChar char="•"/>
            </a:pPr>
            <a:r>
              <a:rPr lang="en-US" sz="1700" dirty="0">
                <a:solidFill>
                  <a:schemeClr val="tx1"/>
                </a:solidFill>
              </a:rPr>
              <a:t>"Customer device" pairs an HHT that will be used at a customer site.</a:t>
            </a:r>
            <a:endParaRPr lang="en-US" sz="1700" dirty="0"/>
          </a:p>
        </p:txBody>
      </p:sp>
      <p:pic>
        <p:nvPicPr>
          <p:cNvPr id="6" name="Back button" descr="preencoded.png">
            <a:hlinkClick r:id="rId3" tooltip="Back to Setup and sign-in" action="ppaction://hlinksldjump"/>
          </p:cNvPr>
          <p:cNvPicPr>
            <a:picLocks noChangeAspect="1"/>
          </p:cNvPicPr>
          <p:nvPr/>
        </p:nvPicPr>
        <p:blipFill>
          <a:blip r:embed="rId2"/>
          <a:stretch>
            <a:fillRect/>
          </a:stretch>
        </p:blipFill>
        <p:spPr>
          <a:xfrm>
            <a:off x="4206240" y="5715000"/>
            <a:ext cx="420624" cy="420624"/>
          </a:xfrm>
          <a:prstGeom prst="rect">
            <a:avLst/>
          </a:prstGeom>
        </p:spPr>
      </p:pic>
      <p:sp>
        <p:nvSpPr>
          <p:cNvPr id="7" name="Back link"/>
          <p:cNvSpPr txBox="1"/>
          <p:nvPr/>
        </p:nvSpPr>
        <p:spPr>
          <a:xfrm>
            <a:off x="4736592" y="5715000"/>
            <a:ext cx="576072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789920" y="5715000"/>
            <a:ext cx="384048" cy="384048"/>
          </a:xfrm>
          <a:prstGeom prst="rect">
            <a:avLst/>
          </a:prstGeom>
        </p:spPr>
      </p:pic>
      <p:pic>
        <p:nvPicPr>
          <p:cNvPr id="9" name="Next step" descr="preencoded.png">
            <a:hlinkClick r:id="rId8" tooltip="Next step" action="ppaction://hlinksldjump"/>
          </p:cNvPr>
          <p:cNvPicPr>
            <a:picLocks noChangeAspect="1"/>
          </p:cNvPicPr>
          <p:nvPr/>
        </p:nvPicPr>
        <p:blipFill>
          <a:blip r:embed="rId7"/>
          <a:stretch>
            <a:fillRect/>
          </a:stretch>
        </p:blipFill>
        <p:spPr>
          <a:xfrm>
            <a:off x="1129284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Label"/>
          <p:cNvSpPr txBox="1"/>
          <p:nvPr/>
        </p:nvSpPr>
        <p:spPr>
          <a:xfrm>
            <a:off x="4206240" y="457200"/>
            <a:ext cx="749808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SETUP AND SIGN-IN · STEP 3 OF 4</a:t>
            </a:r>
            <a:endParaRPr lang="en-US" sz="1100" dirty="0"/>
          </a:p>
        </p:txBody>
      </p:sp>
      <p:sp>
        <p:nvSpPr>
          <p:cNvPr id="3" name="Title"/>
          <p:cNvSpPr txBox="1"/>
          <p:nvPr/>
        </p:nvSpPr>
        <p:spPr>
          <a:xfrm>
            <a:off x="4206240" y="777240"/>
            <a:ext cx="7498080" cy="685800"/>
          </a:xfrm>
          <a:prstGeom prst="rect">
            <a:avLst/>
          </a:prstGeom>
          <a:noFill/>
          <a:ln/>
        </p:spPr>
        <p:txBody>
          <a:bodyPr wrap="square" lIns="0" tIns="0" rIns="0" bIns="0" rtlCol="0" anchor="ctr"/>
          <a:lstStyle/>
          <a:p>
            <a:pPr indent="0" marL="0">
              <a:buNone/>
            </a:pPr>
            <a:r>
              <a:rPr lang="en-US" sz="3200" b="1" dirty="0">
                <a:solidFill>
                  <a:schemeClr val="tx2"/>
                </a:solidFill>
              </a:rPr>
              <a:t>Home menu by role</a:t>
            </a:r>
            <a:endParaRPr lang="en-US" sz="3200" dirty="0"/>
          </a:p>
        </p:txBody>
      </p:sp>
      <p:pic>
        <p:nvPicPr>
          <p:cNvPr id="4" name="Picture" descr="/tmp/claude-0/-home-claude/604fe074-c4a3-59f5-a7f0-a4d942adf429/scratchpad/deck/img/s06_home.jpg">    </p:cNvPr>
          <p:cNvPicPr>
            <a:picLocks noChangeAspect="1"/>
          </p:cNvPicPr>
          <p:nvPr/>
        </p:nvPicPr>
        <p:blipFill>
          <a:blip r:embed="rId1"/>
          <a:stretch>
            <a:fillRect/>
          </a:stretch>
        </p:blipFill>
        <p:spPr>
          <a:xfrm>
            <a:off x="669206" y="365760"/>
            <a:ext cx="2867827" cy="598932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4206240" y="1691640"/>
            <a:ext cx="7498080" cy="35661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After sign-in the user (and plant) is shown on top with Online and pending-sync status.</a:t>
            </a:r>
            <a:endParaRPr lang="en-US" sz="1700" dirty="0"/>
          </a:p>
          <a:p>
            <a:pPr marL="342900" indent="-342900">
              <a:spcAft>
                <a:spcPts val="1000"/>
              </a:spcAft>
              <a:buSzPct val="100000"/>
              <a:buChar char="•"/>
            </a:pPr>
            <a:r>
              <a:rPr lang="en-US" sz="1700" dirty="0">
                <a:solidFill>
                  <a:schemeClr val="tx1"/>
                </a:solidFill>
              </a:rPr>
              <a:t>Tiles come from the user roles: Vehicle Loading, OUT Gate, IN Gate, Return Slip (Option B), Yard In-ward, Empty Pallet Return, moves, lookup.</a:t>
            </a:r>
            <a:endParaRPr lang="en-US" sz="1700" dirty="0"/>
          </a:p>
          <a:p>
            <a:pPr marL="342900" indent="-342900">
              <a:spcAft>
                <a:spcPts val="1000"/>
              </a:spcAft>
              <a:buSzPct val="100000"/>
              <a:buChar char="•"/>
            </a:pPr>
            <a:r>
              <a:rPr lang="en-US" sz="1700" dirty="0">
                <a:solidFill>
                  <a:schemeClr val="tx1"/>
                </a:solidFill>
              </a:rPr>
              <a:t>Users with extra plants choose the plant at sign-in; Bench trips and GCS lists follow that plant.</a:t>
            </a:r>
            <a:endParaRPr lang="en-US" sz="1700" dirty="0"/>
          </a:p>
        </p:txBody>
      </p:sp>
      <p:pic>
        <p:nvPicPr>
          <p:cNvPr id="6" name="Back button" descr="preencoded.png">
            <a:hlinkClick r:id="rId3" tooltip="Back to Setup and sign-in" action="ppaction://hlinksldjump"/>
          </p:cNvPr>
          <p:cNvPicPr>
            <a:picLocks noChangeAspect="1"/>
          </p:cNvPicPr>
          <p:nvPr/>
        </p:nvPicPr>
        <p:blipFill>
          <a:blip r:embed="rId2"/>
          <a:stretch>
            <a:fillRect/>
          </a:stretch>
        </p:blipFill>
        <p:spPr>
          <a:xfrm>
            <a:off x="4206240" y="5715000"/>
            <a:ext cx="420624" cy="420624"/>
          </a:xfrm>
          <a:prstGeom prst="rect">
            <a:avLst/>
          </a:prstGeom>
        </p:spPr>
      </p:pic>
      <p:sp>
        <p:nvSpPr>
          <p:cNvPr id="7" name="Back link"/>
          <p:cNvSpPr txBox="1"/>
          <p:nvPr/>
        </p:nvSpPr>
        <p:spPr>
          <a:xfrm>
            <a:off x="4736592" y="5715000"/>
            <a:ext cx="576072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789920" y="5715000"/>
            <a:ext cx="384048" cy="384048"/>
          </a:xfrm>
          <a:prstGeom prst="rect">
            <a:avLst/>
          </a:prstGeom>
        </p:spPr>
      </p:pic>
      <p:pic>
        <p:nvPicPr>
          <p:cNvPr id="9" name="Next step" descr="preencoded.png">
            <a:hlinkClick r:id="rId8" tooltip="Next step" action="ppaction://hlinksldjump"/>
          </p:cNvPr>
          <p:cNvPicPr>
            <a:picLocks noChangeAspect="1"/>
          </p:cNvPicPr>
          <p:nvPr/>
        </p:nvPicPr>
        <p:blipFill>
          <a:blip r:embed="rId7"/>
          <a:stretch>
            <a:fillRect/>
          </a:stretch>
        </p:blipFill>
        <p:spPr>
          <a:xfrm>
            <a:off x="1129284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Label"/>
          <p:cNvSpPr txBox="1"/>
          <p:nvPr/>
        </p:nvSpPr>
        <p:spPr>
          <a:xfrm>
            <a:off x="4206240" y="457200"/>
            <a:ext cx="749808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SETUP AND SIGN-IN · STEP 4 OF 4</a:t>
            </a:r>
            <a:endParaRPr lang="en-US" sz="1100" dirty="0"/>
          </a:p>
        </p:txBody>
      </p:sp>
      <p:sp>
        <p:nvSpPr>
          <p:cNvPr id="3" name="Title"/>
          <p:cNvSpPr txBox="1"/>
          <p:nvPr/>
        </p:nvSpPr>
        <p:spPr>
          <a:xfrm>
            <a:off x="4206240" y="777240"/>
            <a:ext cx="7498080" cy="685800"/>
          </a:xfrm>
          <a:prstGeom prst="rect">
            <a:avLst/>
          </a:prstGeom>
          <a:noFill/>
          <a:ln/>
        </p:spPr>
        <p:txBody>
          <a:bodyPr wrap="square" lIns="0" tIns="0" rIns="0" bIns="0" rtlCol="0" anchor="ctr"/>
          <a:lstStyle/>
          <a:p>
            <a:pPr indent="0" marL="0">
              <a:buNone/>
            </a:pPr>
            <a:r>
              <a:rPr lang="en-US" sz="3200" b="1" dirty="0">
                <a:solidFill>
                  <a:schemeClr val="tx2"/>
                </a:solidFill>
              </a:rPr>
              <a:t>Vehicle list</a:t>
            </a:r>
            <a:endParaRPr lang="en-US" sz="3200" dirty="0"/>
          </a:p>
        </p:txBody>
      </p:sp>
      <p:pic>
        <p:nvPicPr>
          <p:cNvPr id="4" name="Picture" descr="/tmp/claude-0/-home-claude/604fe074-c4a3-59f5-a7f0-a4d942adf429/scratchpad/deck/img/s04_setup_vehicles.jpg">    </p:cNvPr>
          <p:cNvPicPr>
            <a:picLocks noChangeAspect="1"/>
          </p:cNvPicPr>
          <p:nvPr/>
        </p:nvPicPr>
        <p:blipFill>
          <a:blip r:embed="rId1"/>
          <a:stretch>
            <a:fillRect/>
          </a:stretch>
        </p:blipFill>
        <p:spPr>
          <a:xfrm>
            <a:off x="669206" y="365760"/>
            <a:ext cx="2867827" cy="598932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4206240" y="1691640"/>
            <a:ext cx="7498080" cy="35661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Setup › 3. Vehicles: vehicles known to AIS come from the server (recent loads, transporter master); others can be added here.</a:t>
            </a:r>
            <a:endParaRPr lang="en-US" sz="1700" dirty="0"/>
          </a:p>
          <a:p>
            <a:pPr marL="342900" indent="-342900">
              <a:spcAft>
                <a:spcPts val="1000"/>
              </a:spcAft>
              <a:buSzPct val="100000"/>
              <a:buChar char="•"/>
            </a:pPr>
            <a:r>
              <a:rPr lang="en-US" sz="1700" dirty="0">
                <a:solidFill>
                  <a:schemeClr val="tx1"/>
                </a:solidFill>
              </a:rPr>
              <a:t>The list is used for quick picking on return slips, also when the HHT has no network.</a:t>
            </a:r>
            <a:endParaRPr lang="en-US" sz="1700" dirty="0"/>
          </a:p>
        </p:txBody>
      </p:sp>
      <p:pic>
        <p:nvPicPr>
          <p:cNvPr id="6" name="Back button" descr="preencoded.png">
            <a:hlinkClick r:id="rId3" tooltip="Back to Setup and sign-in" action="ppaction://hlinksldjump"/>
          </p:cNvPr>
          <p:cNvPicPr>
            <a:picLocks noChangeAspect="1"/>
          </p:cNvPicPr>
          <p:nvPr/>
        </p:nvPicPr>
        <p:blipFill>
          <a:blip r:embed="rId2"/>
          <a:stretch>
            <a:fillRect/>
          </a:stretch>
        </p:blipFill>
        <p:spPr>
          <a:xfrm>
            <a:off x="4206240" y="5715000"/>
            <a:ext cx="420624" cy="420624"/>
          </a:xfrm>
          <a:prstGeom prst="rect">
            <a:avLst/>
          </a:prstGeom>
        </p:spPr>
      </p:pic>
      <p:sp>
        <p:nvSpPr>
          <p:cNvPr id="7" name="Back link"/>
          <p:cNvSpPr txBox="1"/>
          <p:nvPr/>
        </p:nvSpPr>
        <p:spPr>
          <a:xfrm>
            <a:off x="4736592" y="5715000"/>
            <a:ext cx="576072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789920" y="5715000"/>
            <a:ext cx="384048" cy="384048"/>
          </a:xfrm>
          <a:prstGeom prst="rect">
            <a:avLst/>
          </a:prstGeom>
        </p:spPr>
      </p:pic>
      <p:pic>
        <p:nvPicPr>
          <p:cNvPr id="9" name="Next step" descr="preencoded.png">    </p:cNvPr>
          <p:cNvPicPr>
            <a:picLocks noChangeAspect="1"/>
          </p:cNvPicPr>
          <p:nvPr/>
        </p:nvPicPr>
        <p:blipFill>
          <a:blip r:embed="rId7"/>
          <a:stretch>
            <a:fillRect/>
          </a:stretch>
        </p:blipFill>
        <p:spPr>
          <a:xfrm>
            <a:off x="1129284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Label"/>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100" kern="0" dirty="0">
                <a:solidFill>
                  <a:schemeClr val="accent6"/>
                </a:solidFill>
              </a:rPr>
              <a:t>DISPATCH PLANNING → GCS LOADING SHEET · STEP 1 OF 4</a:t>
            </a:r>
            <a:endParaRPr lang="en-US" sz="1100" dirty="0"/>
          </a:p>
        </p:txBody>
      </p:sp>
      <p:sp>
        <p:nvSpPr>
          <p:cNvPr id="3" name="Title"/>
          <p:cNvSpPr txBox="1"/>
          <p:nvPr/>
        </p:nvSpPr>
        <p:spPr>
          <a:xfrm>
            <a:off x="457200" y="566928"/>
            <a:ext cx="11247120" cy="548640"/>
          </a:xfrm>
          <a:prstGeom prst="rect">
            <a:avLst/>
          </a:prstGeom>
          <a:noFill/>
          <a:ln/>
        </p:spPr>
        <p:txBody>
          <a:bodyPr wrap="square" lIns="0" tIns="0" rIns="0" bIns="0" rtlCol="0" anchor="ctr"/>
          <a:lstStyle/>
          <a:p>
            <a:pPr indent="0" marL="0">
              <a:buNone/>
            </a:pPr>
            <a:r>
              <a:rPr lang="en-US" sz="2800" b="1" dirty="0">
                <a:solidFill>
                  <a:schemeClr val="tx2"/>
                </a:solidFill>
              </a:rPr>
              <a:t>GCS inbox (web)</a:t>
            </a:r>
            <a:endParaRPr lang="en-US" sz="2800" dirty="0"/>
          </a:p>
        </p:txBody>
      </p:sp>
      <p:pic>
        <p:nvPicPr>
          <p:cNvPr id="4" name="Picture" descr="/tmp/claude-0/-home-claude/604fe074-c4a3-59f5-a7f0-a4d942adf429/scratchpad/deck/img/w02_gcs_inbox.jpg">    </p:cNvPr>
          <p:cNvPicPr>
            <a:picLocks noChangeAspect="1"/>
          </p:cNvPicPr>
          <p:nvPr/>
        </p:nvPicPr>
        <p:blipFill>
          <a:blip r:embed="rId1"/>
          <a:stretch>
            <a:fillRect/>
          </a:stretch>
        </p:blipFill>
        <p:spPr>
          <a:xfrm>
            <a:off x="457200" y="1280160"/>
            <a:ext cx="7955280" cy="497439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8732520" y="1280160"/>
            <a:ext cx="3017520" cy="39319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Masters › GCS inbox: every plant has its own FTP folder; files are read every 60 s.</a:t>
            </a:r>
            <a:endParaRPr lang="en-US" sz="1400" dirty="0"/>
          </a:p>
          <a:p>
            <a:pPr marL="342900" indent="-342900">
              <a:spcAft>
                <a:spcPts val="1000"/>
              </a:spcAft>
              <a:buSzPct val="100000"/>
              <a:buChar char="•"/>
            </a:pPr>
            <a:r>
              <a:rPr lang="en-US" sz="1400" dirty="0">
                <a:solidFill>
                  <a:schemeClr val="tx1"/>
                </a:solidFill>
              </a:rPr>
              <a:t>One GCS file = one loading sheet: vehicle, customer, invoices, items, part cards (LPN) and pallet references.</a:t>
            </a:r>
            <a:endParaRPr lang="en-US" sz="1400" dirty="0"/>
          </a:p>
          <a:p>
            <a:pPr marL="342900" indent="-342900">
              <a:spcAft>
                <a:spcPts val="1000"/>
              </a:spcAft>
              <a:buSzPct val="100000"/>
              <a:buChar char="•"/>
            </a:pPr>
            <a:r>
              <a:rPr lang="en-US" sz="1400" dirty="0">
                <a:solidFill>
                  <a:schemeClr val="tx1"/>
                </a:solidFill>
              </a:rPr>
              <a:t>A GCS cancelled in the ERP cancels the loading sheet.</a:t>
            </a:r>
            <a:endParaRPr lang="en-US" sz="1400" dirty="0"/>
          </a:p>
        </p:txBody>
      </p:sp>
      <p:pic>
        <p:nvPicPr>
          <p:cNvPr id="6" name="Back button" descr="preencoded.png">
            <a:hlinkClick r:id="rId3" tooltip="Back to Dispatch planning → GCS loading sheet" action="ppaction://hlinksldjump"/>
          </p:cNvPr>
          <p:cNvPicPr>
            <a:picLocks noChangeAspect="1"/>
          </p:cNvPicPr>
          <p:nvPr/>
        </p:nvPicPr>
        <p:blipFill>
          <a:blip r:embed="rId2"/>
          <a:stretch>
            <a:fillRect/>
          </a:stretch>
        </p:blipFill>
        <p:spPr>
          <a:xfrm>
            <a:off x="8732520" y="5715000"/>
            <a:ext cx="420624" cy="420624"/>
          </a:xfrm>
          <a:prstGeom prst="rect">
            <a:avLst/>
          </a:prstGeom>
        </p:spPr>
      </p:pic>
      <p:sp>
        <p:nvSpPr>
          <p:cNvPr id="7" name="Back link"/>
          <p:cNvSpPr txBox="1"/>
          <p:nvPr/>
        </p:nvSpPr>
        <p:spPr>
          <a:xfrm>
            <a:off x="9262872" y="5715000"/>
            <a:ext cx="137160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p:cNvPr>
          <p:cNvPicPr>
            <a:picLocks noChangeAspect="1"/>
          </p:cNvPicPr>
          <p:nvPr/>
        </p:nvPicPr>
        <p:blipFill>
          <a:blip r:embed="rId5"/>
          <a:stretch>
            <a:fillRect/>
          </a:stretch>
        </p:blipFill>
        <p:spPr>
          <a:xfrm>
            <a:off x="10835640" y="5715000"/>
            <a:ext cx="384048" cy="384048"/>
          </a:xfrm>
          <a:prstGeom prst="rect">
            <a:avLst/>
          </a:prstGeom>
        </p:spPr>
      </p:pic>
      <p:pic>
        <p:nvPicPr>
          <p:cNvPr id="9" name="Next step" descr="preencoded.png">
            <a:hlinkClick r:id="rId7" tooltip="Next step" action="ppaction://hlinksldjump"/>
          </p:cNvPr>
          <p:cNvPicPr>
            <a:picLocks noChangeAspect="1"/>
          </p:cNvPicPr>
          <p:nvPr/>
        </p:nvPicPr>
        <p:blipFill>
          <a:blip r:embed="rId6"/>
          <a:stretch>
            <a:fillRect/>
          </a:stretch>
        </p:blipFill>
        <p:spPr>
          <a:xfrm>
            <a:off x="1133856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Label"/>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100" kern="0" dirty="0">
                <a:solidFill>
                  <a:schemeClr val="accent6"/>
                </a:solidFill>
              </a:rPr>
              <a:t>DISPATCH PLANNING → GCS LOADING SHEET · STEP 2 OF 4</a:t>
            </a:r>
            <a:endParaRPr lang="en-US" sz="1100" dirty="0"/>
          </a:p>
        </p:txBody>
      </p:sp>
      <p:sp>
        <p:nvSpPr>
          <p:cNvPr id="3" name="Title"/>
          <p:cNvSpPr txBox="1"/>
          <p:nvPr/>
        </p:nvSpPr>
        <p:spPr>
          <a:xfrm>
            <a:off x="457200" y="566928"/>
            <a:ext cx="11247120" cy="548640"/>
          </a:xfrm>
          <a:prstGeom prst="rect">
            <a:avLst/>
          </a:prstGeom>
          <a:noFill/>
          <a:ln/>
        </p:spPr>
        <p:txBody>
          <a:bodyPr wrap="square" lIns="0" tIns="0" rIns="0" bIns="0" rtlCol="0" anchor="ctr"/>
          <a:lstStyle/>
          <a:p>
            <a:pPr indent="0" marL="0">
              <a:buNone/>
            </a:pPr>
            <a:r>
              <a:rPr lang="en-US" sz="2800" b="1" dirty="0">
                <a:solidFill>
                  <a:schemeClr val="tx2"/>
                </a:solidFill>
              </a:rPr>
              <a:t>Pick lists (web)</a:t>
            </a:r>
            <a:endParaRPr lang="en-US" sz="2800" dirty="0"/>
          </a:p>
        </p:txBody>
      </p:sp>
      <p:pic>
        <p:nvPicPr>
          <p:cNvPr id="4" name="Picture" descr="/tmp/claude-0/-home-claude/604fe074-c4a3-59f5-a7f0-a4d942adf429/scratchpad/deck/img/w03_picklists.jpg">    </p:cNvPr>
          <p:cNvPicPr>
            <a:picLocks noChangeAspect="1"/>
          </p:cNvPicPr>
          <p:nvPr/>
        </p:nvPicPr>
        <p:blipFill>
          <a:blip r:embed="rId1"/>
          <a:stretch>
            <a:fillRect/>
          </a:stretch>
        </p:blipFill>
        <p:spPr>
          <a:xfrm>
            <a:off x="457200" y="1280160"/>
            <a:ext cx="7955280" cy="497439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8732520" y="1280160"/>
            <a:ext cx="3017520" cy="39319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Operations › Pick Lists shows each trip / GCS with pallets, invoice, challan, e-way bill and status.</a:t>
            </a:r>
            <a:endParaRPr lang="en-US" sz="1400" dirty="0"/>
          </a:p>
          <a:p>
            <a:pPr marL="342900" indent="-342900">
              <a:spcAft>
                <a:spcPts val="1000"/>
              </a:spcAft>
              <a:buSzPct val="100000"/>
              <a:buChar char="•"/>
            </a:pPr>
            <a:r>
              <a:rPr lang="en-US" sz="1400" dirty="0">
                <a:solidFill>
                  <a:schemeClr val="tx1"/>
                </a:solidFill>
              </a:rPr>
              <a:t>A Dispatch Bench trip and its GCS are joined into one record (LINKED) so the trip is not loaded twice.</a:t>
            </a:r>
            <a:endParaRPr lang="en-US" sz="1400" dirty="0"/>
          </a:p>
          <a:p>
            <a:pPr marL="342900" indent="-342900">
              <a:spcAft>
                <a:spcPts val="1000"/>
              </a:spcAft>
              <a:buSzPct val="100000"/>
              <a:buChar char="•"/>
            </a:pPr>
            <a:r>
              <a:rPr lang="en-US" sz="1400" dirty="0">
                <a:solidFill>
                  <a:schemeClr val="tx1"/>
                </a:solidFill>
              </a:rPr>
              <a:t>Empty pallet returns to other plants (Yard loading) appear here too.</a:t>
            </a:r>
            <a:endParaRPr lang="en-US" sz="1400" dirty="0"/>
          </a:p>
        </p:txBody>
      </p:sp>
      <p:pic>
        <p:nvPicPr>
          <p:cNvPr id="6" name="Back button" descr="preencoded.png">
            <a:hlinkClick r:id="rId3" tooltip="Back to Dispatch planning → GCS loading sheet" action="ppaction://hlinksldjump"/>
          </p:cNvPr>
          <p:cNvPicPr>
            <a:picLocks noChangeAspect="1"/>
          </p:cNvPicPr>
          <p:nvPr/>
        </p:nvPicPr>
        <p:blipFill>
          <a:blip r:embed="rId2"/>
          <a:stretch>
            <a:fillRect/>
          </a:stretch>
        </p:blipFill>
        <p:spPr>
          <a:xfrm>
            <a:off x="8732520" y="5715000"/>
            <a:ext cx="420624" cy="420624"/>
          </a:xfrm>
          <a:prstGeom prst="rect">
            <a:avLst/>
          </a:prstGeom>
        </p:spPr>
      </p:pic>
      <p:sp>
        <p:nvSpPr>
          <p:cNvPr id="7" name="Back link"/>
          <p:cNvSpPr txBox="1"/>
          <p:nvPr/>
        </p:nvSpPr>
        <p:spPr>
          <a:xfrm>
            <a:off x="9262872" y="5715000"/>
            <a:ext cx="137160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835640" y="5715000"/>
            <a:ext cx="384048" cy="384048"/>
          </a:xfrm>
          <a:prstGeom prst="rect">
            <a:avLst/>
          </a:prstGeom>
        </p:spPr>
      </p:pic>
      <p:pic>
        <p:nvPicPr>
          <p:cNvPr id="9" name="Next step" descr="preencoded.png">
            <a:hlinkClick r:id="rId8" tooltip="Next step" action="ppaction://hlinksldjump"/>
          </p:cNvPr>
          <p:cNvPicPr>
            <a:picLocks noChangeAspect="1"/>
          </p:cNvPicPr>
          <p:nvPr/>
        </p:nvPicPr>
        <p:blipFill>
          <a:blip r:embed="rId7"/>
          <a:stretch>
            <a:fillRect/>
          </a:stretch>
        </p:blipFill>
        <p:spPr>
          <a:xfrm>
            <a:off x="1133856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Label"/>
          <p:cNvSpPr txBox="1"/>
          <p:nvPr/>
        </p:nvSpPr>
        <p:spPr>
          <a:xfrm>
            <a:off x="4206240" y="457200"/>
            <a:ext cx="7498080" cy="274320"/>
          </a:xfrm>
          <a:prstGeom prst="rect">
            <a:avLst/>
          </a:prstGeom>
          <a:noFill/>
          <a:ln/>
        </p:spPr>
        <p:txBody>
          <a:bodyPr wrap="square" lIns="0" tIns="0" rIns="0" bIns="0" rtlCol="0" anchor="ctr"/>
          <a:lstStyle/>
          <a:p>
            <a:pPr indent="0" marL="0">
              <a:buNone/>
            </a:pPr>
            <a:r>
              <a:rPr lang="en-US" sz="1100" b="1" spc="100" kern="0" dirty="0">
                <a:solidFill>
                  <a:schemeClr val="accent6"/>
                </a:solidFill>
              </a:rPr>
              <a:t>DISPATCH PLANNING → GCS LOADING SHEET · STEP 3 OF 4</a:t>
            </a:r>
            <a:endParaRPr lang="en-US" sz="1100" dirty="0"/>
          </a:p>
        </p:txBody>
      </p:sp>
      <p:sp>
        <p:nvSpPr>
          <p:cNvPr id="3" name="Title"/>
          <p:cNvSpPr txBox="1"/>
          <p:nvPr/>
        </p:nvSpPr>
        <p:spPr>
          <a:xfrm>
            <a:off x="4206240" y="777240"/>
            <a:ext cx="7498080" cy="685800"/>
          </a:xfrm>
          <a:prstGeom prst="rect">
            <a:avLst/>
          </a:prstGeom>
          <a:noFill/>
          <a:ln/>
        </p:spPr>
        <p:txBody>
          <a:bodyPr wrap="square" lIns="0" tIns="0" rIns="0" bIns="0" rtlCol="0" anchor="ctr"/>
          <a:lstStyle/>
          <a:p>
            <a:pPr indent="0" marL="0">
              <a:buNone/>
            </a:pPr>
            <a:r>
              <a:rPr lang="en-US" sz="3200" b="1" dirty="0">
                <a:solidFill>
                  <a:schemeClr val="tx2"/>
                </a:solidFill>
              </a:rPr>
              <a:t>Loading sheets on the HHT</a:t>
            </a:r>
            <a:endParaRPr lang="en-US" sz="3200" dirty="0"/>
          </a:p>
        </p:txBody>
      </p:sp>
      <p:pic>
        <p:nvPicPr>
          <p:cNvPr id="4" name="Picture" descr="/tmp/claude-0/-home-claude/604fe074-c4a3-59f5-a7f0-a4d942adf429/scratchpad/deck/img/d01_list.jpg">    </p:cNvPr>
          <p:cNvPicPr>
            <a:picLocks noChangeAspect="1"/>
          </p:cNvPicPr>
          <p:nvPr/>
        </p:nvPicPr>
        <p:blipFill>
          <a:blip r:embed="rId1"/>
          <a:stretch>
            <a:fillRect/>
          </a:stretch>
        </p:blipFill>
        <p:spPr>
          <a:xfrm>
            <a:off x="669206" y="365760"/>
            <a:ext cx="2867827" cy="598932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4206240" y="1691640"/>
            <a:ext cx="7498080" cy="35661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Vehicle Loading lists the open GCS loading sheets of the plant the user signed in to.</a:t>
            </a:r>
            <a:endParaRPr lang="en-US" sz="1700" dirty="0"/>
          </a:p>
          <a:p>
            <a:pPr marL="342900" indent="-342900">
              <a:spcAft>
                <a:spcPts val="1000"/>
              </a:spcAft>
              <a:buSzPct val="100000"/>
              <a:buChar char="•"/>
            </a:pPr>
            <a:r>
              <a:rPr lang="en-US" sz="1700" dirty="0">
                <a:solidFill>
                  <a:schemeClr val="tx1"/>
                </a:solidFill>
              </a:rPr>
              <a:t>The GCS QR can also be scanned to open its sheet directly.</a:t>
            </a:r>
            <a:endParaRPr lang="en-US" sz="1700" dirty="0"/>
          </a:p>
        </p:txBody>
      </p:sp>
      <p:pic>
        <p:nvPicPr>
          <p:cNvPr id="6" name="Back button" descr="preencoded.png">
            <a:hlinkClick r:id="rId3" tooltip="Back to Dispatch planning → GCS loading sheet" action="ppaction://hlinksldjump"/>
          </p:cNvPr>
          <p:cNvPicPr>
            <a:picLocks noChangeAspect="1"/>
          </p:cNvPicPr>
          <p:nvPr/>
        </p:nvPicPr>
        <p:blipFill>
          <a:blip r:embed="rId2"/>
          <a:stretch>
            <a:fillRect/>
          </a:stretch>
        </p:blipFill>
        <p:spPr>
          <a:xfrm>
            <a:off x="4206240" y="5715000"/>
            <a:ext cx="420624" cy="420624"/>
          </a:xfrm>
          <a:prstGeom prst="rect">
            <a:avLst/>
          </a:prstGeom>
        </p:spPr>
      </p:pic>
      <p:sp>
        <p:nvSpPr>
          <p:cNvPr id="7" name="Back link"/>
          <p:cNvSpPr txBox="1"/>
          <p:nvPr/>
        </p:nvSpPr>
        <p:spPr>
          <a:xfrm>
            <a:off x="4736592" y="5715000"/>
            <a:ext cx="576072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789920" y="5715000"/>
            <a:ext cx="384048" cy="384048"/>
          </a:xfrm>
          <a:prstGeom prst="rect">
            <a:avLst/>
          </a:prstGeom>
        </p:spPr>
      </p:pic>
      <p:pic>
        <p:nvPicPr>
          <p:cNvPr id="9" name="Next step" descr="preencoded.png">
            <a:hlinkClick r:id="rId8" tooltip="Next step" action="ppaction://hlinksldjump"/>
          </p:cNvPr>
          <p:cNvPicPr>
            <a:picLocks noChangeAspect="1"/>
          </p:cNvPicPr>
          <p:nvPr/>
        </p:nvPicPr>
        <p:blipFill>
          <a:blip r:embed="rId7"/>
          <a:stretch>
            <a:fillRect/>
          </a:stretch>
        </p:blipFill>
        <p:spPr>
          <a:xfrm>
            <a:off x="1129284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Label"/>
          <p:cNvSpPr txBox="1"/>
          <p:nvPr/>
        </p:nvSpPr>
        <p:spPr>
          <a:xfrm>
            <a:off x="4206240" y="457200"/>
            <a:ext cx="7498080" cy="274320"/>
          </a:xfrm>
          <a:prstGeom prst="rect">
            <a:avLst/>
          </a:prstGeom>
          <a:noFill/>
          <a:ln/>
        </p:spPr>
        <p:txBody>
          <a:bodyPr wrap="square" lIns="0" tIns="0" rIns="0" bIns="0" rtlCol="0" anchor="ctr"/>
          <a:lstStyle/>
          <a:p>
            <a:pPr indent="0" marL="0">
              <a:buNone/>
            </a:pPr>
            <a:r>
              <a:rPr lang="en-US" sz="1100" b="1" spc="100" kern="0" dirty="0">
                <a:solidFill>
                  <a:schemeClr val="accent6"/>
                </a:solidFill>
              </a:rPr>
              <a:t>DISPATCH PLANNING → GCS LOADING SHEET · STEP 4 OF 4</a:t>
            </a:r>
            <a:endParaRPr lang="en-US" sz="1100" dirty="0"/>
          </a:p>
        </p:txBody>
      </p:sp>
      <p:sp>
        <p:nvSpPr>
          <p:cNvPr id="3" name="Title"/>
          <p:cNvSpPr txBox="1"/>
          <p:nvPr/>
        </p:nvSpPr>
        <p:spPr>
          <a:xfrm>
            <a:off x="4206240" y="777240"/>
            <a:ext cx="7498080" cy="685800"/>
          </a:xfrm>
          <a:prstGeom prst="rect">
            <a:avLst/>
          </a:prstGeom>
          <a:noFill/>
          <a:ln/>
        </p:spPr>
        <p:txBody>
          <a:bodyPr wrap="square" lIns="0" tIns="0" rIns="0" bIns="0" rtlCol="0" anchor="ctr"/>
          <a:lstStyle/>
          <a:p>
            <a:pPr indent="0" marL="0">
              <a:buNone/>
            </a:pPr>
            <a:r>
              <a:rPr lang="en-US" sz="3200" b="1" dirty="0">
                <a:solidFill>
                  <a:schemeClr val="tx2"/>
                </a:solidFill>
              </a:rPr>
              <a:t>Loading sheet</a:t>
            </a:r>
            <a:endParaRPr lang="en-US" sz="3200" dirty="0"/>
          </a:p>
        </p:txBody>
      </p:sp>
      <p:pic>
        <p:nvPicPr>
          <p:cNvPr id="4" name="Picture" descr="/tmp/claude-0/-home-claude/604fe074-c4a3-59f5-a7f0-a4d942adf429/scratchpad/deck/img/d02_sheet.jpg">    </p:cNvPr>
          <p:cNvPicPr>
            <a:picLocks noChangeAspect="1"/>
          </p:cNvPicPr>
          <p:nvPr/>
        </p:nvPicPr>
        <p:blipFill>
          <a:blip r:embed="rId1"/>
          <a:stretch>
            <a:fillRect/>
          </a:stretch>
        </p:blipFill>
        <p:spPr>
          <a:xfrm>
            <a:off x="669206" y="365760"/>
            <a:ext cx="2867827" cy="598932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4206240" y="1691640"/>
            <a:ext cx="7498080" cy="35661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Header: GCS number, customer, vehicle and invoices.</a:t>
            </a:r>
            <a:endParaRPr lang="en-US" sz="1700" dirty="0"/>
          </a:p>
          <a:p>
            <a:pPr marL="342900" indent="-342900">
              <a:spcAft>
                <a:spcPts val="1000"/>
              </a:spcAft>
              <a:buSzPct val="100000"/>
              <a:buChar char="•"/>
            </a:pPr>
            <a:r>
              <a:rPr lang="en-US" sz="1700" dirty="0">
                <a:solidFill>
                  <a:schemeClr val="tx1"/>
                </a:solidFill>
              </a:rPr>
              <a:t>The invoice lines (item, quantity) and the expected pallets are shown; rings count part cards and pallets loaded.</a:t>
            </a:r>
            <a:endParaRPr lang="en-US" sz="1700" dirty="0"/>
          </a:p>
        </p:txBody>
      </p:sp>
      <p:pic>
        <p:nvPicPr>
          <p:cNvPr id="6" name="Back button" descr="preencoded.png">
            <a:hlinkClick r:id="rId3" tooltip="Back to Dispatch planning → GCS loading sheet" action="ppaction://hlinksldjump"/>
          </p:cNvPr>
          <p:cNvPicPr>
            <a:picLocks noChangeAspect="1"/>
          </p:cNvPicPr>
          <p:nvPr/>
        </p:nvPicPr>
        <p:blipFill>
          <a:blip r:embed="rId2"/>
          <a:stretch>
            <a:fillRect/>
          </a:stretch>
        </p:blipFill>
        <p:spPr>
          <a:xfrm>
            <a:off x="4206240" y="5715000"/>
            <a:ext cx="420624" cy="420624"/>
          </a:xfrm>
          <a:prstGeom prst="rect">
            <a:avLst/>
          </a:prstGeom>
        </p:spPr>
      </p:pic>
      <p:sp>
        <p:nvSpPr>
          <p:cNvPr id="7" name="Back link"/>
          <p:cNvSpPr txBox="1"/>
          <p:nvPr/>
        </p:nvSpPr>
        <p:spPr>
          <a:xfrm>
            <a:off x="4736592" y="5715000"/>
            <a:ext cx="576072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789920" y="5715000"/>
            <a:ext cx="384048" cy="384048"/>
          </a:xfrm>
          <a:prstGeom prst="rect">
            <a:avLst/>
          </a:prstGeom>
        </p:spPr>
      </p:pic>
      <p:pic>
        <p:nvPicPr>
          <p:cNvPr id="9" name="Next step" descr="preencoded.png">    </p:cNvPr>
          <p:cNvPicPr>
            <a:picLocks noChangeAspect="1"/>
          </p:cNvPicPr>
          <p:nvPr/>
        </p:nvPicPr>
        <p:blipFill>
          <a:blip r:embed="rId7"/>
          <a:stretch>
            <a:fillRect/>
          </a:stretch>
        </p:blipFill>
        <p:spPr>
          <a:xfrm>
            <a:off x="1129284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Label"/>
          <p:cNvSpPr txBox="1"/>
          <p:nvPr/>
        </p:nvSpPr>
        <p:spPr>
          <a:xfrm>
            <a:off x="4206240" y="457200"/>
            <a:ext cx="749808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VEHICLE LOADING AGAINST THE GCS · STEP 1 OF 7</a:t>
            </a:r>
            <a:endParaRPr lang="en-US" sz="1100" dirty="0"/>
          </a:p>
        </p:txBody>
      </p:sp>
      <p:sp>
        <p:nvSpPr>
          <p:cNvPr id="3" name="Title"/>
          <p:cNvSpPr txBox="1"/>
          <p:nvPr/>
        </p:nvSpPr>
        <p:spPr>
          <a:xfrm>
            <a:off x="4206240" y="777240"/>
            <a:ext cx="7498080" cy="685800"/>
          </a:xfrm>
          <a:prstGeom prst="rect">
            <a:avLst/>
          </a:prstGeom>
          <a:noFill/>
          <a:ln/>
        </p:spPr>
        <p:txBody>
          <a:bodyPr wrap="square" lIns="0" tIns="0" rIns="0" bIns="0" rtlCol="0" anchor="ctr"/>
          <a:lstStyle/>
          <a:p>
            <a:pPr indent="0" marL="0">
              <a:buNone/>
            </a:pPr>
            <a:r>
              <a:rPr lang="en-US" sz="3200" b="1" dirty="0">
                <a:solidFill>
                  <a:schemeClr val="tx2"/>
                </a:solidFill>
              </a:rPr>
              <a:t>Scan a pallet</a:t>
            </a:r>
            <a:endParaRPr lang="en-US" sz="3200" dirty="0"/>
          </a:p>
        </p:txBody>
      </p:sp>
      <p:pic>
        <p:nvPicPr>
          <p:cNvPr id="4" name="Picture" descr="/tmp/claude-0/-home-claude/604fe074-c4a3-59f5-a7f0-a4d942adf429/scratchpad/deck/img/d03_scan_pallet.jpg">    </p:cNvPr>
          <p:cNvPicPr>
            <a:picLocks noChangeAspect="1"/>
          </p:cNvPicPr>
          <p:nvPr/>
        </p:nvPicPr>
        <p:blipFill>
          <a:blip r:embed="rId1"/>
          <a:stretch>
            <a:fillRect/>
          </a:stretch>
        </p:blipFill>
        <p:spPr>
          <a:xfrm>
            <a:off x="669206" y="365760"/>
            <a:ext cx="2867827" cy="598932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4206240" y="1691640"/>
            <a:ext cx="7498080" cy="35661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Scan the pallet QR (or a part card). The part card on that pallet is taken from the GCS file automatically.</a:t>
            </a:r>
            <a:endParaRPr lang="en-US" sz="1700" dirty="0"/>
          </a:p>
          <a:p>
            <a:pPr marL="342900" indent="-342900">
              <a:spcAft>
                <a:spcPts val="1000"/>
              </a:spcAft>
              <a:buSzPct val="100000"/>
              <a:buChar char="•"/>
            </a:pPr>
            <a:r>
              <a:rPr lang="en-US" sz="1700" dirty="0">
                <a:solidFill>
                  <a:schemeClr val="tx1"/>
                </a:solidFill>
              </a:rPr>
              <a:t>Rings: part cards and pallets loaded vs expected.</a:t>
            </a:r>
            <a:endParaRPr lang="en-US" sz="1700" dirty="0"/>
          </a:p>
        </p:txBody>
      </p:sp>
      <p:pic>
        <p:nvPicPr>
          <p:cNvPr id="6" name="Back button" descr="preencoded.png">
            <a:hlinkClick r:id="rId3" tooltip="Back to Vehicle loading against the GCS" action="ppaction://hlinksldjump"/>
          </p:cNvPr>
          <p:cNvPicPr>
            <a:picLocks noChangeAspect="1"/>
          </p:cNvPicPr>
          <p:nvPr/>
        </p:nvPicPr>
        <p:blipFill>
          <a:blip r:embed="rId2"/>
          <a:stretch>
            <a:fillRect/>
          </a:stretch>
        </p:blipFill>
        <p:spPr>
          <a:xfrm>
            <a:off x="4206240" y="5715000"/>
            <a:ext cx="420624" cy="420624"/>
          </a:xfrm>
          <a:prstGeom prst="rect">
            <a:avLst/>
          </a:prstGeom>
        </p:spPr>
      </p:pic>
      <p:sp>
        <p:nvSpPr>
          <p:cNvPr id="7" name="Back link"/>
          <p:cNvSpPr txBox="1"/>
          <p:nvPr/>
        </p:nvSpPr>
        <p:spPr>
          <a:xfrm>
            <a:off x="4736592" y="5715000"/>
            <a:ext cx="576072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p:cNvPr>
          <p:cNvPicPr>
            <a:picLocks noChangeAspect="1"/>
          </p:cNvPicPr>
          <p:nvPr/>
        </p:nvPicPr>
        <p:blipFill>
          <a:blip r:embed="rId5"/>
          <a:stretch>
            <a:fillRect/>
          </a:stretch>
        </p:blipFill>
        <p:spPr>
          <a:xfrm>
            <a:off x="10789920" y="5715000"/>
            <a:ext cx="384048" cy="384048"/>
          </a:xfrm>
          <a:prstGeom prst="rect">
            <a:avLst/>
          </a:prstGeom>
        </p:spPr>
      </p:pic>
      <p:pic>
        <p:nvPicPr>
          <p:cNvPr id="9" name="Next step" descr="preencoded.png">
            <a:hlinkClick r:id="rId7" tooltip="Next step" action="ppaction://hlinksldjump"/>
          </p:cNvPr>
          <p:cNvPicPr>
            <a:picLocks noChangeAspect="1"/>
          </p:cNvPicPr>
          <p:nvPr/>
        </p:nvPicPr>
        <p:blipFill>
          <a:blip r:embed="rId6"/>
          <a:stretch>
            <a:fillRect/>
          </a:stretch>
        </p:blipFill>
        <p:spPr>
          <a:xfrm>
            <a:off x="1129284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Label"/>
          <p:cNvSpPr txBox="1"/>
          <p:nvPr/>
        </p:nvSpPr>
        <p:spPr>
          <a:xfrm>
            <a:off x="4206240" y="457200"/>
            <a:ext cx="749808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VEHICLE LOADING AGAINST THE GCS · STEP 2 OF 7</a:t>
            </a:r>
            <a:endParaRPr lang="en-US" sz="1100" dirty="0"/>
          </a:p>
        </p:txBody>
      </p:sp>
      <p:sp>
        <p:nvSpPr>
          <p:cNvPr id="3" name="Title"/>
          <p:cNvSpPr txBox="1"/>
          <p:nvPr/>
        </p:nvSpPr>
        <p:spPr>
          <a:xfrm>
            <a:off x="4206240" y="777240"/>
            <a:ext cx="7498080" cy="685800"/>
          </a:xfrm>
          <a:prstGeom prst="rect">
            <a:avLst/>
          </a:prstGeom>
          <a:noFill/>
          <a:ln/>
        </p:spPr>
        <p:txBody>
          <a:bodyPr wrap="square" lIns="0" tIns="0" rIns="0" bIns="0" rtlCol="0" anchor="ctr"/>
          <a:lstStyle/>
          <a:p>
            <a:pPr indent="0" marL="0">
              <a:buNone/>
            </a:pPr>
            <a:r>
              <a:rPr lang="en-US" sz="3200" b="1" dirty="0">
                <a:solidFill>
                  <a:schemeClr val="tx2"/>
                </a:solidFill>
              </a:rPr>
              <a:t>STOP - do PDI</a:t>
            </a:r>
            <a:endParaRPr lang="en-US" sz="3200" dirty="0"/>
          </a:p>
        </p:txBody>
      </p:sp>
      <p:pic>
        <p:nvPicPr>
          <p:cNvPr id="4" name="Picture" descr="/tmp/claude-0/-home-claude/604fe074-c4a3-59f5-a7f0-a4d942adf429/scratchpad/deck/img/d04_stop_do_pdi.jpg">    </p:cNvPr>
          <p:cNvPicPr>
            <a:picLocks noChangeAspect="1"/>
          </p:cNvPicPr>
          <p:nvPr/>
        </p:nvPicPr>
        <p:blipFill>
          <a:blip r:embed="rId1"/>
          <a:stretch>
            <a:fillRect/>
          </a:stretch>
        </p:blipFill>
        <p:spPr>
          <a:xfrm>
            <a:off x="669206" y="365760"/>
            <a:ext cx="2867827" cy="598932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4206240" y="1691640"/>
            <a:ext cx="7498080" cy="35661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A part card that is not in this GCS is not PDI-passed for this vehicle.</a:t>
            </a:r>
            <a:endParaRPr lang="en-US" sz="1700" dirty="0"/>
          </a:p>
          <a:p>
            <a:pPr marL="342900" indent="-342900">
              <a:spcAft>
                <a:spcPts val="1000"/>
              </a:spcAft>
              <a:buSzPct val="100000"/>
              <a:buChar char="•"/>
            </a:pPr>
            <a:r>
              <a:rPr lang="en-US" sz="1700" dirty="0">
                <a:solidFill>
                  <a:schemeClr val="tx1"/>
                </a:solidFill>
              </a:rPr>
              <a:t>The HHT shows a red STOP banner: "do PDI first, keep it off the vehicle" and records it in Missed Scans.</a:t>
            </a:r>
            <a:endParaRPr lang="en-US" sz="1700" dirty="0"/>
          </a:p>
          <a:p>
            <a:pPr marL="342900" indent="-342900">
              <a:spcAft>
                <a:spcPts val="1000"/>
              </a:spcAft>
              <a:buSzPct val="100000"/>
              <a:buChar char="•"/>
            </a:pPr>
            <a:r>
              <a:rPr lang="en-US" sz="1700" dirty="0">
                <a:solidFill>
                  <a:schemeClr val="tx1"/>
                </a:solidFill>
              </a:rPr>
              <a:t>A card belonging to another GCS is refused as "wrong vehicle".</a:t>
            </a:r>
            <a:endParaRPr lang="en-US" sz="1700" dirty="0"/>
          </a:p>
        </p:txBody>
      </p:sp>
      <p:pic>
        <p:nvPicPr>
          <p:cNvPr id="6" name="Back button" descr="preencoded.png">
            <a:hlinkClick r:id="rId3" tooltip="Back to Vehicle loading against the GCS" action="ppaction://hlinksldjump"/>
          </p:cNvPr>
          <p:cNvPicPr>
            <a:picLocks noChangeAspect="1"/>
          </p:cNvPicPr>
          <p:nvPr/>
        </p:nvPicPr>
        <p:blipFill>
          <a:blip r:embed="rId2"/>
          <a:stretch>
            <a:fillRect/>
          </a:stretch>
        </p:blipFill>
        <p:spPr>
          <a:xfrm>
            <a:off x="4206240" y="5715000"/>
            <a:ext cx="420624" cy="420624"/>
          </a:xfrm>
          <a:prstGeom prst="rect">
            <a:avLst/>
          </a:prstGeom>
        </p:spPr>
      </p:pic>
      <p:sp>
        <p:nvSpPr>
          <p:cNvPr id="7" name="Back link"/>
          <p:cNvSpPr txBox="1"/>
          <p:nvPr/>
        </p:nvSpPr>
        <p:spPr>
          <a:xfrm>
            <a:off x="4736592" y="5715000"/>
            <a:ext cx="576072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789920" y="5715000"/>
            <a:ext cx="384048" cy="384048"/>
          </a:xfrm>
          <a:prstGeom prst="rect">
            <a:avLst/>
          </a:prstGeom>
        </p:spPr>
      </p:pic>
      <p:pic>
        <p:nvPicPr>
          <p:cNvPr id="9" name="Next step" descr="preencoded.png">
            <a:hlinkClick r:id="rId8" tooltip="Next step" action="ppaction://hlinksldjump"/>
          </p:cNvPr>
          <p:cNvPicPr>
            <a:picLocks noChangeAspect="1"/>
          </p:cNvPicPr>
          <p:nvPr/>
        </p:nvPicPr>
        <p:blipFill>
          <a:blip r:embed="rId7"/>
          <a:stretch>
            <a:fillRect/>
          </a:stretch>
        </p:blipFill>
        <p:spPr>
          <a:xfrm>
            <a:off x="1129284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Label"/>
          <p:cNvSpPr txBox="1"/>
          <p:nvPr/>
        </p:nvSpPr>
        <p:spPr>
          <a:xfrm>
            <a:off x="4206240" y="457200"/>
            <a:ext cx="749808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VEHICLE LOADING AGAINST THE GCS · STEP 3 OF 7</a:t>
            </a:r>
            <a:endParaRPr lang="en-US" sz="1100" dirty="0"/>
          </a:p>
        </p:txBody>
      </p:sp>
      <p:sp>
        <p:nvSpPr>
          <p:cNvPr id="3" name="Title"/>
          <p:cNvSpPr txBox="1"/>
          <p:nvPr/>
        </p:nvSpPr>
        <p:spPr>
          <a:xfrm>
            <a:off x="4206240" y="777240"/>
            <a:ext cx="7498080" cy="685800"/>
          </a:xfrm>
          <a:prstGeom prst="rect">
            <a:avLst/>
          </a:prstGeom>
          <a:noFill/>
          <a:ln/>
        </p:spPr>
        <p:txBody>
          <a:bodyPr wrap="square" lIns="0" tIns="0" rIns="0" bIns="0" rtlCol="0" anchor="ctr"/>
          <a:lstStyle/>
          <a:p>
            <a:pPr indent="0" marL="0">
              <a:buNone/>
            </a:pPr>
            <a:r>
              <a:rPr lang="en-US" sz="3200" b="1" dirty="0">
                <a:solidFill>
                  <a:schemeClr val="tx2"/>
                </a:solidFill>
              </a:rPr>
              <a:t>Quantity check</a:t>
            </a:r>
            <a:endParaRPr lang="en-US" sz="3200" dirty="0"/>
          </a:p>
        </p:txBody>
      </p:sp>
      <p:pic>
        <p:nvPicPr>
          <p:cNvPr id="4" name="Picture" descr="/tmp/claude-0/-home-claude/604fe074-c4a3-59f5-a7f0-a4d942adf429/scratchpad/deck/img/d05_finish_qty_short.jpg">    </p:cNvPr>
          <p:cNvPicPr>
            <a:picLocks noChangeAspect="1"/>
          </p:cNvPicPr>
          <p:nvPr/>
        </p:nvPicPr>
        <p:blipFill>
          <a:blip r:embed="rId1"/>
          <a:stretch>
            <a:fillRect/>
          </a:stretch>
        </p:blipFill>
        <p:spPr>
          <a:xfrm>
            <a:off x="669206" y="365760"/>
            <a:ext cx="2867827" cy="598932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4206240" y="1691640"/>
            <a:ext cx="7498080" cy="35661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"Finish loading" first compares the invoice quantity (GCS) with the quantity on the part cards loaded.</a:t>
            </a:r>
            <a:endParaRPr lang="en-US" sz="1700" dirty="0"/>
          </a:p>
          <a:p>
            <a:pPr marL="342900" indent="-342900">
              <a:spcAft>
                <a:spcPts val="1000"/>
              </a:spcAft>
              <a:buSzPct val="100000"/>
              <a:buChar char="•"/>
            </a:pPr>
            <a:r>
              <a:rPr lang="en-US" sz="1700" dirty="0">
                <a:solidFill>
                  <a:schemeClr val="tx1"/>
                </a:solidFill>
              </a:rPr>
              <a:t>Here 3 of 4 pallets are loaded: invoice 280, loaded 200 - NOT MATCHING. The user can go back ("Not yet") and load the rest.</a:t>
            </a:r>
            <a:endParaRPr lang="en-US" sz="1700" dirty="0"/>
          </a:p>
        </p:txBody>
      </p:sp>
      <p:pic>
        <p:nvPicPr>
          <p:cNvPr id="6" name="Back button" descr="preencoded.png">
            <a:hlinkClick r:id="rId3" tooltip="Back to Vehicle loading against the GCS" action="ppaction://hlinksldjump"/>
          </p:cNvPr>
          <p:cNvPicPr>
            <a:picLocks noChangeAspect="1"/>
          </p:cNvPicPr>
          <p:nvPr/>
        </p:nvPicPr>
        <p:blipFill>
          <a:blip r:embed="rId2"/>
          <a:stretch>
            <a:fillRect/>
          </a:stretch>
        </p:blipFill>
        <p:spPr>
          <a:xfrm>
            <a:off x="4206240" y="5715000"/>
            <a:ext cx="420624" cy="420624"/>
          </a:xfrm>
          <a:prstGeom prst="rect">
            <a:avLst/>
          </a:prstGeom>
        </p:spPr>
      </p:pic>
      <p:sp>
        <p:nvSpPr>
          <p:cNvPr id="7" name="Back link"/>
          <p:cNvSpPr txBox="1"/>
          <p:nvPr/>
        </p:nvSpPr>
        <p:spPr>
          <a:xfrm>
            <a:off x="4736592" y="5715000"/>
            <a:ext cx="576072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789920" y="5715000"/>
            <a:ext cx="384048" cy="384048"/>
          </a:xfrm>
          <a:prstGeom prst="rect">
            <a:avLst/>
          </a:prstGeom>
        </p:spPr>
      </p:pic>
      <p:pic>
        <p:nvPicPr>
          <p:cNvPr id="9" name="Next step" descr="preencoded.png">
            <a:hlinkClick r:id="rId8" tooltip="Next step" action="ppaction://hlinksldjump"/>
          </p:cNvPr>
          <p:cNvPicPr>
            <a:picLocks noChangeAspect="1"/>
          </p:cNvPicPr>
          <p:nvPr/>
        </p:nvPicPr>
        <p:blipFill>
          <a:blip r:embed="rId7"/>
          <a:stretch>
            <a:fillRect/>
          </a:stretch>
        </p:blipFill>
        <p:spPr>
          <a:xfrm>
            <a:off x="1129284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Label"/>
          <p:cNvSpPr txBox="1"/>
          <p:nvPr/>
        </p:nvSpPr>
        <p:spPr>
          <a:xfrm>
            <a:off x="4206240" y="457200"/>
            <a:ext cx="749808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VEHICLE LOADING AGAINST THE GCS · STEP 4 OF 7</a:t>
            </a:r>
            <a:endParaRPr lang="en-US" sz="1100" dirty="0"/>
          </a:p>
        </p:txBody>
      </p:sp>
      <p:sp>
        <p:nvSpPr>
          <p:cNvPr id="3" name="Title"/>
          <p:cNvSpPr txBox="1"/>
          <p:nvPr/>
        </p:nvSpPr>
        <p:spPr>
          <a:xfrm>
            <a:off x="4206240" y="777240"/>
            <a:ext cx="7498080" cy="685800"/>
          </a:xfrm>
          <a:prstGeom prst="rect">
            <a:avLst/>
          </a:prstGeom>
          <a:noFill/>
          <a:ln/>
        </p:spPr>
        <p:txBody>
          <a:bodyPr wrap="square" lIns="0" tIns="0" rIns="0" bIns="0" rtlCol="0" anchor="ctr"/>
          <a:lstStyle/>
          <a:p>
            <a:pPr indent="0" marL="0">
              <a:buNone/>
            </a:pPr>
            <a:r>
              <a:rPr lang="en-US" sz="3200" b="1" dirty="0">
                <a:solidFill>
                  <a:schemeClr val="tx2"/>
                </a:solidFill>
              </a:rPr>
              <a:t>Finish loading</a:t>
            </a:r>
            <a:endParaRPr lang="en-US" sz="3200" dirty="0"/>
          </a:p>
        </p:txBody>
      </p:sp>
      <p:pic>
        <p:nvPicPr>
          <p:cNvPr id="4" name="Picture" descr="/tmp/claude-0/-home-claude/604fe074-c4a3-59f5-a7f0-a4d942adf429/scratchpad/deck/img/d06_finish_qty_ok.jpg">    </p:cNvPr>
          <p:cNvPicPr>
            <a:picLocks noChangeAspect="1"/>
          </p:cNvPicPr>
          <p:nvPr/>
        </p:nvPicPr>
        <p:blipFill>
          <a:blip r:embed="rId1"/>
          <a:stretch>
            <a:fillRect/>
          </a:stretch>
        </p:blipFill>
        <p:spPr>
          <a:xfrm>
            <a:off x="669206" y="365760"/>
            <a:ext cx="2867827" cy="598932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4206240" y="1691640"/>
            <a:ext cx="7498080" cy="35661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All pallets loaded: invoice 280 · loaded 280 ✓.</a:t>
            </a:r>
            <a:endParaRPr lang="en-US" sz="1700" dirty="0"/>
          </a:p>
          <a:p>
            <a:pPr marL="342900" indent="-342900">
              <a:spcAft>
                <a:spcPts val="1000"/>
              </a:spcAft>
              <a:buSzPct val="100000"/>
              <a:buChar char="•"/>
            </a:pPr>
            <a:r>
              <a:rPr lang="en-US" sz="1700" dirty="0">
                <a:solidFill>
                  <a:schemeClr val="tx1"/>
                </a:solidFill>
              </a:rPr>
              <a:t>Finish loading makes the returnable-pallet challan and the signed GCS QR for the OUT gate.</a:t>
            </a:r>
            <a:endParaRPr lang="en-US" sz="1700" dirty="0"/>
          </a:p>
        </p:txBody>
      </p:sp>
      <p:pic>
        <p:nvPicPr>
          <p:cNvPr id="6" name="Back button" descr="preencoded.png">
            <a:hlinkClick r:id="rId3" tooltip="Back to Vehicle loading against the GCS" action="ppaction://hlinksldjump"/>
          </p:cNvPr>
          <p:cNvPicPr>
            <a:picLocks noChangeAspect="1"/>
          </p:cNvPicPr>
          <p:nvPr/>
        </p:nvPicPr>
        <p:blipFill>
          <a:blip r:embed="rId2"/>
          <a:stretch>
            <a:fillRect/>
          </a:stretch>
        </p:blipFill>
        <p:spPr>
          <a:xfrm>
            <a:off x="4206240" y="5715000"/>
            <a:ext cx="420624" cy="420624"/>
          </a:xfrm>
          <a:prstGeom prst="rect">
            <a:avLst/>
          </a:prstGeom>
        </p:spPr>
      </p:pic>
      <p:sp>
        <p:nvSpPr>
          <p:cNvPr id="7" name="Back link"/>
          <p:cNvSpPr txBox="1"/>
          <p:nvPr/>
        </p:nvSpPr>
        <p:spPr>
          <a:xfrm>
            <a:off x="4736592" y="5715000"/>
            <a:ext cx="576072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789920" y="5715000"/>
            <a:ext cx="384048" cy="384048"/>
          </a:xfrm>
          <a:prstGeom prst="rect">
            <a:avLst/>
          </a:prstGeom>
        </p:spPr>
      </p:pic>
      <p:pic>
        <p:nvPicPr>
          <p:cNvPr id="9" name="Next step" descr="preencoded.png">
            <a:hlinkClick r:id="rId8" tooltip="Next step" action="ppaction://hlinksldjump"/>
          </p:cNvPr>
          <p:cNvPicPr>
            <a:picLocks noChangeAspect="1"/>
          </p:cNvPicPr>
          <p:nvPr/>
        </p:nvPicPr>
        <p:blipFill>
          <a:blip r:embed="rId7"/>
          <a:stretch>
            <a:fillRect/>
          </a:stretch>
        </p:blipFill>
        <p:spPr>
          <a:xfrm>
            <a:off x="1129284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Label"/>
          <p:cNvSpPr txBox="1"/>
          <p:nvPr/>
        </p:nvSpPr>
        <p:spPr>
          <a:xfrm>
            <a:off x="4206240" y="457200"/>
            <a:ext cx="749808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VEHICLE LOADING AGAINST THE GCS · STEP 5 OF 7</a:t>
            </a:r>
            <a:endParaRPr lang="en-US" sz="1100" dirty="0"/>
          </a:p>
        </p:txBody>
      </p:sp>
      <p:sp>
        <p:nvSpPr>
          <p:cNvPr id="3" name="Title"/>
          <p:cNvSpPr txBox="1"/>
          <p:nvPr/>
        </p:nvSpPr>
        <p:spPr>
          <a:xfrm>
            <a:off x="4206240" y="777240"/>
            <a:ext cx="7498080" cy="685800"/>
          </a:xfrm>
          <a:prstGeom prst="rect">
            <a:avLst/>
          </a:prstGeom>
          <a:noFill/>
          <a:ln/>
        </p:spPr>
        <p:txBody>
          <a:bodyPr wrap="square" lIns="0" tIns="0" rIns="0" bIns="0" rtlCol="0" anchor="ctr"/>
          <a:lstStyle/>
          <a:p>
            <a:pPr indent="0" marL="0">
              <a:buNone/>
            </a:pPr>
            <a:r>
              <a:rPr lang="en-US" sz="3200" b="1" dirty="0">
                <a:solidFill>
                  <a:schemeClr val="tx2"/>
                </a:solidFill>
              </a:rPr>
              <a:t>Challan + GCS printed</a:t>
            </a:r>
            <a:endParaRPr lang="en-US" sz="3200" dirty="0"/>
          </a:p>
        </p:txBody>
      </p:sp>
      <p:pic>
        <p:nvPicPr>
          <p:cNvPr id="4" name="Picture" descr="/tmp/claude-0/-home-claude/604fe074-c4a3-59f5-a7f0-a4d942adf429/scratchpad/deck/img/d07_loading_complete.jpg">    </p:cNvPr>
          <p:cNvPicPr>
            <a:picLocks noChangeAspect="1"/>
          </p:cNvPicPr>
          <p:nvPr/>
        </p:nvPicPr>
        <p:blipFill>
          <a:blip r:embed="rId1"/>
          <a:stretch>
            <a:fillRect/>
          </a:stretch>
        </p:blipFill>
        <p:spPr>
          <a:xfrm>
            <a:off x="669206" y="365760"/>
            <a:ext cx="2867827" cy="598932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4206240" y="1691640"/>
            <a:ext cx="7498080" cy="35661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Challan CHN/00005 is made and the vehicle is APPROVED for the gate.</a:t>
            </a:r>
            <a:endParaRPr lang="en-US" sz="1700" dirty="0"/>
          </a:p>
          <a:p>
            <a:pPr marL="342900" indent="-342900">
              <a:spcAft>
                <a:spcPts val="1000"/>
              </a:spcAft>
              <a:buSzPct val="100000"/>
              <a:buChar char="•"/>
            </a:pPr>
            <a:r>
              <a:rPr lang="en-US" sz="1700" dirty="0">
                <a:solidFill>
                  <a:schemeClr val="tx1"/>
                </a:solidFill>
              </a:rPr>
              <a:t>GCS + challan are queued on the plant shared / network printer set in Masters › Plants (here \\AISCHN-PRN01\FGWH-Laser).</a:t>
            </a:r>
            <a:endParaRPr lang="en-US" sz="1700" dirty="0"/>
          </a:p>
          <a:p>
            <a:pPr marL="342900" indent="-342900">
              <a:spcAft>
                <a:spcPts val="1000"/>
              </a:spcAft>
              <a:buSzPct val="100000"/>
              <a:buChar char="•"/>
            </a:pPr>
            <a:r>
              <a:rPr lang="en-US" sz="1700" dirty="0">
                <a:solidFill>
                  <a:schemeClr val="tx1"/>
                </a:solidFill>
              </a:rPr>
              <a:t>No Bluetooth printer is used for dispatch. "Print again" reprints on the same plant printer.</a:t>
            </a:r>
            <a:endParaRPr lang="en-US" sz="1700" dirty="0"/>
          </a:p>
        </p:txBody>
      </p:sp>
      <p:pic>
        <p:nvPicPr>
          <p:cNvPr id="6" name="Back button" descr="preencoded.png">
            <a:hlinkClick r:id="rId3" tooltip="Back to Vehicle loading against the GCS" action="ppaction://hlinksldjump"/>
          </p:cNvPr>
          <p:cNvPicPr>
            <a:picLocks noChangeAspect="1"/>
          </p:cNvPicPr>
          <p:nvPr/>
        </p:nvPicPr>
        <p:blipFill>
          <a:blip r:embed="rId2"/>
          <a:stretch>
            <a:fillRect/>
          </a:stretch>
        </p:blipFill>
        <p:spPr>
          <a:xfrm>
            <a:off x="4206240" y="5715000"/>
            <a:ext cx="420624" cy="420624"/>
          </a:xfrm>
          <a:prstGeom prst="rect">
            <a:avLst/>
          </a:prstGeom>
        </p:spPr>
      </p:pic>
      <p:sp>
        <p:nvSpPr>
          <p:cNvPr id="7" name="Back link"/>
          <p:cNvSpPr txBox="1"/>
          <p:nvPr/>
        </p:nvSpPr>
        <p:spPr>
          <a:xfrm>
            <a:off x="4736592" y="5715000"/>
            <a:ext cx="576072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789920" y="5715000"/>
            <a:ext cx="384048" cy="384048"/>
          </a:xfrm>
          <a:prstGeom prst="rect">
            <a:avLst/>
          </a:prstGeom>
        </p:spPr>
      </p:pic>
      <p:pic>
        <p:nvPicPr>
          <p:cNvPr id="9" name="Next step" descr="preencoded.png">
            <a:hlinkClick r:id="rId8" tooltip="Next step" action="ppaction://hlinksldjump"/>
          </p:cNvPr>
          <p:cNvPicPr>
            <a:picLocks noChangeAspect="1"/>
          </p:cNvPicPr>
          <p:nvPr/>
        </p:nvPicPr>
        <p:blipFill>
          <a:blip r:embed="rId7"/>
          <a:stretch>
            <a:fillRect/>
          </a:stretch>
        </p:blipFill>
        <p:spPr>
          <a:xfrm>
            <a:off x="1129284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Label"/>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VEHICLE LOADING AGAINST THE GCS · STEP 6 OF 7</a:t>
            </a:r>
            <a:endParaRPr lang="en-US" sz="1100" dirty="0"/>
          </a:p>
        </p:txBody>
      </p:sp>
      <p:sp>
        <p:nvSpPr>
          <p:cNvPr id="3" name="Title"/>
          <p:cNvSpPr txBox="1"/>
          <p:nvPr/>
        </p:nvSpPr>
        <p:spPr>
          <a:xfrm>
            <a:off x="457200" y="566928"/>
            <a:ext cx="11247120" cy="548640"/>
          </a:xfrm>
          <a:prstGeom prst="rect">
            <a:avLst/>
          </a:prstGeom>
          <a:noFill/>
          <a:ln/>
        </p:spPr>
        <p:txBody>
          <a:bodyPr wrap="square" lIns="0" tIns="0" rIns="0" bIns="0" rtlCol="0" anchor="ctr"/>
          <a:lstStyle/>
          <a:p>
            <a:pPr indent="0" marL="0">
              <a:buNone/>
            </a:pPr>
            <a:r>
              <a:rPr lang="en-US" sz="2800" b="1" dirty="0">
                <a:solidFill>
                  <a:schemeClr val="tx2"/>
                </a:solidFill>
              </a:rPr>
              <a:t>Output: GCS gate pass</a:t>
            </a:r>
            <a:endParaRPr lang="en-US" sz="2800" dirty="0"/>
          </a:p>
        </p:txBody>
      </p:sp>
      <p:pic>
        <p:nvPicPr>
          <p:cNvPr id="4" name="Picture" descr="/tmp/claude-0/-home-claude/604fe074-c4a3-59f5-a7f0-a4d942adf429/scratchpad/deck/img/o_gcs.jpg">    </p:cNvPr>
          <p:cNvPicPr>
            <a:picLocks noChangeAspect="1"/>
          </p:cNvPicPr>
          <p:nvPr/>
        </p:nvPicPr>
        <p:blipFill>
          <a:blip r:embed="rId1"/>
          <a:stretch>
            <a:fillRect/>
          </a:stretch>
        </p:blipFill>
        <p:spPr>
          <a:xfrm>
            <a:off x="457200" y="1280160"/>
            <a:ext cx="5688585" cy="498348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8732520" y="1280160"/>
            <a:ext cx="3017520" cy="39319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Finished Goods gate pass from the ERP data: invoices, items, quantity, amount, pallets loaded and the pallet challan number.</a:t>
            </a:r>
            <a:endParaRPr lang="en-US" sz="1400" dirty="0"/>
          </a:p>
          <a:p>
            <a:pPr marL="342900" indent="-342900">
              <a:spcAft>
                <a:spcPts val="1000"/>
              </a:spcAft>
              <a:buSzPct val="100000"/>
              <a:buChar char="•"/>
            </a:pPr>
            <a:r>
              <a:rPr lang="en-US" sz="1400" dirty="0">
                <a:solidFill>
                  <a:schemeClr val="tx1"/>
                </a:solidFill>
              </a:rPr>
              <a:t>The QR is signed by AssetTrack - the OUT gate accepts only this QR.</a:t>
            </a:r>
            <a:endParaRPr lang="en-US" sz="1400" dirty="0"/>
          </a:p>
          <a:p>
            <a:pPr marL="342900" indent="-342900">
              <a:spcAft>
                <a:spcPts val="1000"/>
              </a:spcAft>
              <a:buSzPct val="100000"/>
              <a:buChar char="•"/>
            </a:pPr>
            <a:r>
              <a:rPr lang="en-US" sz="1400" dirty="0">
                <a:solidFill>
                  <a:schemeClr val="tx1"/>
                </a:solidFill>
              </a:rPr>
              <a:t>Sign boxes: PDI, Logistics, Security.</a:t>
            </a:r>
            <a:endParaRPr lang="en-US" sz="1400" dirty="0"/>
          </a:p>
        </p:txBody>
      </p:sp>
      <p:pic>
        <p:nvPicPr>
          <p:cNvPr id="6" name="Back button" descr="preencoded.png">
            <a:hlinkClick r:id="rId3" tooltip="Back to Vehicle loading against the GCS" action="ppaction://hlinksldjump"/>
          </p:cNvPr>
          <p:cNvPicPr>
            <a:picLocks noChangeAspect="1"/>
          </p:cNvPicPr>
          <p:nvPr/>
        </p:nvPicPr>
        <p:blipFill>
          <a:blip r:embed="rId2"/>
          <a:stretch>
            <a:fillRect/>
          </a:stretch>
        </p:blipFill>
        <p:spPr>
          <a:xfrm>
            <a:off x="8732520" y="5715000"/>
            <a:ext cx="420624" cy="420624"/>
          </a:xfrm>
          <a:prstGeom prst="rect">
            <a:avLst/>
          </a:prstGeom>
        </p:spPr>
      </p:pic>
      <p:sp>
        <p:nvSpPr>
          <p:cNvPr id="7" name="Back link"/>
          <p:cNvSpPr txBox="1"/>
          <p:nvPr/>
        </p:nvSpPr>
        <p:spPr>
          <a:xfrm>
            <a:off x="9262872" y="5715000"/>
            <a:ext cx="137160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835640" y="5715000"/>
            <a:ext cx="384048" cy="384048"/>
          </a:xfrm>
          <a:prstGeom prst="rect">
            <a:avLst/>
          </a:prstGeom>
        </p:spPr>
      </p:pic>
      <p:pic>
        <p:nvPicPr>
          <p:cNvPr id="9" name="Next step" descr="preencoded.png">
            <a:hlinkClick r:id="rId8" tooltip="Next step" action="ppaction://hlinksldjump"/>
          </p:cNvPr>
          <p:cNvPicPr>
            <a:picLocks noChangeAspect="1"/>
          </p:cNvPicPr>
          <p:nvPr/>
        </p:nvPicPr>
        <p:blipFill>
          <a:blip r:embed="rId7"/>
          <a:stretch>
            <a:fillRect/>
          </a:stretch>
        </p:blipFill>
        <p:spPr>
          <a:xfrm>
            <a:off x="1133856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Label"/>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VEHICLE LOADING AGAINST THE GCS · STEP 7 OF 7</a:t>
            </a:r>
            <a:endParaRPr lang="en-US" sz="1100" dirty="0"/>
          </a:p>
        </p:txBody>
      </p:sp>
      <p:sp>
        <p:nvSpPr>
          <p:cNvPr id="3" name="Title"/>
          <p:cNvSpPr txBox="1"/>
          <p:nvPr/>
        </p:nvSpPr>
        <p:spPr>
          <a:xfrm>
            <a:off x="457200" y="566928"/>
            <a:ext cx="11247120" cy="548640"/>
          </a:xfrm>
          <a:prstGeom prst="rect">
            <a:avLst/>
          </a:prstGeom>
          <a:noFill/>
          <a:ln/>
        </p:spPr>
        <p:txBody>
          <a:bodyPr wrap="square" lIns="0" tIns="0" rIns="0" bIns="0" rtlCol="0" anchor="ctr"/>
          <a:lstStyle/>
          <a:p>
            <a:pPr indent="0" marL="0">
              <a:buNone/>
            </a:pPr>
            <a:r>
              <a:rPr lang="en-US" sz="2800" b="1" dirty="0">
                <a:solidFill>
                  <a:schemeClr val="tx2"/>
                </a:solidFill>
              </a:rPr>
              <a:t>Output: pallet challan</a:t>
            </a:r>
            <a:endParaRPr lang="en-US" sz="2800" dirty="0"/>
          </a:p>
        </p:txBody>
      </p:sp>
      <p:pic>
        <p:nvPicPr>
          <p:cNvPr id="4" name="Picture" descr="/tmp/claude-0/-home-claude/604fe074-c4a3-59f5-a7f0-a4d942adf429/scratchpad/deck/img/o_challan.jpg">    </p:cNvPr>
          <p:cNvPicPr>
            <a:picLocks noChangeAspect="1"/>
          </p:cNvPicPr>
          <p:nvPr/>
        </p:nvPicPr>
        <p:blipFill>
          <a:blip r:embed="rId1"/>
          <a:stretch>
            <a:fillRect/>
          </a:stretch>
        </p:blipFill>
        <p:spPr>
          <a:xfrm>
            <a:off x="457200" y="1280160"/>
            <a:ext cx="5521753" cy="498348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8732520" y="1280160"/>
            <a:ext cx="3017520" cy="39319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Delivery challan for the returnable pallets: pallet types with HSN and value (from the Pallet Type master) and every pallet number.</a:t>
            </a:r>
            <a:endParaRPr lang="en-US" sz="1400" dirty="0"/>
          </a:p>
          <a:p>
            <a:pPr marL="342900" indent="-342900">
              <a:spcAft>
                <a:spcPts val="1000"/>
              </a:spcAft>
              <a:buSzPct val="100000"/>
              <a:buChar char="•"/>
            </a:pPr>
            <a:r>
              <a:rPr lang="en-US" sz="1400" dirty="0">
                <a:solidFill>
                  <a:schemeClr val="tx1"/>
                </a:solidFill>
              </a:rPr>
              <a:t>Printed with the GCS on the plant printer (original / duplicate / triplicate).</a:t>
            </a:r>
            <a:endParaRPr lang="en-US" sz="1400" dirty="0"/>
          </a:p>
        </p:txBody>
      </p:sp>
      <p:pic>
        <p:nvPicPr>
          <p:cNvPr id="6" name="Back button" descr="preencoded.png">
            <a:hlinkClick r:id="rId3" tooltip="Back to Vehicle loading against the GCS" action="ppaction://hlinksldjump"/>
          </p:cNvPr>
          <p:cNvPicPr>
            <a:picLocks noChangeAspect="1"/>
          </p:cNvPicPr>
          <p:nvPr/>
        </p:nvPicPr>
        <p:blipFill>
          <a:blip r:embed="rId2"/>
          <a:stretch>
            <a:fillRect/>
          </a:stretch>
        </p:blipFill>
        <p:spPr>
          <a:xfrm>
            <a:off x="8732520" y="5715000"/>
            <a:ext cx="420624" cy="420624"/>
          </a:xfrm>
          <a:prstGeom prst="rect">
            <a:avLst/>
          </a:prstGeom>
        </p:spPr>
      </p:pic>
      <p:sp>
        <p:nvSpPr>
          <p:cNvPr id="7" name="Back link"/>
          <p:cNvSpPr txBox="1"/>
          <p:nvPr/>
        </p:nvSpPr>
        <p:spPr>
          <a:xfrm>
            <a:off x="9262872" y="5715000"/>
            <a:ext cx="137160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835640" y="5715000"/>
            <a:ext cx="384048" cy="384048"/>
          </a:xfrm>
          <a:prstGeom prst="rect">
            <a:avLst/>
          </a:prstGeom>
        </p:spPr>
      </p:pic>
      <p:pic>
        <p:nvPicPr>
          <p:cNvPr id="9" name="Next step" descr="preencoded.png">    </p:cNvPr>
          <p:cNvPicPr>
            <a:picLocks noChangeAspect="1"/>
          </p:cNvPicPr>
          <p:nvPr/>
        </p:nvPicPr>
        <p:blipFill>
          <a:blip r:embed="rId7"/>
          <a:stretch>
            <a:fillRect/>
          </a:stretch>
        </p:blipFill>
        <p:spPr>
          <a:xfrm>
            <a:off x="1133856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Label"/>
          <p:cNvSpPr txBox="1"/>
          <p:nvPr/>
        </p:nvSpPr>
        <p:spPr>
          <a:xfrm>
            <a:off x="4206240" y="457200"/>
            <a:ext cx="749808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OUT GATE · STEP 1 OF 3</a:t>
            </a:r>
            <a:endParaRPr lang="en-US" sz="1100" dirty="0"/>
          </a:p>
        </p:txBody>
      </p:sp>
      <p:sp>
        <p:nvSpPr>
          <p:cNvPr id="3" name="Title"/>
          <p:cNvSpPr txBox="1"/>
          <p:nvPr/>
        </p:nvSpPr>
        <p:spPr>
          <a:xfrm>
            <a:off x="4206240" y="777240"/>
            <a:ext cx="7498080" cy="685800"/>
          </a:xfrm>
          <a:prstGeom prst="rect">
            <a:avLst/>
          </a:prstGeom>
          <a:noFill/>
          <a:ln/>
        </p:spPr>
        <p:txBody>
          <a:bodyPr wrap="square" lIns="0" tIns="0" rIns="0" bIns="0" rtlCol="0" anchor="ctr"/>
          <a:lstStyle/>
          <a:p>
            <a:pPr indent="0" marL="0">
              <a:buNone/>
            </a:pPr>
            <a:r>
              <a:rPr lang="en-US" sz="3200" b="1" dirty="0">
                <a:solidFill>
                  <a:schemeClr val="tx2"/>
                </a:solidFill>
              </a:rPr>
              <a:t>Vehicles waiting</a:t>
            </a:r>
            <a:endParaRPr lang="en-US" sz="3200" dirty="0"/>
          </a:p>
        </p:txBody>
      </p:sp>
      <p:pic>
        <p:nvPicPr>
          <p:cNvPr id="4" name="Picture" descr="/tmp/claude-0/-home-claude/604fe074-c4a3-59f5-a7f0-a4d942adf429/scratchpad/deck/img/o01_out_gate.jpg">    </p:cNvPr>
          <p:cNvPicPr>
            <a:picLocks noChangeAspect="1"/>
          </p:cNvPicPr>
          <p:nvPr/>
        </p:nvPicPr>
        <p:blipFill>
          <a:blip r:embed="rId1"/>
          <a:stretch>
            <a:fillRect/>
          </a:stretch>
        </p:blipFill>
        <p:spPr>
          <a:xfrm>
            <a:off x="669206" y="365760"/>
            <a:ext cx="2867827" cy="598932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4206240" y="1691640"/>
            <a:ext cx="7498080" cy="35661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OUT Gate lists the vehicles approved and waiting.</a:t>
            </a:r>
            <a:endParaRPr lang="en-US" sz="1700" dirty="0"/>
          </a:p>
          <a:p>
            <a:pPr marL="342900" indent="-342900">
              <a:spcAft>
                <a:spcPts val="1000"/>
              </a:spcAft>
              <a:buSzPct val="100000"/>
              <a:buChar char="•"/>
            </a:pPr>
            <a:r>
              <a:rPr lang="en-US" sz="1700" dirty="0">
                <a:solidFill>
                  <a:schemeClr val="tx1"/>
                </a:solidFill>
              </a:rPr>
              <a:t>A paper-challan override exists but needs a supervisor PIN and is written to the audit log.</a:t>
            </a:r>
            <a:endParaRPr lang="en-US" sz="1700" dirty="0"/>
          </a:p>
        </p:txBody>
      </p:sp>
      <p:pic>
        <p:nvPicPr>
          <p:cNvPr id="6" name="Back button" descr="preencoded.png">
            <a:hlinkClick r:id="rId3" tooltip="Back to OUT gate" action="ppaction://hlinksldjump"/>
          </p:cNvPr>
          <p:cNvPicPr>
            <a:picLocks noChangeAspect="1"/>
          </p:cNvPicPr>
          <p:nvPr/>
        </p:nvPicPr>
        <p:blipFill>
          <a:blip r:embed="rId2"/>
          <a:stretch>
            <a:fillRect/>
          </a:stretch>
        </p:blipFill>
        <p:spPr>
          <a:xfrm>
            <a:off x="4206240" y="5715000"/>
            <a:ext cx="420624" cy="420624"/>
          </a:xfrm>
          <a:prstGeom prst="rect">
            <a:avLst/>
          </a:prstGeom>
        </p:spPr>
      </p:pic>
      <p:sp>
        <p:nvSpPr>
          <p:cNvPr id="7" name="Back link"/>
          <p:cNvSpPr txBox="1"/>
          <p:nvPr/>
        </p:nvSpPr>
        <p:spPr>
          <a:xfrm>
            <a:off x="4736592" y="5715000"/>
            <a:ext cx="576072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p:cNvPr>
          <p:cNvPicPr>
            <a:picLocks noChangeAspect="1"/>
          </p:cNvPicPr>
          <p:nvPr/>
        </p:nvPicPr>
        <p:blipFill>
          <a:blip r:embed="rId5"/>
          <a:stretch>
            <a:fillRect/>
          </a:stretch>
        </p:blipFill>
        <p:spPr>
          <a:xfrm>
            <a:off x="10789920" y="5715000"/>
            <a:ext cx="384048" cy="384048"/>
          </a:xfrm>
          <a:prstGeom prst="rect">
            <a:avLst/>
          </a:prstGeom>
        </p:spPr>
      </p:pic>
      <p:pic>
        <p:nvPicPr>
          <p:cNvPr id="9" name="Next step" descr="preencoded.png">
            <a:hlinkClick r:id="rId7" tooltip="Next step" action="ppaction://hlinksldjump"/>
          </p:cNvPr>
          <p:cNvPicPr>
            <a:picLocks noChangeAspect="1"/>
          </p:cNvPicPr>
          <p:nvPr/>
        </p:nvPicPr>
        <p:blipFill>
          <a:blip r:embed="rId6"/>
          <a:stretch>
            <a:fillRect/>
          </a:stretch>
        </p:blipFill>
        <p:spPr>
          <a:xfrm>
            <a:off x="1129284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Label"/>
          <p:cNvSpPr txBox="1"/>
          <p:nvPr/>
        </p:nvSpPr>
        <p:spPr>
          <a:xfrm>
            <a:off x="4206240" y="457200"/>
            <a:ext cx="749808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OUT GATE · STEP 2 OF 3</a:t>
            </a:r>
            <a:endParaRPr lang="en-US" sz="1100" dirty="0"/>
          </a:p>
        </p:txBody>
      </p:sp>
      <p:sp>
        <p:nvSpPr>
          <p:cNvPr id="3" name="Title"/>
          <p:cNvSpPr txBox="1"/>
          <p:nvPr/>
        </p:nvSpPr>
        <p:spPr>
          <a:xfrm>
            <a:off x="4206240" y="777240"/>
            <a:ext cx="7498080" cy="685800"/>
          </a:xfrm>
          <a:prstGeom prst="rect">
            <a:avLst/>
          </a:prstGeom>
          <a:noFill/>
          <a:ln/>
        </p:spPr>
        <p:txBody>
          <a:bodyPr wrap="square" lIns="0" tIns="0" rIns="0" bIns="0" rtlCol="0" anchor="ctr"/>
          <a:lstStyle/>
          <a:p>
            <a:pPr indent="0" marL="0">
              <a:buNone/>
            </a:pPr>
            <a:r>
              <a:rPr lang="en-US" sz="3200" b="1" dirty="0">
                <a:solidFill>
                  <a:schemeClr val="tx2"/>
                </a:solidFill>
              </a:rPr>
              <a:t>Forged QR refused</a:t>
            </a:r>
            <a:endParaRPr lang="en-US" sz="3200" dirty="0"/>
          </a:p>
        </p:txBody>
      </p:sp>
      <p:pic>
        <p:nvPicPr>
          <p:cNvPr id="4" name="Picture" descr="/tmp/claude-0/-home-claude/604fe074-c4a3-59f5-a7f0-a4d942adf429/scratchpad/deck/img/o02_out_forged.jpg">    </p:cNvPr>
          <p:cNvPicPr>
            <a:picLocks noChangeAspect="1"/>
          </p:cNvPicPr>
          <p:nvPr/>
        </p:nvPicPr>
        <p:blipFill>
          <a:blip r:embed="rId1"/>
          <a:stretch>
            <a:fillRect/>
          </a:stretch>
        </p:blipFill>
        <p:spPr>
          <a:xfrm>
            <a:off x="669206" y="365760"/>
            <a:ext cx="2867827" cy="598932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4206240" y="1691640"/>
            <a:ext cx="7498080" cy="35661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A QR that was not printed by AssetTrack (or was altered) fails the check code.</a:t>
            </a:r>
            <a:endParaRPr lang="en-US" sz="1700" dirty="0"/>
          </a:p>
          <a:p>
            <a:pPr marL="342900" indent="-342900">
              <a:spcAft>
                <a:spcPts val="1000"/>
              </a:spcAft>
              <a:buSzPct val="100000"/>
              <a:buChar char="•"/>
            </a:pPr>
            <a:r>
              <a:rPr lang="en-US" sz="1700" dirty="0">
                <a:solidFill>
                  <a:schemeClr val="tx1"/>
                </a:solidFill>
              </a:rPr>
              <a:t>The HHT says "HOLD VEHICLE" - nothing is dispatched.</a:t>
            </a:r>
            <a:endParaRPr lang="en-US" sz="1700" dirty="0"/>
          </a:p>
        </p:txBody>
      </p:sp>
      <p:pic>
        <p:nvPicPr>
          <p:cNvPr id="6" name="Back button" descr="preencoded.png">
            <a:hlinkClick r:id="rId3" tooltip="Back to OUT gate" action="ppaction://hlinksldjump"/>
          </p:cNvPr>
          <p:cNvPicPr>
            <a:picLocks noChangeAspect="1"/>
          </p:cNvPicPr>
          <p:nvPr/>
        </p:nvPicPr>
        <p:blipFill>
          <a:blip r:embed="rId2"/>
          <a:stretch>
            <a:fillRect/>
          </a:stretch>
        </p:blipFill>
        <p:spPr>
          <a:xfrm>
            <a:off x="4206240" y="5715000"/>
            <a:ext cx="420624" cy="420624"/>
          </a:xfrm>
          <a:prstGeom prst="rect">
            <a:avLst/>
          </a:prstGeom>
        </p:spPr>
      </p:pic>
      <p:sp>
        <p:nvSpPr>
          <p:cNvPr id="7" name="Back link"/>
          <p:cNvSpPr txBox="1"/>
          <p:nvPr/>
        </p:nvSpPr>
        <p:spPr>
          <a:xfrm>
            <a:off x="4736592" y="5715000"/>
            <a:ext cx="576072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789920" y="5715000"/>
            <a:ext cx="384048" cy="384048"/>
          </a:xfrm>
          <a:prstGeom prst="rect">
            <a:avLst/>
          </a:prstGeom>
        </p:spPr>
      </p:pic>
      <p:pic>
        <p:nvPicPr>
          <p:cNvPr id="9" name="Next step" descr="preencoded.png">
            <a:hlinkClick r:id="rId8" tooltip="Next step" action="ppaction://hlinksldjump"/>
          </p:cNvPr>
          <p:cNvPicPr>
            <a:picLocks noChangeAspect="1"/>
          </p:cNvPicPr>
          <p:nvPr/>
        </p:nvPicPr>
        <p:blipFill>
          <a:blip r:embed="rId7"/>
          <a:stretch>
            <a:fillRect/>
          </a:stretch>
        </p:blipFill>
        <p:spPr>
          <a:xfrm>
            <a:off x="1129284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Label"/>
          <p:cNvSpPr txBox="1"/>
          <p:nvPr/>
        </p:nvSpPr>
        <p:spPr>
          <a:xfrm>
            <a:off x="4206240" y="457200"/>
            <a:ext cx="749808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OUT GATE · STEP 3 OF 3</a:t>
            </a:r>
            <a:endParaRPr lang="en-US" sz="1100" dirty="0"/>
          </a:p>
        </p:txBody>
      </p:sp>
      <p:sp>
        <p:nvSpPr>
          <p:cNvPr id="3" name="Title"/>
          <p:cNvSpPr txBox="1"/>
          <p:nvPr/>
        </p:nvSpPr>
        <p:spPr>
          <a:xfrm>
            <a:off x="4206240" y="777240"/>
            <a:ext cx="7498080" cy="685800"/>
          </a:xfrm>
          <a:prstGeom prst="rect">
            <a:avLst/>
          </a:prstGeom>
          <a:noFill/>
          <a:ln/>
        </p:spPr>
        <p:txBody>
          <a:bodyPr wrap="square" lIns="0" tIns="0" rIns="0" bIns="0" rtlCol="0" anchor="ctr"/>
          <a:lstStyle/>
          <a:p>
            <a:pPr indent="0" marL="0">
              <a:buNone/>
            </a:pPr>
            <a:r>
              <a:rPr lang="en-US" sz="3200" b="1" dirty="0">
                <a:solidFill>
                  <a:schemeClr val="tx2"/>
                </a:solidFill>
              </a:rPr>
              <a:t>Dispatched</a:t>
            </a:r>
            <a:endParaRPr lang="en-US" sz="3200" dirty="0"/>
          </a:p>
        </p:txBody>
      </p:sp>
      <p:pic>
        <p:nvPicPr>
          <p:cNvPr id="4" name="Picture" descr="/tmp/claude-0/-home-claude/604fe074-c4a3-59f5-a7f0-a4d942adf429/scratchpad/deck/img/o03_out_dispatched.jpg">    </p:cNvPr>
          <p:cNvPicPr>
            <a:picLocks noChangeAspect="1"/>
          </p:cNvPicPr>
          <p:nvPr/>
        </p:nvPicPr>
        <p:blipFill>
          <a:blip r:embed="rId1"/>
          <a:stretch>
            <a:fillRect/>
          </a:stretch>
        </p:blipFill>
        <p:spPr>
          <a:xfrm>
            <a:off x="669206" y="365760"/>
            <a:ext cx="2867827" cy="598932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4206240" y="1691640"/>
            <a:ext cx="7498080" cy="35661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Genuine GCS QR: the trip is DISPATCHED; the 4 pallets are now AT CUSTOMER (HMIL) with the challan reference.</a:t>
            </a:r>
            <a:endParaRPr lang="en-US" sz="1700" dirty="0"/>
          </a:p>
          <a:p>
            <a:pPr marL="342900" indent="-342900">
              <a:spcAft>
                <a:spcPts val="1000"/>
              </a:spcAft>
              <a:buSzPct val="100000"/>
              <a:buChar char="•"/>
            </a:pPr>
            <a:r>
              <a:rPr lang="en-US" sz="1700" dirty="0">
                <a:solidFill>
                  <a:schemeClr val="tx1"/>
                </a:solidFill>
              </a:rPr>
              <a:t>Holding days start from here; reminders are mailed before and after the limit.</a:t>
            </a:r>
            <a:endParaRPr lang="en-US" sz="1700" dirty="0"/>
          </a:p>
        </p:txBody>
      </p:sp>
      <p:pic>
        <p:nvPicPr>
          <p:cNvPr id="6" name="Back button" descr="preencoded.png">
            <a:hlinkClick r:id="rId3" tooltip="Back to OUT gate" action="ppaction://hlinksldjump"/>
          </p:cNvPr>
          <p:cNvPicPr>
            <a:picLocks noChangeAspect="1"/>
          </p:cNvPicPr>
          <p:nvPr/>
        </p:nvPicPr>
        <p:blipFill>
          <a:blip r:embed="rId2"/>
          <a:stretch>
            <a:fillRect/>
          </a:stretch>
        </p:blipFill>
        <p:spPr>
          <a:xfrm>
            <a:off x="4206240" y="5715000"/>
            <a:ext cx="420624" cy="420624"/>
          </a:xfrm>
          <a:prstGeom prst="rect">
            <a:avLst/>
          </a:prstGeom>
        </p:spPr>
      </p:pic>
      <p:sp>
        <p:nvSpPr>
          <p:cNvPr id="7" name="Back link"/>
          <p:cNvSpPr txBox="1"/>
          <p:nvPr/>
        </p:nvSpPr>
        <p:spPr>
          <a:xfrm>
            <a:off x="4736592" y="5715000"/>
            <a:ext cx="576072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789920" y="5715000"/>
            <a:ext cx="384048" cy="384048"/>
          </a:xfrm>
          <a:prstGeom prst="rect">
            <a:avLst/>
          </a:prstGeom>
        </p:spPr>
      </p:pic>
      <p:pic>
        <p:nvPicPr>
          <p:cNvPr id="9" name="Next step" descr="preencoded.png">    </p:cNvPr>
          <p:cNvPicPr>
            <a:picLocks noChangeAspect="1"/>
          </p:cNvPicPr>
          <p:nvPr/>
        </p:nvPicPr>
        <p:blipFill>
          <a:blip r:embed="rId7"/>
          <a:stretch>
            <a:fillRect/>
          </a:stretch>
        </p:blipFill>
        <p:spPr>
          <a:xfrm>
            <a:off x="1129284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Label"/>
          <p:cNvSpPr txBox="1"/>
          <p:nvPr/>
        </p:nvSpPr>
        <p:spPr>
          <a:xfrm>
            <a:off x="4206240" y="457200"/>
            <a:ext cx="7498080" cy="274320"/>
          </a:xfrm>
          <a:prstGeom prst="rect">
            <a:avLst/>
          </a:prstGeom>
          <a:noFill/>
          <a:ln/>
        </p:spPr>
        <p:txBody>
          <a:bodyPr wrap="square" lIns="0" tIns="0" rIns="0" bIns="0" rtlCol="0" anchor="ctr"/>
          <a:lstStyle/>
          <a:p>
            <a:pPr indent="0" marL="0">
              <a:buNone/>
            </a:pPr>
            <a:r>
              <a:rPr lang="en-US" sz="1100" b="1" spc="100" kern="0" dirty="0">
                <a:solidFill>
                  <a:schemeClr val="accent3"/>
                </a:solidFill>
              </a:rPr>
              <a:t>AT THE CUSTOMER - RECEIVE DELIVERY · STEP 1 OF 6</a:t>
            </a:r>
            <a:endParaRPr lang="en-US" sz="1100" dirty="0"/>
          </a:p>
        </p:txBody>
      </p:sp>
      <p:sp>
        <p:nvSpPr>
          <p:cNvPr id="3" name="Title"/>
          <p:cNvSpPr txBox="1"/>
          <p:nvPr/>
        </p:nvSpPr>
        <p:spPr>
          <a:xfrm>
            <a:off x="4206240" y="777240"/>
            <a:ext cx="7498080" cy="685800"/>
          </a:xfrm>
          <a:prstGeom prst="rect">
            <a:avLst/>
          </a:prstGeom>
          <a:noFill/>
          <a:ln/>
        </p:spPr>
        <p:txBody>
          <a:bodyPr wrap="square" lIns="0" tIns="0" rIns="0" bIns="0" rtlCol="0" anchor="ctr"/>
          <a:lstStyle/>
          <a:p>
            <a:pPr indent="0" marL="0">
              <a:buNone/>
            </a:pPr>
            <a:r>
              <a:rPr lang="en-US" sz="3200" b="1" dirty="0">
                <a:solidFill>
                  <a:schemeClr val="tx2"/>
                </a:solidFill>
              </a:rPr>
              <a:t>Pair the customer HHT</a:t>
            </a:r>
            <a:endParaRPr lang="en-US" sz="3200" dirty="0"/>
          </a:p>
        </p:txBody>
      </p:sp>
      <p:pic>
        <p:nvPicPr>
          <p:cNvPr id="4" name="Picture" descr="/tmp/claude-0/-home-claude/604fe074-c4a3-59f5-a7f0-a4d942adf429/scratchpad/deck/img/c02_pair_scanned.jpg">    </p:cNvPr>
          <p:cNvPicPr>
            <a:picLocks noChangeAspect="1"/>
          </p:cNvPicPr>
          <p:nvPr/>
        </p:nvPicPr>
        <p:blipFill>
          <a:blip r:embed="rId1"/>
          <a:stretch>
            <a:fillRect/>
          </a:stretch>
        </p:blipFill>
        <p:spPr>
          <a:xfrm>
            <a:off x="669206" y="365760"/>
            <a:ext cx="2867827" cy="598932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4206240" y="1691640"/>
            <a:ext cx="7498080" cy="35661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On the login screen: Customer device › scan the pairing QR made on the AssetTrack web for this customer.</a:t>
            </a:r>
            <a:endParaRPr lang="en-US" sz="1700" dirty="0"/>
          </a:p>
          <a:p>
            <a:pPr marL="342900" indent="-342900">
              <a:spcAft>
                <a:spcPts val="1000"/>
              </a:spcAft>
              <a:buSzPct val="100000"/>
              <a:buChar char="•"/>
            </a:pPr>
            <a:r>
              <a:rPr lang="en-US" sz="1700" dirty="0">
                <a:solidFill>
                  <a:schemeClr val="tx1"/>
                </a:solidFill>
              </a:rPr>
              <a:t>The HHT gets its own device key; AIS can remove it any time.</a:t>
            </a:r>
            <a:endParaRPr lang="en-US" sz="1700" dirty="0"/>
          </a:p>
          <a:p>
            <a:pPr marL="342900" indent="-342900">
              <a:spcAft>
                <a:spcPts val="1000"/>
              </a:spcAft>
              <a:buSzPct val="100000"/>
              <a:buChar char="•"/>
            </a:pPr>
            <a:r>
              <a:rPr lang="en-US" sz="1700" dirty="0">
                <a:solidFill>
                  <a:schemeClr val="tx1"/>
                </a:solidFill>
              </a:rPr>
              <a:t>No server address is shown - only "set".</a:t>
            </a:r>
            <a:endParaRPr lang="en-US" sz="1700" dirty="0"/>
          </a:p>
        </p:txBody>
      </p:sp>
      <p:pic>
        <p:nvPicPr>
          <p:cNvPr id="6" name="Back button" descr="preencoded.png">
            <a:hlinkClick r:id="rId3" tooltip="Back to At the customer - receive delivery" action="ppaction://hlinksldjump"/>
          </p:cNvPr>
          <p:cNvPicPr>
            <a:picLocks noChangeAspect="1"/>
          </p:cNvPicPr>
          <p:nvPr/>
        </p:nvPicPr>
        <p:blipFill>
          <a:blip r:embed="rId2"/>
          <a:stretch>
            <a:fillRect/>
          </a:stretch>
        </p:blipFill>
        <p:spPr>
          <a:xfrm>
            <a:off x="4206240" y="5715000"/>
            <a:ext cx="420624" cy="420624"/>
          </a:xfrm>
          <a:prstGeom prst="rect">
            <a:avLst/>
          </a:prstGeom>
        </p:spPr>
      </p:pic>
      <p:sp>
        <p:nvSpPr>
          <p:cNvPr id="7" name="Back link"/>
          <p:cNvSpPr txBox="1"/>
          <p:nvPr/>
        </p:nvSpPr>
        <p:spPr>
          <a:xfrm>
            <a:off x="4736592" y="5715000"/>
            <a:ext cx="576072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p:cNvPr>
          <p:cNvPicPr>
            <a:picLocks noChangeAspect="1"/>
          </p:cNvPicPr>
          <p:nvPr/>
        </p:nvPicPr>
        <p:blipFill>
          <a:blip r:embed="rId5"/>
          <a:stretch>
            <a:fillRect/>
          </a:stretch>
        </p:blipFill>
        <p:spPr>
          <a:xfrm>
            <a:off x="10789920" y="5715000"/>
            <a:ext cx="384048" cy="384048"/>
          </a:xfrm>
          <a:prstGeom prst="rect">
            <a:avLst/>
          </a:prstGeom>
        </p:spPr>
      </p:pic>
      <p:pic>
        <p:nvPicPr>
          <p:cNvPr id="9" name="Next step" descr="preencoded.png">
            <a:hlinkClick r:id="rId7" tooltip="Next step" action="ppaction://hlinksldjump"/>
          </p:cNvPr>
          <p:cNvPicPr>
            <a:picLocks noChangeAspect="1"/>
          </p:cNvPicPr>
          <p:nvPr/>
        </p:nvPicPr>
        <p:blipFill>
          <a:blip r:embed="rId6"/>
          <a:stretch>
            <a:fillRect/>
          </a:stretch>
        </p:blipFill>
        <p:spPr>
          <a:xfrm>
            <a:off x="1129284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Label"/>
          <p:cNvSpPr txBox="1"/>
          <p:nvPr/>
        </p:nvSpPr>
        <p:spPr>
          <a:xfrm>
            <a:off x="4206240" y="457200"/>
            <a:ext cx="7498080" cy="274320"/>
          </a:xfrm>
          <a:prstGeom prst="rect">
            <a:avLst/>
          </a:prstGeom>
          <a:noFill/>
          <a:ln/>
        </p:spPr>
        <p:txBody>
          <a:bodyPr wrap="square" lIns="0" tIns="0" rIns="0" bIns="0" rtlCol="0" anchor="ctr"/>
          <a:lstStyle/>
          <a:p>
            <a:pPr indent="0" marL="0">
              <a:buNone/>
            </a:pPr>
            <a:r>
              <a:rPr lang="en-US" sz="1100" b="1" spc="100" kern="0" dirty="0">
                <a:solidFill>
                  <a:schemeClr val="accent3"/>
                </a:solidFill>
              </a:rPr>
              <a:t>AT THE CUSTOMER - RECEIVE DELIVERY · STEP 2 OF 6</a:t>
            </a:r>
            <a:endParaRPr lang="en-US" sz="1100" dirty="0"/>
          </a:p>
        </p:txBody>
      </p:sp>
      <p:sp>
        <p:nvSpPr>
          <p:cNvPr id="3" name="Title"/>
          <p:cNvSpPr txBox="1"/>
          <p:nvPr/>
        </p:nvSpPr>
        <p:spPr>
          <a:xfrm>
            <a:off x="4206240" y="777240"/>
            <a:ext cx="7498080" cy="685800"/>
          </a:xfrm>
          <a:prstGeom prst="rect">
            <a:avLst/>
          </a:prstGeom>
          <a:noFill/>
          <a:ln/>
        </p:spPr>
        <p:txBody>
          <a:bodyPr wrap="square" lIns="0" tIns="0" rIns="0" bIns="0" rtlCol="0" anchor="ctr"/>
          <a:lstStyle/>
          <a:p>
            <a:pPr indent="0" marL="0">
              <a:buNone/>
            </a:pPr>
            <a:r>
              <a:rPr lang="en-US" sz="3200" b="1" dirty="0">
                <a:solidFill>
                  <a:schemeClr val="tx2"/>
                </a:solidFill>
              </a:rPr>
              <a:t>Customer staff sign-in</a:t>
            </a:r>
            <a:endParaRPr lang="en-US" sz="3200" dirty="0"/>
          </a:p>
        </p:txBody>
      </p:sp>
      <p:pic>
        <p:nvPicPr>
          <p:cNvPr id="4" name="Picture" descr="/tmp/claude-0/-home-claude/604fe074-c4a3-59f5-a7f0-a4d942adf429/scratchpad/deck/img/c03_staff_login.jpg">    </p:cNvPr>
          <p:cNvPicPr>
            <a:picLocks noChangeAspect="1"/>
          </p:cNvPicPr>
          <p:nvPr/>
        </p:nvPicPr>
        <p:blipFill>
          <a:blip r:embed="rId1"/>
          <a:stretch>
            <a:fillRect/>
          </a:stretch>
        </p:blipFill>
        <p:spPr>
          <a:xfrm>
            <a:off x="669206" y="365760"/>
            <a:ext cx="2867827" cy="598932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4206240" y="1691640"/>
            <a:ext cx="7498080" cy="35661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Customer staff sign in with the user given by AIS (role Customer Staff, linked to the customer).</a:t>
            </a:r>
            <a:endParaRPr lang="en-US" sz="1700" dirty="0"/>
          </a:p>
          <a:p>
            <a:pPr marL="342900" indent="-342900">
              <a:spcAft>
                <a:spcPts val="1000"/>
              </a:spcAft>
              <a:buSzPct val="100000"/>
              <a:buChar char="•"/>
            </a:pPr>
            <a:r>
              <a:rPr lang="en-US" sz="1700" dirty="0">
                <a:solidFill>
                  <a:schemeClr val="tx1"/>
                </a:solidFill>
              </a:rPr>
              <a:t>Sign-in also works without network after the first time.</a:t>
            </a:r>
            <a:endParaRPr lang="en-US" sz="1700" dirty="0"/>
          </a:p>
        </p:txBody>
      </p:sp>
      <p:pic>
        <p:nvPicPr>
          <p:cNvPr id="6" name="Back button" descr="preencoded.png">
            <a:hlinkClick r:id="rId3" tooltip="Back to At the customer - receive delivery" action="ppaction://hlinksldjump"/>
          </p:cNvPr>
          <p:cNvPicPr>
            <a:picLocks noChangeAspect="1"/>
          </p:cNvPicPr>
          <p:nvPr/>
        </p:nvPicPr>
        <p:blipFill>
          <a:blip r:embed="rId2"/>
          <a:stretch>
            <a:fillRect/>
          </a:stretch>
        </p:blipFill>
        <p:spPr>
          <a:xfrm>
            <a:off x="4206240" y="5715000"/>
            <a:ext cx="420624" cy="420624"/>
          </a:xfrm>
          <a:prstGeom prst="rect">
            <a:avLst/>
          </a:prstGeom>
        </p:spPr>
      </p:pic>
      <p:sp>
        <p:nvSpPr>
          <p:cNvPr id="7" name="Back link"/>
          <p:cNvSpPr txBox="1"/>
          <p:nvPr/>
        </p:nvSpPr>
        <p:spPr>
          <a:xfrm>
            <a:off x="4736592" y="5715000"/>
            <a:ext cx="576072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789920" y="5715000"/>
            <a:ext cx="384048" cy="384048"/>
          </a:xfrm>
          <a:prstGeom prst="rect">
            <a:avLst/>
          </a:prstGeom>
        </p:spPr>
      </p:pic>
      <p:pic>
        <p:nvPicPr>
          <p:cNvPr id="9" name="Next step" descr="preencoded.png">
            <a:hlinkClick r:id="rId8" tooltip="Next step" action="ppaction://hlinksldjump"/>
          </p:cNvPr>
          <p:cNvPicPr>
            <a:picLocks noChangeAspect="1"/>
          </p:cNvPicPr>
          <p:nvPr/>
        </p:nvPicPr>
        <p:blipFill>
          <a:blip r:embed="rId7"/>
          <a:stretch>
            <a:fillRect/>
          </a:stretch>
        </p:blipFill>
        <p:spPr>
          <a:xfrm>
            <a:off x="1129284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Label"/>
          <p:cNvSpPr txBox="1"/>
          <p:nvPr/>
        </p:nvSpPr>
        <p:spPr>
          <a:xfrm>
            <a:off x="4206240" y="457200"/>
            <a:ext cx="7498080" cy="274320"/>
          </a:xfrm>
          <a:prstGeom prst="rect">
            <a:avLst/>
          </a:prstGeom>
          <a:noFill/>
          <a:ln/>
        </p:spPr>
        <p:txBody>
          <a:bodyPr wrap="square" lIns="0" tIns="0" rIns="0" bIns="0" rtlCol="0" anchor="ctr"/>
          <a:lstStyle/>
          <a:p>
            <a:pPr indent="0" marL="0">
              <a:buNone/>
            </a:pPr>
            <a:r>
              <a:rPr lang="en-US" sz="1100" b="1" spc="100" kern="0" dirty="0">
                <a:solidFill>
                  <a:schemeClr val="accent3"/>
                </a:solidFill>
              </a:rPr>
              <a:t>AT THE CUSTOMER - RECEIVE DELIVERY · STEP 3 OF 6</a:t>
            </a:r>
            <a:endParaRPr lang="en-US" sz="1100" dirty="0"/>
          </a:p>
        </p:txBody>
      </p:sp>
      <p:sp>
        <p:nvSpPr>
          <p:cNvPr id="3" name="Title"/>
          <p:cNvSpPr txBox="1"/>
          <p:nvPr/>
        </p:nvSpPr>
        <p:spPr>
          <a:xfrm>
            <a:off x="4206240" y="777240"/>
            <a:ext cx="7498080" cy="685800"/>
          </a:xfrm>
          <a:prstGeom prst="rect">
            <a:avLst/>
          </a:prstGeom>
          <a:noFill/>
          <a:ln/>
        </p:spPr>
        <p:txBody>
          <a:bodyPr wrap="square" lIns="0" tIns="0" rIns="0" bIns="0" rtlCol="0" anchor="ctr"/>
          <a:lstStyle/>
          <a:p>
            <a:pPr indent="0" marL="0">
              <a:buNone/>
            </a:pPr>
            <a:r>
              <a:rPr lang="en-US" sz="3200" b="1" dirty="0">
                <a:solidFill>
                  <a:schemeClr val="tx2"/>
                </a:solidFill>
              </a:rPr>
              <a:t>Customer home</a:t>
            </a:r>
            <a:endParaRPr lang="en-US" sz="3200" dirty="0"/>
          </a:p>
        </p:txBody>
      </p:sp>
      <p:pic>
        <p:nvPicPr>
          <p:cNvPr id="4" name="Picture" descr="/tmp/claude-0/-home-claude/604fe074-c4a3-59f5-a7f0-a4d942adf429/scratchpad/deck/img/c04_cust_home.jpg">    </p:cNvPr>
          <p:cNvPicPr>
            <a:picLocks noChangeAspect="1"/>
          </p:cNvPicPr>
          <p:nvPr/>
        </p:nvPicPr>
        <p:blipFill>
          <a:blip r:embed="rId1"/>
          <a:stretch>
            <a:fillRect/>
          </a:stretch>
        </p:blipFill>
        <p:spPr>
          <a:xfrm>
            <a:off x="669206" y="365760"/>
            <a:ext cx="2867827" cy="598932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4206240" y="1691640"/>
            <a:ext cx="7498080" cy="35661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Shows AIS pallets at this customer and how many are over the holding limit.</a:t>
            </a:r>
            <a:endParaRPr lang="en-US" sz="1700" dirty="0"/>
          </a:p>
          <a:p>
            <a:pPr marL="342900" indent="-342900">
              <a:spcAft>
                <a:spcPts val="1000"/>
              </a:spcAft>
              <a:buSzPct val="100000"/>
              <a:buChar char="•"/>
            </a:pPr>
            <a:r>
              <a:rPr lang="en-US" sz="1700" dirty="0">
                <a:solidFill>
                  <a:schemeClr val="tx1"/>
                </a:solidFill>
              </a:rPr>
              <a:t>Tasks: Receive delivery, Return empty pallets, Pallets with us, Our return slips.</a:t>
            </a:r>
            <a:endParaRPr lang="en-US" sz="1700" dirty="0"/>
          </a:p>
        </p:txBody>
      </p:sp>
      <p:pic>
        <p:nvPicPr>
          <p:cNvPr id="6" name="Back button" descr="preencoded.png">
            <a:hlinkClick r:id="rId3" tooltip="Back to At the customer - receive delivery" action="ppaction://hlinksldjump"/>
          </p:cNvPr>
          <p:cNvPicPr>
            <a:picLocks noChangeAspect="1"/>
          </p:cNvPicPr>
          <p:nvPr/>
        </p:nvPicPr>
        <p:blipFill>
          <a:blip r:embed="rId2"/>
          <a:stretch>
            <a:fillRect/>
          </a:stretch>
        </p:blipFill>
        <p:spPr>
          <a:xfrm>
            <a:off x="4206240" y="5715000"/>
            <a:ext cx="420624" cy="420624"/>
          </a:xfrm>
          <a:prstGeom prst="rect">
            <a:avLst/>
          </a:prstGeom>
        </p:spPr>
      </p:pic>
      <p:sp>
        <p:nvSpPr>
          <p:cNvPr id="7" name="Back link"/>
          <p:cNvSpPr txBox="1"/>
          <p:nvPr/>
        </p:nvSpPr>
        <p:spPr>
          <a:xfrm>
            <a:off x="4736592" y="5715000"/>
            <a:ext cx="576072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789920" y="5715000"/>
            <a:ext cx="384048" cy="384048"/>
          </a:xfrm>
          <a:prstGeom prst="rect">
            <a:avLst/>
          </a:prstGeom>
        </p:spPr>
      </p:pic>
      <p:pic>
        <p:nvPicPr>
          <p:cNvPr id="9" name="Next step" descr="preencoded.png">
            <a:hlinkClick r:id="rId8" tooltip="Next step" action="ppaction://hlinksldjump"/>
          </p:cNvPr>
          <p:cNvPicPr>
            <a:picLocks noChangeAspect="1"/>
          </p:cNvPicPr>
          <p:nvPr/>
        </p:nvPicPr>
        <p:blipFill>
          <a:blip r:embed="rId7"/>
          <a:stretch>
            <a:fillRect/>
          </a:stretch>
        </p:blipFill>
        <p:spPr>
          <a:xfrm>
            <a:off x="1129284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Label"/>
          <p:cNvSpPr txBox="1"/>
          <p:nvPr/>
        </p:nvSpPr>
        <p:spPr>
          <a:xfrm>
            <a:off x="4206240" y="457200"/>
            <a:ext cx="7498080" cy="274320"/>
          </a:xfrm>
          <a:prstGeom prst="rect">
            <a:avLst/>
          </a:prstGeom>
          <a:noFill/>
          <a:ln/>
        </p:spPr>
        <p:txBody>
          <a:bodyPr wrap="square" lIns="0" tIns="0" rIns="0" bIns="0" rtlCol="0" anchor="ctr"/>
          <a:lstStyle/>
          <a:p>
            <a:pPr indent="0" marL="0">
              <a:buNone/>
            </a:pPr>
            <a:r>
              <a:rPr lang="en-US" sz="1100" b="1" spc="100" kern="0" dirty="0">
                <a:solidFill>
                  <a:schemeClr val="accent3"/>
                </a:solidFill>
              </a:rPr>
              <a:t>AT THE CUSTOMER - RECEIVE DELIVERY · STEP 4 OF 6</a:t>
            </a:r>
            <a:endParaRPr lang="en-US" sz="1100" dirty="0"/>
          </a:p>
        </p:txBody>
      </p:sp>
      <p:sp>
        <p:nvSpPr>
          <p:cNvPr id="3" name="Title"/>
          <p:cNvSpPr txBox="1"/>
          <p:nvPr/>
        </p:nvSpPr>
        <p:spPr>
          <a:xfrm>
            <a:off x="4206240" y="777240"/>
            <a:ext cx="7498080" cy="685800"/>
          </a:xfrm>
          <a:prstGeom prst="rect">
            <a:avLst/>
          </a:prstGeom>
          <a:noFill/>
          <a:ln/>
        </p:spPr>
        <p:txBody>
          <a:bodyPr wrap="square" lIns="0" tIns="0" rIns="0" bIns="0" rtlCol="0" anchor="ctr"/>
          <a:lstStyle/>
          <a:p>
            <a:pPr indent="0" marL="0">
              <a:buNone/>
            </a:pPr>
            <a:r>
              <a:rPr lang="en-US" sz="3200" b="1" dirty="0">
                <a:solidFill>
                  <a:schemeClr val="tx2"/>
                </a:solidFill>
              </a:rPr>
              <a:t>Unload: pallets to scan</a:t>
            </a:r>
            <a:endParaRPr lang="en-US" sz="3200" dirty="0"/>
          </a:p>
        </p:txBody>
      </p:sp>
      <p:pic>
        <p:nvPicPr>
          <p:cNvPr id="4" name="Picture" descr="/tmp/claude-0/-home-claude/604fe074-c4a3-59f5-a7f0-a4d942adf429/scratchpad/deck/img/c06_unload_open.jpg">    </p:cNvPr>
          <p:cNvPicPr>
            <a:picLocks noChangeAspect="1"/>
          </p:cNvPicPr>
          <p:nvPr/>
        </p:nvPicPr>
        <p:blipFill>
          <a:blip r:embed="rId1"/>
          <a:stretch>
            <a:fillRect/>
          </a:stretch>
        </p:blipFill>
        <p:spPr>
          <a:xfrm>
            <a:off x="669206" y="365760"/>
            <a:ext cx="2867827" cy="598932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4206240" y="1691640"/>
            <a:ext cx="7498080" cy="35661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Pick the vehicle (or scan the gate pass QR). The pallets on the delivery are listed.</a:t>
            </a:r>
            <a:endParaRPr lang="en-US" sz="1700" dirty="0"/>
          </a:p>
          <a:p>
            <a:pPr marL="342900" indent="-342900">
              <a:spcAft>
                <a:spcPts val="1000"/>
              </a:spcAft>
              <a:buSzPct val="100000"/>
              <a:buChar char="•"/>
            </a:pPr>
            <a:r>
              <a:rPr lang="en-US" sz="1700" dirty="0">
                <a:solidFill>
                  <a:schemeClr val="tx1"/>
                </a:solidFill>
              </a:rPr>
              <a:t>Rings: received · still to scan · extra.</a:t>
            </a:r>
            <a:endParaRPr lang="en-US" sz="1700" dirty="0"/>
          </a:p>
        </p:txBody>
      </p:sp>
      <p:pic>
        <p:nvPicPr>
          <p:cNvPr id="6" name="Back button" descr="preencoded.png">
            <a:hlinkClick r:id="rId3" tooltip="Back to At the customer - receive delivery" action="ppaction://hlinksldjump"/>
          </p:cNvPr>
          <p:cNvPicPr>
            <a:picLocks noChangeAspect="1"/>
          </p:cNvPicPr>
          <p:nvPr/>
        </p:nvPicPr>
        <p:blipFill>
          <a:blip r:embed="rId2"/>
          <a:stretch>
            <a:fillRect/>
          </a:stretch>
        </p:blipFill>
        <p:spPr>
          <a:xfrm>
            <a:off x="4206240" y="5715000"/>
            <a:ext cx="420624" cy="420624"/>
          </a:xfrm>
          <a:prstGeom prst="rect">
            <a:avLst/>
          </a:prstGeom>
        </p:spPr>
      </p:pic>
      <p:sp>
        <p:nvSpPr>
          <p:cNvPr id="7" name="Back link"/>
          <p:cNvSpPr txBox="1"/>
          <p:nvPr/>
        </p:nvSpPr>
        <p:spPr>
          <a:xfrm>
            <a:off x="4736592" y="5715000"/>
            <a:ext cx="576072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789920" y="5715000"/>
            <a:ext cx="384048" cy="384048"/>
          </a:xfrm>
          <a:prstGeom prst="rect">
            <a:avLst/>
          </a:prstGeom>
        </p:spPr>
      </p:pic>
      <p:pic>
        <p:nvPicPr>
          <p:cNvPr id="9" name="Next step" descr="preencoded.png">
            <a:hlinkClick r:id="rId8" tooltip="Next step" action="ppaction://hlinksldjump"/>
          </p:cNvPr>
          <p:cNvPicPr>
            <a:picLocks noChangeAspect="1"/>
          </p:cNvPicPr>
          <p:nvPr/>
        </p:nvPicPr>
        <p:blipFill>
          <a:blip r:embed="rId7"/>
          <a:stretch>
            <a:fillRect/>
          </a:stretch>
        </p:blipFill>
        <p:spPr>
          <a:xfrm>
            <a:off x="1129284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Label"/>
          <p:cNvSpPr txBox="1"/>
          <p:nvPr/>
        </p:nvSpPr>
        <p:spPr>
          <a:xfrm>
            <a:off x="4206240" y="457200"/>
            <a:ext cx="7498080" cy="274320"/>
          </a:xfrm>
          <a:prstGeom prst="rect">
            <a:avLst/>
          </a:prstGeom>
          <a:noFill/>
          <a:ln/>
        </p:spPr>
        <p:txBody>
          <a:bodyPr wrap="square" lIns="0" tIns="0" rIns="0" bIns="0" rtlCol="0" anchor="ctr"/>
          <a:lstStyle/>
          <a:p>
            <a:pPr indent="0" marL="0">
              <a:buNone/>
            </a:pPr>
            <a:r>
              <a:rPr lang="en-US" sz="1100" b="1" spc="100" kern="0" dirty="0">
                <a:solidFill>
                  <a:schemeClr val="accent3"/>
                </a:solidFill>
              </a:rPr>
              <a:t>AT THE CUSTOMER - RECEIVE DELIVERY · STEP 5 OF 6</a:t>
            </a:r>
            <a:endParaRPr lang="en-US" sz="1100" dirty="0"/>
          </a:p>
        </p:txBody>
      </p:sp>
      <p:sp>
        <p:nvSpPr>
          <p:cNvPr id="3" name="Title"/>
          <p:cNvSpPr txBox="1"/>
          <p:nvPr/>
        </p:nvSpPr>
        <p:spPr>
          <a:xfrm>
            <a:off x="4206240" y="777240"/>
            <a:ext cx="7498080" cy="685800"/>
          </a:xfrm>
          <a:prstGeom prst="rect">
            <a:avLst/>
          </a:prstGeom>
          <a:noFill/>
          <a:ln/>
        </p:spPr>
        <p:txBody>
          <a:bodyPr wrap="square" lIns="0" tIns="0" rIns="0" bIns="0" rtlCol="0" anchor="ctr"/>
          <a:lstStyle/>
          <a:p>
            <a:pPr indent="0" marL="0">
              <a:buNone/>
            </a:pPr>
            <a:r>
              <a:rPr lang="en-US" sz="3200" b="1" dirty="0">
                <a:solidFill>
                  <a:schemeClr val="tx2"/>
                </a:solidFill>
              </a:rPr>
              <a:t>Scan while unloading</a:t>
            </a:r>
            <a:endParaRPr lang="en-US" sz="3200" dirty="0"/>
          </a:p>
        </p:txBody>
      </p:sp>
      <p:pic>
        <p:nvPicPr>
          <p:cNvPr id="4" name="Picture" descr="/tmp/claude-0/-home-claude/604fe074-c4a3-59f5-a7f0-a4d942adf429/scratchpad/deck/img/c07_unload_3of4.jpg">    </p:cNvPr>
          <p:cNvPicPr>
            <a:picLocks noChangeAspect="1"/>
          </p:cNvPicPr>
          <p:nvPr/>
        </p:nvPicPr>
        <p:blipFill>
          <a:blip r:embed="rId1"/>
          <a:stretch>
            <a:fillRect/>
          </a:stretch>
        </p:blipFill>
        <p:spPr>
          <a:xfrm>
            <a:off x="669206" y="365760"/>
            <a:ext cx="2867827" cy="598932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4206240" y="1691640"/>
            <a:ext cx="7498080" cy="35661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Each scanned pallet is ticked "received". A pallet not on this delivery is counted as extra.</a:t>
            </a:r>
            <a:endParaRPr lang="en-US" sz="1700" dirty="0"/>
          </a:p>
        </p:txBody>
      </p:sp>
      <p:pic>
        <p:nvPicPr>
          <p:cNvPr id="6" name="Back button" descr="preencoded.png">
            <a:hlinkClick r:id="rId3" tooltip="Back to At the customer - receive delivery" action="ppaction://hlinksldjump"/>
          </p:cNvPr>
          <p:cNvPicPr>
            <a:picLocks noChangeAspect="1"/>
          </p:cNvPicPr>
          <p:nvPr/>
        </p:nvPicPr>
        <p:blipFill>
          <a:blip r:embed="rId2"/>
          <a:stretch>
            <a:fillRect/>
          </a:stretch>
        </p:blipFill>
        <p:spPr>
          <a:xfrm>
            <a:off x="4206240" y="5715000"/>
            <a:ext cx="420624" cy="420624"/>
          </a:xfrm>
          <a:prstGeom prst="rect">
            <a:avLst/>
          </a:prstGeom>
        </p:spPr>
      </p:pic>
      <p:sp>
        <p:nvSpPr>
          <p:cNvPr id="7" name="Back link"/>
          <p:cNvSpPr txBox="1"/>
          <p:nvPr/>
        </p:nvSpPr>
        <p:spPr>
          <a:xfrm>
            <a:off x="4736592" y="5715000"/>
            <a:ext cx="576072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789920" y="5715000"/>
            <a:ext cx="384048" cy="384048"/>
          </a:xfrm>
          <a:prstGeom prst="rect">
            <a:avLst/>
          </a:prstGeom>
        </p:spPr>
      </p:pic>
      <p:pic>
        <p:nvPicPr>
          <p:cNvPr id="9" name="Next step" descr="preencoded.png">
            <a:hlinkClick r:id="rId8" tooltip="Next step" action="ppaction://hlinksldjump"/>
          </p:cNvPr>
          <p:cNvPicPr>
            <a:picLocks noChangeAspect="1"/>
          </p:cNvPicPr>
          <p:nvPr/>
        </p:nvPicPr>
        <p:blipFill>
          <a:blip r:embed="rId7"/>
          <a:stretch>
            <a:fillRect/>
          </a:stretch>
        </p:blipFill>
        <p:spPr>
          <a:xfrm>
            <a:off x="1129284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Label"/>
          <p:cNvSpPr txBox="1"/>
          <p:nvPr/>
        </p:nvSpPr>
        <p:spPr>
          <a:xfrm>
            <a:off x="4206240" y="457200"/>
            <a:ext cx="7498080" cy="274320"/>
          </a:xfrm>
          <a:prstGeom prst="rect">
            <a:avLst/>
          </a:prstGeom>
          <a:noFill/>
          <a:ln/>
        </p:spPr>
        <p:txBody>
          <a:bodyPr wrap="square" lIns="0" tIns="0" rIns="0" bIns="0" rtlCol="0" anchor="ctr"/>
          <a:lstStyle/>
          <a:p>
            <a:pPr indent="0" marL="0">
              <a:buNone/>
            </a:pPr>
            <a:r>
              <a:rPr lang="en-US" sz="1100" b="1" spc="100" kern="0" dirty="0">
                <a:solidFill>
                  <a:schemeClr val="accent3"/>
                </a:solidFill>
              </a:rPr>
              <a:t>AT THE CUSTOMER - RECEIVE DELIVERY · STEP 6 OF 6</a:t>
            </a:r>
            <a:endParaRPr lang="en-US" sz="1100" dirty="0"/>
          </a:p>
        </p:txBody>
      </p:sp>
      <p:sp>
        <p:nvSpPr>
          <p:cNvPr id="3" name="Title"/>
          <p:cNvSpPr txBox="1"/>
          <p:nvPr/>
        </p:nvSpPr>
        <p:spPr>
          <a:xfrm>
            <a:off x="4206240" y="777240"/>
            <a:ext cx="7498080" cy="685800"/>
          </a:xfrm>
          <a:prstGeom prst="rect">
            <a:avLst/>
          </a:prstGeom>
          <a:noFill/>
          <a:ln/>
        </p:spPr>
        <p:txBody>
          <a:bodyPr wrap="square" lIns="0" tIns="0" rIns="0" bIns="0" rtlCol="0" anchor="ctr"/>
          <a:lstStyle/>
          <a:p>
            <a:pPr indent="0" marL="0">
              <a:buNone/>
            </a:pPr>
            <a:r>
              <a:rPr lang="en-US" sz="3200" b="1" dirty="0">
                <a:solidFill>
                  <a:schemeClr val="tx2"/>
                </a:solidFill>
              </a:rPr>
              <a:t>Delivery received</a:t>
            </a:r>
            <a:endParaRPr lang="en-US" sz="3200" dirty="0"/>
          </a:p>
        </p:txBody>
      </p:sp>
      <p:pic>
        <p:nvPicPr>
          <p:cNvPr id="4" name="Picture" descr="/tmp/claude-0/-home-claude/604fe074-c4a3-59f5-a7f0-a4d942adf429/scratchpad/deck/img/c08_unload_done.jpg">    </p:cNvPr>
          <p:cNvPicPr>
            <a:picLocks noChangeAspect="1"/>
          </p:cNvPicPr>
          <p:nvPr/>
        </p:nvPicPr>
        <p:blipFill>
          <a:blip r:embed="rId1"/>
          <a:stretch>
            <a:fillRect/>
          </a:stretch>
        </p:blipFill>
        <p:spPr>
          <a:xfrm>
            <a:off x="669206" y="365760"/>
            <a:ext cx="2867827" cy="598932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4206240" y="1691640"/>
            <a:ext cx="7498080" cy="35661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Finish unloading sends the result: 4/4 received.</a:t>
            </a:r>
            <a:endParaRPr lang="en-US" sz="1700" dirty="0"/>
          </a:p>
          <a:p>
            <a:pPr marL="342900" indent="-342900">
              <a:spcAft>
                <a:spcPts val="1000"/>
              </a:spcAft>
              <a:buSzPct val="100000"/>
              <a:buChar char="•"/>
            </a:pPr>
            <a:r>
              <a:rPr lang="en-US" sz="1700" dirty="0">
                <a:solidFill>
                  <a:schemeClr val="tx1"/>
                </a:solidFill>
              </a:rPr>
              <a:t>AIS sees received / missing / extra per delivery.</a:t>
            </a:r>
            <a:endParaRPr lang="en-US" sz="1700" dirty="0"/>
          </a:p>
        </p:txBody>
      </p:sp>
      <p:pic>
        <p:nvPicPr>
          <p:cNvPr id="6" name="Back button" descr="preencoded.png">
            <a:hlinkClick r:id="rId3" tooltip="Back to At the customer - receive delivery" action="ppaction://hlinksldjump"/>
          </p:cNvPr>
          <p:cNvPicPr>
            <a:picLocks noChangeAspect="1"/>
          </p:cNvPicPr>
          <p:nvPr/>
        </p:nvPicPr>
        <p:blipFill>
          <a:blip r:embed="rId2"/>
          <a:stretch>
            <a:fillRect/>
          </a:stretch>
        </p:blipFill>
        <p:spPr>
          <a:xfrm>
            <a:off x="4206240" y="5715000"/>
            <a:ext cx="420624" cy="420624"/>
          </a:xfrm>
          <a:prstGeom prst="rect">
            <a:avLst/>
          </a:prstGeom>
        </p:spPr>
      </p:pic>
      <p:sp>
        <p:nvSpPr>
          <p:cNvPr id="7" name="Back link"/>
          <p:cNvSpPr txBox="1"/>
          <p:nvPr/>
        </p:nvSpPr>
        <p:spPr>
          <a:xfrm>
            <a:off x="4736592" y="5715000"/>
            <a:ext cx="576072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789920" y="5715000"/>
            <a:ext cx="384048" cy="384048"/>
          </a:xfrm>
          <a:prstGeom prst="rect">
            <a:avLst/>
          </a:prstGeom>
        </p:spPr>
      </p:pic>
      <p:pic>
        <p:nvPicPr>
          <p:cNvPr id="9" name="Next step" descr="preencoded.png">    </p:cNvPr>
          <p:cNvPicPr>
            <a:picLocks noChangeAspect="1"/>
          </p:cNvPicPr>
          <p:nvPr/>
        </p:nvPicPr>
        <p:blipFill>
          <a:blip r:embed="rId7"/>
          <a:stretch>
            <a:fillRect/>
          </a:stretch>
        </p:blipFill>
        <p:spPr>
          <a:xfrm>
            <a:off x="1129284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Label"/>
          <p:cNvSpPr txBox="1"/>
          <p:nvPr/>
        </p:nvSpPr>
        <p:spPr>
          <a:xfrm>
            <a:off x="4206240" y="457200"/>
            <a:ext cx="7498080" cy="274320"/>
          </a:xfrm>
          <a:prstGeom prst="rect">
            <a:avLst/>
          </a:prstGeom>
          <a:noFill/>
          <a:ln/>
        </p:spPr>
        <p:txBody>
          <a:bodyPr wrap="square" lIns="0" tIns="0" rIns="0" bIns="0" rtlCol="0" anchor="ctr"/>
          <a:lstStyle/>
          <a:p>
            <a:pPr indent="0" marL="0">
              <a:buNone/>
            </a:pPr>
            <a:r>
              <a:rPr lang="en-US" sz="1100" b="1" spc="100" kern="0" dirty="0">
                <a:solidFill>
                  <a:schemeClr val="accent3"/>
                </a:solidFill>
              </a:rPr>
              <a:t>RETURN EMPTY PALLETS - OPTION A (CUSTOMER) · STEP 1 OF 5</a:t>
            </a:r>
            <a:endParaRPr lang="en-US" sz="1100" dirty="0"/>
          </a:p>
        </p:txBody>
      </p:sp>
      <p:sp>
        <p:nvSpPr>
          <p:cNvPr id="3" name="Title"/>
          <p:cNvSpPr txBox="1"/>
          <p:nvPr/>
        </p:nvSpPr>
        <p:spPr>
          <a:xfrm>
            <a:off x="4206240" y="777240"/>
            <a:ext cx="7498080" cy="685800"/>
          </a:xfrm>
          <a:prstGeom prst="rect">
            <a:avLst/>
          </a:prstGeom>
          <a:noFill/>
          <a:ln/>
        </p:spPr>
        <p:txBody>
          <a:bodyPr wrap="square" lIns="0" tIns="0" rIns="0" bIns="0" rtlCol="0" anchor="ctr"/>
          <a:lstStyle/>
          <a:p>
            <a:pPr indent="0" marL="0">
              <a:buNone/>
            </a:pPr>
            <a:r>
              <a:rPr lang="en-US" sz="3200" b="1" dirty="0">
                <a:solidFill>
                  <a:schemeClr val="tx2"/>
                </a:solidFill>
              </a:rPr>
              <a:t>Pallets with us</a:t>
            </a:r>
            <a:endParaRPr lang="en-US" sz="3200" dirty="0"/>
          </a:p>
        </p:txBody>
      </p:sp>
      <p:pic>
        <p:nvPicPr>
          <p:cNvPr id="4" name="Picture" descr="/tmp/claude-0/-home-claude/604fe074-c4a3-59f5-a7f0-a4d942adf429/scratchpad/deck/img/c09_pallets_with_us.jpg">    </p:cNvPr>
          <p:cNvPicPr>
            <a:picLocks noChangeAspect="1"/>
          </p:cNvPicPr>
          <p:nvPr/>
        </p:nvPicPr>
        <p:blipFill>
          <a:blip r:embed="rId1"/>
          <a:stretch>
            <a:fillRect/>
          </a:stretch>
        </p:blipFill>
        <p:spPr>
          <a:xfrm>
            <a:off x="669206" y="365760"/>
            <a:ext cx="2867827" cy="598932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4206240" y="1691640"/>
            <a:ext cx="7498080" cy="35661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Every AIS pallet at this customer with days held, pallet type, challan and date sent.</a:t>
            </a:r>
            <a:endParaRPr lang="en-US" sz="1700" dirty="0"/>
          </a:p>
        </p:txBody>
      </p:sp>
      <p:pic>
        <p:nvPicPr>
          <p:cNvPr id="6" name="Back button" descr="preencoded.png">
            <a:hlinkClick r:id="rId3" tooltip="Back to Return empty pallets - Option A (customer)" action="ppaction://hlinksldjump"/>
          </p:cNvPr>
          <p:cNvPicPr>
            <a:picLocks noChangeAspect="1"/>
          </p:cNvPicPr>
          <p:nvPr/>
        </p:nvPicPr>
        <p:blipFill>
          <a:blip r:embed="rId2"/>
          <a:stretch>
            <a:fillRect/>
          </a:stretch>
        </p:blipFill>
        <p:spPr>
          <a:xfrm>
            <a:off x="4206240" y="5715000"/>
            <a:ext cx="420624" cy="420624"/>
          </a:xfrm>
          <a:prstGeom prst="rect">
            <a:avLst/>
          </a:prstGeom>
        </p:spPr>
      </p:pic>
      <p:sp>
        <p:nvSpPr>
          <p:cNvPr id="7" name="Back link"/>
          <p:cNvSpPr txBox="1"/>
          <p:nvPr/>
        </p:nvSpPr>
        <p:spPr>
          <a:xfrm>
            <a:off x="4736592" y="5715000"/>
            <a:ext cx="576072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p:cNvPr>
          <p:cNvPicPr>
            <a:picLocks noChangeAspect="1"/>
          </p:cNvPicPr>
          <p:nvPr/>
        </p:nvPicPr>
        <p:blipFill>
          <a:blip r:embed="rId5"/>
          <a:stretch>
            <a:fillRect/>
          </a:stretch>
        </p:blipFill>
        <p:spPr>
          <a:xfrm>
            <a:off x="10789920" y="5715000"/>
            <a:ext cx="384048" cy="384048"/>
          </a:xfrm>
          <a:prstGeom prst="rect">
            <a:avLst/>
          </a:prstGeom>
        </p:spPr>
      </p:pic>
      <p:pic>
        <p:nvPicPr>
          <p:cNvPr id="9" name="Next step" descr="preencoded.png">
            <a:hlinkClick r:id="rId7" tooltip="Next step" action="ppaction://hlinksldjump"/>
          </p:cNvPr>
          <p:cNvPicPr>
            <a:picLocks noChangeAspect="1"/>
          </p:cNvPicPr>
          <p:nvPr/>
        </p:nvPicPr>
        <p:blipFill>
          <a:blip r:embed="rId6"/>
          <a:stretch>
            <a:fillRect/>
          </a:stretch>
        </p:blipFill>
        <p:spPr>
          <a:xfrm>
            <a:off x="1129284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Label"/>
          <p:cNvSpPr txBox="1"/>
          <p:nvPr/>
        </p:nvSpPr>
        <p:spPr>
          <a:xfrm>
            <a:off x="4206240" y="457200"/>
            <a:ext cx="7498080" cy="274320"/>
          </a:xfrm>
          <a:prstGeom prst="rect">
            <a:avLst/>
          </a:prstGeom>
          <a:noFill/>
          <a:ln/>
        </p:spPr>
        <p:txBody>
          <a:bodyPr wrap="square" lIns="0" tIns="0" rIns="0" bIns="0" rtlCol="0" anchor="ctr"/>
          <a:lstStyle/>
          <a:p>
            <a:pPr indent="0" marL="0">
              <a:buNone/>
            </a:pPr>
            <a:r>
              <a:rPr lang="en-US" sz="1100" b="1" spc="100" kern="0" dirty="0">
                <a:solidFill>
                  <a:schemeClr val="accent3"/>
                </a:solidFill>
              </a:rPr>
              <a:t>RETURN EMPTY PALLETS - OPTION A (CUSTOMER) · STEP 2 OF 5</a:t>
            </a:r>
            <a:endParaRPr lang="en-US" sz="1100" dirty="0"/>
          </a:p>
        </p:txBody>
      </p:sp>
      <p:sp>
        <p:nvSpPr>
          <p:cNvPr id="3" name="Title"/>
          <p:cNvSpPr txBox="1"/>
          <p:nvPr/>
        </p:nvSpPr>
        <p:spPr>
          <a:xfrm>
            <a:off x="4206240" y="777240"/>
            <a:ext cx="7498080" cy="685800"/>
          </a:xfrm>
          <a:prstGeom prst="rect">
            <a:avLst/>
          </a:prstGeom>
          <a:noFill/>
          <a:ln/>
        </p:spPr>
        <p:txBody>
          <a:bodyPr wrap="square" lIns="0" tIns="0" rIns="0" bIns="0" rtlCol="0" anchor="ctr"/>
          <a:lstStyle/>
          <a:p>
            <a:pPr indent="0" marL="0">
              <a:buNone/>
            </a:pPr>
            <a:r>
              <a:rPr lang="en-US" sz="3200" b="1" dirty="0">
                <a:solidFill>
                  <a:schemeClr val="tx2"/>
                </a:solidFill>
              </a:rPr>
              <a:t>Scan pallets + vehicle</a:t>
            </a:r>
            <a:endParaRPr lang="en-US" sz="3200" dirty="0"/>
          </a:p>
        </p:txBody>
      </p:sp>
      <p:pic>
        <p:nvPicPr>
          <p:cNvPr id="4" name="Picture" descr="/tmp/claude-0/-home-claude/604fe074-c4a3-59f5-a7f0-a4d942adf429/scratchpad/deck/img/c10_return_filled.jpg">    </p:cNvPr>
          <p:cNvPicPr>
            <a:picLocks noChangeAspect="1"/>
          </p:cNvPicPr>
          <p:nvPr/>
        </p:nvPicPr>
        <p:blipFill>
          <a:blip r:embed="rId1"/>
          <a:stretch>
            <a:fillRect/>
          </a:stretch>
        </p:blipFill>
        <p:spPr>
          <a:xfrm>
            <a:off x="669206" y="365760"/>
            <a:ext cx="2867827" cy="598932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4206240" y="1691640"/>
            <a:ext cx="7498080" cy="35661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Scan each empty pallet - each is checked against the ledger (OK / CHECK).</a:t>
            </a:r>
            <a:endParaRPr lang="en-US" sz="1700" dirty="0"/>
          </a:p>
          <a:p>
            <a:pPr marL="342900" indent="-342900">
              <a:spcAft>
                <a:spcPts val="1000"/>
              </a:spcAft>
              <a:buSzPct val="100000"/>
              <a:buChar char="•"/>
            </a:pPr>
            <a:r>
              <a:rPr lang="en-US" sz="1700" dirty="0">
                <a:solidFill>
                  <a:schemeClr val="tx1"/>
                </a:solidFill>
              </a:rPr>
              <a:t>Pick or type the vehicle; customer DC number, driver name and mobile are optional.</a:t>
            </a:r>
            <a:endParaRPr lang="en-US" sz="1700" dirty="0"/>
          </a:p>
          <a:p>
            <a:pPr marL="342900" indent="-342900">
              <a:spcAft>
                <a:spcPts val="1000"/>
              </a:spcAft>
              <a:buSzPct val="100000"/>
              <a:buChar char="•"/>
            </a:pPr>
            <a:r>
              <a:rPr lang="en-US" sz="1700" dirty="0">
                <a:solidFill>
                  <a:schemeClr val="tx1"/>
                </a:solidFill>
              </a:rPr>
              <a:t>The return slip number is generated automatically.</a:t>
            </a:r>
            <a:endParaRPr lang="en-US" sz="1700" dirty="0"/>
          </a:p>
        </p:txBody>
      </p:sp>
      <p:pic>
        <p:nvPicPr>
          <p:cNvPr id="6" name="Back button" descr="preencoded.png">
            <a:hlinkClick r:id="rId3" tooltip="Back to Return empty pallets - Option A (customer)" action="ppaction://hlinksldjump"/>
          </p:cNvPr>
          <p:cNvPicPr>
            <a:picLocks noChangeAspect="1"/>
          </p:cNvPicPr>
          <p:nvPr/>
        </p:nvPicPr>
        <p:blipFill>
          <a:blip r:embed="rId2"/>
          <a:stretch>
            <a:fillRect/>
          </a:stretch>
        </p:blipFill>
        <p:spPr>
          <a:xfrm>
            <a:off x="4206240" y="5715000"/>
            <a:ext cx="420624" cy="420624"/>
          </a:xfrm>
          <a:prstGeom prst="rect">
            <a:avLst/>
          </a:prstGeom>
        </p:spPr>
      </p:pic>
      <p:sp>
        <p:nvSpPr>
          <p:cNvPr id="7" name="Back link"/>
          <p:cNvSpPr txBox="1"/>
          <p:nvPr/>
        </p:nvSpPr>
        <p:spPr>
          <a:xfrm>
            <a:off x="4736592" y="5715000"/>
            <a:ext cx="576072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789920" y="5715000"/>
            <a:ext cx="384048" cy="384048"/>
          </a:xfrm>
          <a:prstGeom prst="rect">
            <a:avLst/>
          </a:prstGeom>
        </p:spPr>
      </p:pic>
      <p:pic>
        <p:nvPicPr>
          <p:cNvPr id="9" name="Next step" descr="preencoded.png">
            <a:hlinkClick r:id="rId8" tooltip="Next step" action="ppaction://hlinksldjump"/>
          </p:cNvPr>
          <p:cNvPicPr>
            <a:picLocks noChangeAspect="1"/>
          </p:cNvPicPr>
          <p:nvPr/>
        </p:nvPicPr>
        <p:blipFill>
          <a:blip r:embed="rId7"/>
          <a:stretch>
            <a:fillRect/>
          </a:stretch>
        </p:blipFill>
        <p:spPr>
          <a:xfrm>
            <a:off x="1129284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Label"/>
          <p:cNvSpPr txBox="1"/>
          <p:nvPr/>
        </p:nvSpPr>
        <p:spPr>
          <a:xfrm>
            <a:off x="4206240" y="457200"/>
            <a:ext cx="7498080" cy="274320"/>
          </a:xfrm>
          <a:prstGeom prst="rect">
            <a:avLst/>
          </a:prstGeom>
          <a:noFill/>
          <a:ln/>
        </p:spPr>
        <p:txBody>
          <a:bodyPr wrap="square" lIns="0" tIns="0" rIns="0" bIns="0" rtlCol="0" anchor="ctr"/>
          <a:lstStyle/>
          <a:p>
            <a:pPr indent="0" marL="0">
              <a:buNone/>
            </a:pPr>
            <a:r>
              <a:rPr lang="en-US" sz="1100" b="1" spc="100" kern="0" dirty="0">
                <a:solidFill>
                  <a:schemeClr val="accent3"/>
                </a:solidFill>
              </a:rPr>
              <a:t>RETURN EMPTY PALLETS - OPTION A (CUSTOMER) · STEP 3 OF 5</a:t>
            </a:r>
            <a:endParaRPr lang="en-US" sz="1100" dirty="0"/>
          </a:p>
        </p:txBody>
      </p:sp>
      <p:sp>
        <p:nvSpPr>
          <p:cNvPr id="3" name="Title"/>
          <p:cNvSpPr txBox="1"/>
          <p:nvPr/>
        </p:nvSpPr>
        <p:spPr>
          <a:xfrm>
            <a:off x="4206240" y="777240"/>
            <a:ext cx="7498080" cy="685800"/>
          </a:xfrm>
          <a:prstGeom prst="rect">
            <a:avLst/>
          </a:prstGeom>
          <a:noFill/>
          <a:ln/>
        </p:spPr>
        <p:txBody>
          <a:bodyPr wrap="square" lIns="0" tIns="0" rIns="0" bIns="0" rtlCol="0" anchor="ctr"/>
          <a:lstStyle/>
          <a:p>
            <a:pPr indent="0" marL="0">
              <a:buNone/>
            </a:pPr>
            <a:r>
              <a:rPr lang="en-US" sz="3200" b="1" dirty="0">
                <a:solidFill>
                  <a:schemeClr val="tx2"/>
                </a:solidFill>
              </a:rPr>
              <a:t>Confirm</a:t>
            </a:r>
            <a:endParaRPr lang="en-US" sz="3200" dirty="0"/>
          </a:p>
        </p:txBody>
      </p:sp>
      <p:pic>
        <p:nvPicPr>
          <p:cNvPr id="4" name="Picture" descr="/tmp/claude-0/-home-claude/604fe074-c4a3-59f5-a7f0-a4d942adf429/scratchpad/deck/img/c11_return_confirm.jpg">    </p:cNvPr>
          <p:cNvPicPr>
            <a:picLocks noChangeAspect="1"/>
          </p:cNvPicPr>
          <p:nvPr/>
        </p:nvPicPr>
        <p:blipFill>
          <a:blip r:embed="rId1"/>
          <a:stretch>
            <a:fillRect/>
          </a:stretch>
        </p:blipFill>
        <p:spPr>
          <a:xfrm>
            <a:off x="669206" y="365760"/>
            <a:ext cx="2867827" cy="598932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4206240" y="1691640"/>
            <a:ext cx="7498080" cy="35661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A last check before the slip is made: number of pallets and vehicle.</a:t>
            </a:r>
            <a:endParaRPr lang="en-US" sz="1700" dirty="0"/>
          </a:p>
        </p:txBody>
      </p:sp>
      <p:pic>
        <p:nvPicPr>
          <p:cNvPr id="6" name="Back button" descr="preencoded.png">
            <a:hlinkClick r:id="rId3" tooltip="Back to Return empty pallets - Option A (customer)" action="ppaction://hlinksldjump"/>
          </p:cNvPr>
          <p:cNvPicPr>
            <a:picLocks noChangeAspect="1"/>
          </p:cNvPicPr>
          <p:nvPr/>
        </p:nvPicPr>
        <p:blipFill>
          <a:blip r:embed="rId2"/>
          <a:stretch>
            <a:fillRect/>
          </a:stretch>
        </p:blipFill>
        <p:spPr>
          <a:xfrm>
            <a:off x="4206240" y="5715000"/>
            <a:ext cx="420624" cy="420624"/>
          </a:xfrm>
          <a:prstGeom prst="rect">
            <a:avLst/>
          </a:prstGeom>
        </p:spPr>
      </p:pic>
      <p:sp>
        <p:nvSpPr>
          <p:cNvPr id="7" name="Back link"/>
          <p:cNvSpPr txBox="1"/>
          <p:nvPr/>
        </p:nvSpPr>
        <p:spPr>
          <a:xfrm>
            <a:off x="4736592" y="5715000"/>
            <a:ext cx="576072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789920" y="5715000"/>
            <a:ext cx="384048" cy="384048"/>
          </a:xfrm>
          <a:prstGeom prst="rect">
            <a:avLst/>
          </a:prstGeom>
        </p:spPr>
      </p:pic>
      <p:pic>
        <p:nvPicPr>
          <p:cNvPr id="9" name="Next step" descr="preencoded.png">
            <a:hlinkClick r:id="rId8" tooltip="Next step" action="ppaction://hlinksldjump"/>
          </p:cNvPr>
          <p:cNvPicPr>
            <a:picLocks noChangeAspect="1"/>
          </p:cNvPicPr>
          <p:nvPr/>
        </p:nvPicPr>
        <p:blipFill>
          <a:blip r:embed="rId7"/>
          <a:stretch>
            <a:fillRect/>
          </a:stretch>
        </p:blipFill>
        <p:spPr>
          <a:xfrm>
            <a:off x="1129284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Label"/>
          <p:cNvSpPr txBox="1"/>
          <p:nvPr/>
        </p:nvSpPr>
        <p:spPr>
          <a:xfrm>
            <a:off x="4206240" y="457200"/>
            <a:ext cx="7498080" cy="274320"/>
          </a:xfrm>
          <a:prstGeom prst="rect">
            <a:avLst/>
          </a:prstGeom>
          <a:noFill/>
          <a:ln/>
        </p:spPr>
        <p:txBody>
          <a:bodyPr wrap="square" lIns="0" tIns="0" rIns="0" bIns="0" rtlCol="0" anchor="ctr"/>
          <a:lstStyle/>
          <a:p>
            <a:pPr indent="0" marL="0">
              <a:buNone/>
            </a:pPr>
            <a:r>
              <a:rPr lang="en-US" sz="1100" b="1" spc="100" kern="0" dirty="0">
                <a:solidFill>
                  <a:schemeClr val="accent3"/>
                </a:solidFill>
              </a:rPr>
              <a:t>RETURN EMPTY PALLETS - OPTION A (CUSTOMER) · STEP 4 OF 5</a:t>
            </a:r>
            <a:endParaRPr lang="en-US" sz="1100" dirty="0"/>
          </a:p>
        </p:txBody>
      </p:sp>
      <p:sp>
        <p:nvSpPr>
          <p:cNvPr id="3" name="Title"/>
          <p:cNvSpPr txBox="1"/>
          <p:nvPr/>
        </p:nvSpPr>
        <p:spPr>
          <a:xfrm>
            <a:off x="4206240" y="777240"/>
            <a:ext cx="7498080" cy="685800"/>
          </a:xfrm>
          <a:prstGeom prst="rect">
            <a:avLst/>
          </a:prstGeom>
          <a:noFill/>
          <a:ln/>
        </p:spPr>
        <p:txBody>
          <a:bodyPr wrap="square" lIns="0" tIns="0" rIns="0" bIns="0" rtlCol="0" anchor="ctr"/>
          <a:lstStyle/>
          <a:p>
            <a:pPr indent="0" marL="0">
              <a:buNone/>
            </a:pPr>
            <a:r>
              <a:rPr lang="en-US" sz="3200" b="1" dirty="0">
                <a:solidFill>
                  <a:schemeClr val="tx2"/>
                </a:solidFill>
              </a:rPr>
              <a:t>Slip ready</a:t>
            </a:r>
            <a:endParaRPr lang="en-US" sz="3200" dirty="0"/>
          </a:p>
        </p:txBody>
      </p:sp>
      <p:pic>
        <p:nvPicPr>
          <p:cNvPr id="4" name="Picture" descr="/tmp/claude-0/-home-claude/604fe074-c4a3-59f5-a7f0-a4d942adf429/scratchpad/deck/img/c12_slip_ready.jpg">    </p:cNvPr>
          <p:cNvPicPr>
            <a:picLocks noChangeAspect="1"/>
          </p:cNvPicPr>
          <p:nvPr/>
        </p:nvPicPr>
        <p:blipFill>
          <a:blip r:embed="rId1"/>
          <a:stretch>
            <a:fillRect/>
          </a:stretch>
        </p:blipFill>
        <p:spPr>
          <a:xfrm>
            <a:off x="669206" y="365760"/>
            <a:ext cx="2867827" cy="598932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4206240" y="1691640"/>
            <a:ext cx="7498080" cy="35661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Return slip CHN-RTS-000008 with its signed QR.</a:t>
            </a:r>
            <a:endParaRPr lang="en-US" sz="1700" dirty="0"/>
          </a:p>
          <a:p>
            <a:pPr marL="342900" indent="-342900">
              <a:spcAft>
                <a:spcPts val="1000"/>
              </a:spcAft>
              <a:buSzPct val="100000"/>
              <a:buChar char="•"/>
            </a:pPr>
            <a:r>
              <a:rPr lang="en-US" sz="1700" dirty="0">
                <a:solidFill>
                  <a:schemeClr val="tx1"/>
                </a:solidFill>
              </a:rPr>
              <a:t>Printed on the customer site Bluetooth printer (2 copies) and handed to the driver; the AIS IN gate scans this QR.</a:t>
            </a:r>
            <a:endParaRPr lang="en-US" sz="1700" dirty="0"/>
          </a:p>
        </p:txBody>
      </p:sp>
      <p:pic>
        <p:nvPicPr>
          <p:cNvPr id="6" name="Back button" descr="preencoded.png">
            <a:hlinkClick r:id="rId3" tooltip="Back to Return empty pallets - Option A (customer)" action="ppaction://hlinksldjump"/>
          </p:cNvPr>
          <p:cNvPicPr>
            <a:picLocks noChangeAspect="1"/>
          </p:cNvPicPr>
          <p:nvPr/>
        </p:nvPicPr>
        <p:blipFill>
          <a:blip r:embed="rId2"/>
          <a:stretch>
            <a:fillRect/>
          </a:stretch>
        </p:blipFill>
        <p:spPr>
          <a:xfrm>
            <a:off x="4206240" y="5715000"/>
            <a:ext cx="420624" cy="420624"/>
          </a:xfrm>
          <a:prstGeom prst="rect">
            <a:avLst/>
          </a:prstGeom>
        </p:spPr>
      </p:pic>
      <p:sp>
        <p:nvSpPr>
          <p:cNvPr id="7" name="Back link"/>
          <p:cNvSpPr txBox="1"/>
          <p:nvPr/>
        </p:nvSpPr>
        <p:spPr>
          <a:xfrm>
            <a:off x="4736592" y="5715000"/>
            <a:ext cx="576072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789920" y="5715000"/>
            <a:ext cx="384048" cy="384048"/>
          </a:xfrm>
          <a:prstGeom prst="rect">
            <a:avLst/>
          </a:prstGeom>
        </p:spPr>
      </p:pic>
      <p:pic>
        <p:nvPicPr>
          <p:cNvPr id="9" name="Next step" descr="preencoded.png">
            <a:hlinkClick r:id="rId8" tooltip="Next step" action="ppaction://hlinksldjump"/>
          </p:cNvPr>
          <p:cNvPicPr>
            <a:picLocks noChangeAspect="1"/>
          </p:cNvPicPr>
          <p:nvPr/>
        </p:nvPicPr>
        <p:blipFill>
          <a:blip r:embed="rId7"/>
          <a:stretch>
            <a:fillRect/>
          </a:stretch>
        </p:blipFill>
        <p:spPr>
          <a:xfrm>
            <a:off x="1129284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Label"/>
          <p:cNvSpPr txBox="1"/>
          <p:nvPr/>
        </p:nvSpPr>
        <p:spPr>
          <a:xfrm>
            <a:off x="4937760" y="457200"/>
            <a:ext cx="6766560" cy="274320"/>
          </a:xfrm>
          <a:prstGeom prst="rect">
            <a:avLst/>
          </a:prstGeom>
          <a:noFill/>
          <a:ln/>
        </p:spPr>
        <p:txBody>
          <a:bodyPr wrap="square" lIns="0" tIns="0" rIns="0" bIns="0" rtlCol="0" anchor="ctr"/>
          <a:lstStyle/>
          <a:p>
            <a:pPr indent="0" marL="0">
              <a:buNone/>
            </a:pPr>
            <a:r>
              <a:rPr lang="en-US" sz="1100" b="1" spc="100" kern="0" dirty="0">
                <a:solidFill>
                  <a:schemeClr val="accent3"/>
                </a:solidFill>
              </a:rPr>
              <a:t>RETURN EMPTY PALLETS - OPTION A (CUSTOMER) · STEP 5 OF 5</a:t>
            </a:r>
            <a:endParaRPr lang="en-US" sz="1100" dirty="0"/>
          </a:p>
        </p:txBody>
      </p:sp>
      <p:sp>
        <p:nvSpPr>
          <p:cNvPr id="3" name="Title"/>
          <p:cNvSpPr txBox="1"/>
          <p:nvPr/>
        </p:nvSpPr>
        <p:spPr>
          <a:xfrm>
            <a:off x="4937760" y="777240"/>
            <a:ext cx="6766560" cy="685800"/>
          </a:xfrm>
          <a:prstGeom prst="rect">
            <a:avLst/>
          </a:prstGeom>
          <a:noFill/>
          <a:ln/>
        </p:spPr>
        <p:txBody>
          <a:bodyPr wrap="square" lIns="0" tIns="0" rIns="0" bIns="0" rtlCol="0" anchor="ctr"/>
          <a:lstStyle/>
          <a:p>
            <a:pPr indent="0" marL="0">
              <a:buNone/>
            </a:pPr>
            <a:r>
              <a:rPr lang="en-US" sz="3200" b="1" dirty="0">
                <a:solidFill>
                  <a:schemeClr val="tx2"/>
                </a:solidFill>
              </a:rPr>
              <a:t>Output: Option A slip</a:t>
            </a:r>
            <a:endParaRPr lang="en-US" sz="3200" dirty="0"/>
          </a:p>
        </p:txBody>
      </p:sp>
      <p:pic>
        <p:nvPicPr>
          <p:cNvPr id="4" name="Picture" descr="/tmp/claude-0/-home-claude/604fe074-c4a3-59f5-a7f0-a4d942adf429/scratchpad/deck/img/o_slipA.jpg">    </p:cNvPr>
          <p:cNvPicPr>
            <a:picLocks noChangeAspect="1"/>
          </p:cNvPicPr>
          <p:nvPr/>
        </p:nvPicPr>
        <p:blipFill>
          <a:blip r:embed="rId1"/>
          <a:stretch>
            <a:fillRect/>
          </a:stretch>
        </p:blipFill>
        <p:spPr>
          <a:xfrm>
            <a:off x="758401" y="365760"/>
            <a:ext cx="3420959" cy="598932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4937760" y="1691640"/>
            <a:ext cx="6766560" cy="35661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58 / 80 mm thermal slip from any Bluetooth printer (ESC/POS, CPCL, ZPL, TSPL).</a:t>
            </a:r>
            <a:endParaRPr lang="en-US" sz="1700" dirty="0"/>
          </a:p>
          <a:p>
            <a:pPr marL="342900" indent="-342900">
              <a:spcAft>
                <a:spcPts val="1000"/>
              </a:spcAft>
              <a:buSzPct val="100000"/>
              <a:buChar char="•"/>
            </a:pPr>
            <a:r>
              <a:rPr lang="en-US" sz="1700" dirty="0">
                <a:solidFill>
                  <a:schemeClr val="tx1"/>
                </a:solidFill>
              </a:rPr>
              <a:t>Shows the slip number, signed QR, customer, vehicle, customer DC and every pallet returned.</a:t>
            </a:r>
            <a:endParaRPr lang="en-US" sz="1700" dirty="0"/>
          </a:p>
        </p:txBody>
      </p:sp>
      <p:pic>
        <p:nvPicPr>
          <p:cNvPr id="6" name="Back button" descr="preencoded.png">
            <a:hlinkClick r:id="rId3" tooltip="Back to Return empty pallets - Option A (customer)" action="ppaction://hlinksldjump"/>
          </p:cNvPr>
          <p:cNvPicPr>
            <a:picLocks noChangeAspect="1"/>
          </p:cNvPicPr>
          <p:nvPr/>
        </p:nvPicPr>
        <p:blipFill>
          <a:blip r:embed="rId2"/>
          <a:stretch>
            <a:fillRect/>
          </a:stretch>
        </p:blipFill>
        <p:spPr>
          <a:xfrm>
            <a:off x="4937760" y="5715000"/>
            <a:ext cx="420624" cy="420624"/>
          </a:xfrm>
          <a:prstGeom prst="rect">
            <a:avLst/>
          </a:prstGeom>
        </p:spPr>
      </p:pic>
      <p:sp>
        <p:nvSpPr>
          <p:cNvPr id="7" name="Back link"/>
          <p:cNvSpPr txBox="1"/>
          <p:nvPr/>
        </p:nvSpPr>
        <p:spPr>
          <a:xfrm>
            <a:off x="5468112" y="5715000"/>
            <a:ext cx="502920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789920" y="5715000"/>
            <a:ext cx="384048" cy="384048"/>
          </a:xfrm>
          <a:prstGeom prst="rect">
            <a:avLst/>
          </a:prstGeom>
        </p:spPr>
      </p:pic>
      <p:pic>
        <p:nvPicPr>
          <p:cNvPr id="9" name="Next step" descr="preencoded.png">    </p:cNvPr>
          <p:cNvPicPr>
            <a:picLocks noChangeAspect="1"/>
          </p:cNvPicPr>
          <p:nvPr/>
        </p:nvPicPr>
        <p:blipFill>
          <a:blip r:embed="rId7"/>
          <a:stretch>
            <a:fillRect/>
          </a:stretch>
        </p:blipFill>
        <p:spPr>
          <a:xfrm>
            <a:off x="1129284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Label"/>
          <p:cNvSpPr txBox="1"/>
          <p:nvPr/>
        </p:nvSpPr>
        <p:spPr>
          <a:xfrm>
            <a:off x="4206240" y="457200"/>
            <a:ext cx="7498080" cy="274320"/>
          </a:xfrm>
          <a:prstGeom prst="rect">
            <a:avLst/>
          </a:prstGeom>
          <a:noFill/>
          <a:ln/>
        </p:spPr>
        <p:txBody>
          <a:bodyPr wrap="square" lIns="0" tIns="0" rIns="0" bIns="0" rtlCol="0" anchor="ctr"/>
          <a:lstStyle/>
          <a:p>
            <a:pPr indent="0" marL="0">
              <a:buNone/>
            </a:pPr>
            <a:r>
              <a:rPr lang="en-US" sz="1100" b="1" spc="100" kern="0" dirty="0">
                <a:solidFill>
                  <a:schemeClr val="accent2"/>
                </a:solidFill>
              </a:rPr>
              <a:t>IN GATE - EVERY INWARD IS REGISTERED · STEP 1 OF 9</a:t>
            </a:r>
            <a:endParaRPr lang="en-US" sz="1100" dirty="0"/>
          </a:p>
        </p:txBody>
      </p:sp>
      <p:sp>
        <p:nvSpPr>
          <p:cNvPr id="3" name="Title"/>
          <p:cNvSpPr txBox="1"/>
          <p:nvPr/>
        </p:nvSpPr>
        <p:spPr>
          <a:xfrm>
            <a:off x="4206240" y="777240"/>
            <a:ext cx="7498080" cy="685800"/>
          </a:xfrm>
          <a:prstGeom prst="rect">
            <a:avLst/>
          </a:prstGeom>
          <a:noFill/>
          <a:ln/>
        </p:spPr>
        <p:txBody>
          <a:bodyPr wrap="square" lIns="0" tIns="0" rIns="0" bIns="0" rtlCol="0" anchor="ctr"/>
          <a:lstStyle/>
          <a:p>
            <a:pPr indent="0" marL="0">
              <a:buNone/>
            </a:pPr>
            <a:r>
              <a:rPr lang="en-US" sz="3200" b="1" dirty="0">
                <a:solidFill>
                  <a:schemeClr val="tx2"/>
                </a:solidFill>
              </a:rPr>
              <a:t>IN gate</a:t>
            </a:r>
            <a:endParaRPr lang="en-US" sz="3200" dirty="0"/>
          </a:p>
        </p:txBody>
      </p:sp>
      <p:pic>
        <p:nvPicPr>
          <p:cNvPr id="4" name="Picture" descr="/tmp/claude-0/-home-claude/604fe074-c4a3-59f5-a7f0-a4d942adf429/scratchpad/deck/img/g01_in_gate.jpg">    </p:cNvPr>
          <p:cNvPicPr>
            <a:picLocks noChangeAspect="1"/>
          </p:cNvPicPr>
          <p:nvPr/>
        </p:nvPicPr>
        <p:blipFill>
          <a:blip r:embed="rId1"/>
          <a:stretch>
            <a:fillRect/>
          </a:stretch>
        </p:blipFill>
        <p:spPr>
          <a:xfrm>
            <a:off x="669206" y="365760"/>
            <a:ext cx="2867827" cy="598932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4206240" y="1691640"/>
            <a:ext cx="7498080" cy="35661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Customer vehicle: scan the return slip QR. AIS plant vehicle: scan the challan QR.</a:t>
            </a:r>
            <a:endParaRPr lang="en-US" sz="1700" dirty="0"/>
          </a:p>
          <a:p>
            <a:pPr marL="342900" indent="-342900">
              <a:spcAft>
                <a:spcPts val="1000"/>
              </a:spcAft>
              <a:buSzPct val="100000"/>
              <a:buChar char="•"/>
            </a:pPr>
            <a:r>
              <a:rPr lang="en-US" sz="1700" dirty="0">
                <a:solidFill>
                  <a:schemeClr val="tx1"/>
                </a:solidFill>
              </a:rPr>
              <a:t>Customer vehicle without a slip: make Option B (next steps).</a:t>
            </a:r>
            <a:endParaRPr lang="en-US" sz="1700" dirty="0"/>
          </a:p>
        </p:txBody>
      </p:sp>
      <p:pic>
        <p:nvPicPr>
          <p:cNvPr id="6" name="Back button" descr="preencoded.png">
            <a:hlinkClick r:id="rId3" tooltip="Back to IN gate - every inward is registered" action="ppaction://hlinksldjump"/>
          </p:cNvPr>
          <p:cNvPicPr>
            <a:picLocks noChangeAspect="1"/>
          </p:cNvPicPr>
          <p:nvPr/>
        </p:nvPicPr>
        <p:blipFill>
          <a:blip r:embed="rId2"/>
          <a:stretch>
            <a:fillRect/>
          </a:stretch>
        </p:blipFill>
        <p:spPr>
          <a:xfrm>
            <a:off x="4206240" y="5715000"/>
            <a:ext cx="420624" cy="420624"/>
          </a:xfrm>
          <a:prstGeom prst="rect">
            <a:avLst/>
          </a:prstGeom>
        </p:spPr>
      </p:pic>
      <p:sp>
        <p:nvSpPr>
          <p:cNvPr id="7" name="Back link"/>
          <p:cNvSpPr txBox="1"/>
          <p:nvPr/>
        </p:nvSpPr>
        <p:spPr>
          <a:xfrm>
            <a:off x="4736592" y="5715000"/>
            <a:ext cx="576072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p:cNvPr>
          <p:cNvPicPr>
            <a:picLocks noChangeAspect="1"/>
          </p:cNvPicPr>
          <p:nvPr/>
        </p:nvPicPr>
        <p:blipFill>
          <a:blip r:embed="rId5"/>
          <a:stretch>
            <a:fillRect/>
          </a:stretch>
        </p:blipFill>
        <p:spPr>
          <a:xfrm>
            <a:off x="10789920" y="5715000"/>
            <a:ext cx="384048" cy="384048"/>
          </a:xfrm>
          <a:prstGeom prst="rect">
            <a:avLst/>
          </a:prstGeom>
        </p:spPr>
      </p:pic>
      <p:pic>
        <p:nvPicPr>
          <p:cNvPr id="9" name="Next step" descr="preencoded.png">
            <a:hlinkClick r:id="rId7" tooltip="Next step" action="ppaction://hlinksldjump"/>
          </p:cNvPr>
          <p:cNvPicPr>
            <a:picLocks noChangeAspect="1"/>
          </p:cNvPicPr>
          <p:nvPr/>
        </p:nvPicPr>
        <p:blipFill>
          <a:blip r:embed="rId6"/>
          <a:stretch>
            <a:fillRect/>
          </a:stretch>
        </p:blipFill>
        <p:spPr>
          <a:xfrm>
            <a:off x="1129284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Label"/>
          <p:cNvSpPr txBox="1"/>
          <p:nvPr/>
        </p:nvSpPr>
        <p:spPr>
          <a:xfrm>
            <a:off x="4206240" y="457200"/>
            <a:ext cx="7498080" cy="274320"/>
          </a:xfrm>
          <a:prstGeom prst="rect">
            <a:avLst/>
          </a:prstGeom>
          <a:noFill/>
          <a:ln/>
        </p:spPr>
        <p:txBody>
          <a:bodyPr wrap="square" lIns="0" tIns="0" rIns="0" bIns="0" rtlCol="0" anchor="ctr"/>
          <a:lstStyle/>
          <a:p>
            <a:pPr indent="0" marL="0">
              <a:buNone/>
            </a:pPr>
            <a:r>
              <a:rPr lang="en-US" sz="1100" b="1" spc="100" kern="0" dirty="0">
                <a:solidFill>
                  <a:schemeClr val="accent2"/>
                </a:solidFill>
              </a:rPr>
              <a:t>IN GATE - EVERY INWARD IS REGISTERED · STEP 2 OF 9</a:t>
            </a:r>
            <a:endParaRPr lang="en-US" sz="1100" dirty="0"/>
          </a:p>
        </p:txBody>
      </p:sp>
      <p:sp>
        <p:nvSpPr>
          <p:cNvPr id="3" name="Title"/>
          <p:cNvSpPr txBox="1"/>
          <p:nvPr/>
        </p:nvSpPr>
        <p:spPr>
          <a:xfrm>
            <a:off x="4206240" y="777240"/>
            <a:ext cx="7498080" cy="685800"/>
          </a:xfrm>
          <a:prstGeom prst="rect">
            <a:avLst/>
          </a:prstGeom>
          <a:noFill/>
          <a:ln/>
        </p:spPr>
        <p:txBody>
          <a:bodyPr wrap="square" lIns="0" tIns="0" rIns="0" bIns="0" rtlCol="0" anchor="ctr"/>
          <a:lstStyle/>
          <a:p>
            <a:pPr indent="0" marL="0">
              <a:buNone/>
            </a:pPr>
            <a:r>
              <a:rPr lang="en-US" sz="3200" b="1" dirty="0">
                <a:solidFill>
                  <a:schemeClr val="tx2"/>
                </a:solidFill>
              </a:rPr>
              <a:t>Option A registered</a:t>
            </a:r>
            <a:endParaRPr lang="en-US" sz="3200" dirty="0"/>
          </a:p>
        </p:txBody>
      </p:sp>
      <p:pic>
        <p:nvPicPr>
          <p:cNvPr id="4" name="Picture" descr="/tmp/claude-0/-home-claude/604fe074-c4a3-59f5-a7f0-a4d942adf429/scratchpad/deck/img/g02_in_slipA.jpg">    </p:cNvPr>
          <p:cNvPicPr>
            <a:picLocks noChangeAspect="1"/>
          </p:cNvPicPr>
          <p:nvPr/>
        </p:nvPicPr>
        <p:blipFill>
          <a:blip r:embed="rId1"/>
          <a:stretch>
            <a:fillRect/>
          </a:stretch>
        </p:blipFill>
        <p:spPr>
          <a:xfrm>
            <a:off x="669206" y="365760"/>
            <a:ext cx="2867827" cy="598932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4206240" y="1691640"/>
            <a:ext cx="7498080" cy="35661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The signed slip QR is verified (an altered label is refused - HOLD VEHICLE).</a:t>
            </a:r>
            <a:endParaRPr lang="en-US" sz="1700" dirty="0"/>
          </a:p>
          <a:p>
            <a:pPr marL="342900" indent="-342900">
              <a:spcAft>
                <a:spcPts val="1000"/>
              </a:spcAft>
              <a:buSzPct val="100000"/>
              <a:buChar char="•"/>
            </a:pPr>
            <a:r>
              <a:rPr lang="en-US" sz="1700" dirty="0">
                <a:solidFill>
                  <a:schemeClr val="tx1"/>
                </a:solidFill>
              </a:rPr>
              <a:t>Gate entry CHN-GE-000007 is made with the GCS inward number; the slip is IN GATE.</a:t>
            </a:r>
            <a:endParaRPr lang="en-US" sz="1700" dirty="0"/>
          </a:p>
        </p:txBody>
      </p:sp>
      <p:pic>
        <p:nvPicPr>
          <p:cNvPr id="6" name="Back button" descr="preencoded.png">
            <a:hlinkClick r:id="rId3" tooltip="Back to IN gate - every inward is registered" action="ppaction://hlinksldjump"/>
          </p:cNvPr>
          <p:cNvPicPr>
            <a:picLocks noChangeAspect="1"/>
          </p:cNvPicPr>
          <p:nvPr/>
        </p:nvPicPr>
        <p:blipFill>
          <a:blip r:embed="rId2"/>
          <a:stretch>
            <a:fillRect/>
          </a:stretch>
        </p:blipFill>
        <p:spPr>
          <a:xfrm>
            <a:off x="4206240" y="5715000"/>
            <a:ext cx="420624" cy="420624"/>
          </a:xfrm>
          <a:prstGeom prst="rect">
            <a:avLst/>
          </a:prstGeom>
        </p:spPr>
      </p:pic>
      <p:sp>
        <p:nvSpPr>
          <p:cNvPr id="7" name="Back link"/>
          <p:cNvSpPr txBox="1"/>
          <p:nvPr/>
        </p:nvSpPr>
        <p:spPr>
          <a:xfrm>
            <a:off x="4736592" y="5715000"/>
            <a:ext cx="576072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789920" y="5715000"/>
            <a:ext cx="384048" cy="384048"/>
          </a:xfrm>
          <a:prstGeom prst="rect">
            <a:avLst/>
          </a:prstGeom>
        </p:spPr>
      </p:pic>
      <p:pic>
        <p:nvPicPr>
          <p:cNvPr id="9" name="Next step" descr="preencoded.png">
            <a:hlinkClick r:id="rId8" tooltip="Next step" action="ppaction://hlinksldjump"/>
          </p:cNvPr>
          <p:cNvPicPr>
            <a:picLocks noChangeAspect="1"/>
          </p:cNvPicPr>
          <p:nvPr/>
        </p:nvPicPr>
        <p:blipFill>
          <a:blip r:embed="rId7"/>
          <a:stretch>
            <a:fillRect/>
          </a:stretch>
        </p:blipFill>
        <p:spPr>
          <a:xfrm>
            <a:off x="1129284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Label"/>
          <p:cNvSpPr txBox="1"/>
          <p:nvPr/>
        </p:nvSpPr>
        <p:spPr>
          <a:xfrm>
            <a:off x="4206240" y="457200"/>
            <a:ext cx="7498080" cy="274320"/>
          </a:xfrm>
          <a:prstGeom prst="rect">
            <a:avLst/>
          </a:prstGeom>
          <a:noFill/>
          <a:ln/>
        </p:spPr>
        <p:txBody>
          <a:bodyPr wrap="square" lIns="0" tIns="0" rIns="0" bIns="0" rtlCol="0" anchor="ctr"/>
          <a:lstStyle/>
          <a:p>
            <a:pPr indent="0" marL="0">
              <a:buNone/>
            </a:pPr>
            <a:r>
              <a:rPr lang="en-US" sz="1100" b="1" spc="100" kern="0" dirty="0">
                <a:solidFill>
                  <a:schemeClr val="accent2"/>
                </a:solidFill>
              </a:rPr>
              <a:t>IN GATE - EVERY INWARD IS REGISTERED · STEP 3 OF 9</a:t>
            </a:r>
            <a:endParaRPr lang="en-US" sz="1100" dirty="0"/>
          </a:p>
        </p:txBody>
      </p:sp>
      <p:sp>
        <p:nvSpPr>
          <p:cNvPr id="3" name="Title"/>
          <p:cNvSpPr txBox="1"/>
          <p:nvPr/>
        </p:nvSpPr>
        <p:spPr>
          <a:xfrm>
            <a:off x="4206240" y="777240"/>
            <a:ext cx="7498080" cy="685800"/>
          </a:xfrm>
          <a:prstGeom prst="rect">
            <a:avLst/>
          </a:prstGeom>
          <a:noFill/>
          <a:ln/>
        </p:spPr>
        <p:txBody>
          <a:bodyPr wrap="square" lIns="0" tIns="0" rIns="0" bIns="0" rtlCol="0" anchor="ctr"/>
          <a:lstStyle/>
          <a:p>
            <a:pPr indent="0" marL="0">
              <a:buNone/>
            </a:pPr>
            <a:r>
              <a:rPr lang="en-US" sz="3200" b="1" dirty="0">
                <a:solidFill>
                  <a:schemeClr val="tx2"/>
                </a:solidFill>
              </a:rPr>
              <a:t>Option B: count + vehicle</a:t>
            </a:r>
            <a:endParaRPr lang="en-US" sz="3200" dirty="0"/>
          </a:p>
        </p:txBody>
      </p:sp>
      <p:pic>
        <p:nvPicPr>
          <p:cNvPr id="4" name="Picture" descr="/tmp/claude-0/-home-claude/604fe074-c4a3-59f5-a7f0-a4d942adf429/scratchpad/deck/img/g04_optB_photo_required.jpg">    </p:cNvPr>
          <p:cNvPicPr>
            <a:picLocks noChangeAspect="1"/>
          </p:cNvPicPr>
          <p:nvPr/>
        </p:nvPicPr>
        <p:blipFill>
          <a:blip r:embed="rId1"/>
          <a:stretch>
            <a:fillRect/>
          </a:stretch>
        </p:blipFill>
        <p:spPr>
          <a:xfrm>
            <a:off x="669206" y="365760"/>
            <a:ext cx="2867827" cy="598932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4206240" y="1691640"/>
            <a:ext cx="7498080" cy="35661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Option B = number of pallets only, made by IN-gate security.</a:t>
            </a:r>
            <a:endParaRPr lang="en-US" sz="1700" dirty="0"/>
          </a:p>
          <a:p>
            <a:pPr marL="342900" indent="-342900">
              <a:spcAft>
                <a:spcPts val="1000"/>
              </a:spcAft>
              <a:buSzPct val="100000"/>
              <a:buChar char="•"/>
            </a:pPr>
            <a:r>
              <a:rPr lang="en-US" sz="1700" dirty="0">
                <a:solidFill>
                  <a:schemeClr val="tx1"/>
                </a:solidFill>
              </a:rPr>
              <a:t>The slip cannot be made or printed until a photo of the customer document is taken.</a:t>
            </a:r>
            <a:endParaRPr lang="en-US" sz="1700" dirty="0"/>
          </a:p>
        </p:txBody>
      </p:sp>
      <p:pic>
        <p:nvPicPr>
          <p:cNvPr id="6" name="Back button" descr="preencoded.png">
            <a:hlinkClick r:id="rId3" tooltip="Back to IN gate - every inward is registered" action="ppaction://hlinksldjump"/>
          </p:cNvPr>
          <p:cNvPicPr>
            <a:picLocks noChangeAspect="1"/>
          </p:cNvPicPr>
          <p:nvPr/>
        </p:nvPicPr>
        <p:blipFill>
          <a:blip r:embed="rId2"/>
          <a:stretch>
            <a:fillRect/>
          </a:stretch>
        </p:blipFill>
        <p:spPr>
          <a:xfrm>
            <a:off x="4206240" y="5715000"/>
            <a:ext cx="420624" cy="420624"/>
          </a:xfrm>
          <a:prstGeom prst="rect">
            <a:avLst/>
          </a:prstGeom>
        </p:spPr>
      </p:pic>
      <p:sp>
        <p:nvSpPr>
          <p:cNvPr id="7" name="Back link"/>
          <p:cNvSpPr txBox="1"/>
          <p:nvPr/>
        </p:nvSpPr>
        <p:spPr>
          <a:xfrm>
            <a:off x="4736592" y="5715000"/>
            <a:ext cx="576072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789920" y="5715000"/>
            <a:ext cx="384048" cy="384048"/>
          </a:xfrm>
          <a:prstGeom prst="rect">
            <a:avLst/>
          </a:prstGeom>
        </p:spPr>
      </p:pic>
      <p:pic>
        <p:nvPicPr>
          <p:cNvPr id="9" name="Next step" descr="preencoded.png">
            <a:hlinkClick r:id="rId8" tooltip="Next step" action="ppaction://hlinksldjump"/>
          </p:cNvPr>
          <p:cNvPicPr>
            <a:picLocks noChangeAspect="1"/>
          </p:cNvPicPr>
          <p:nvPr/>
        </p:nvPicPr>
        <p:blipFill>
          <a:blip r:embed="rId7"/>
          <a:stretch>
            <a:fillRect/>
          </a:stretch>
        </p:blipFill>
        <p:spPr>
          <a:xfrm>
            <a:off x="1129284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Label"/>
          <p:cNvSpPr txBox="1"/>
          <p:nvPr/>
        </p:nvSpPr>
        <p:spPr>
          <a:xfrm>
            <a:off x="4206240" y="457200"/>
            <a:ext cx="7498080" cy="274320"/>
          </a:xfrm>
          <a:prstGeom prst="rect">
            <a:avLst/>
          </a:prstGeom>
          <a:noFill/>
          <a:ln/>
        </p:spPr>
        <p:txBody>
          <a:bodyPr wrap="square" lIns="0" tIns="0" rIns="0" bIns="0" rtlCol="0" anchor="ctr"/>
          <a:lstStyle/>
          <a:p>
            <a:pPr indent="0" marL="0">
              <a:buNone/>
            </a:pPr>
            <a:r>
              <a:rPr lang="en-US" sz="1100" b="1" spc="100" kern="0" dirty="0">
                <a:solidFill>
                  <a:schemeClr val="accent2"/>
                </a:solidFill>
              </a:rPr>
              <a:t>IN GATE - EVERY INWARD IS REGISTERED · STEP 4 OF 9</a:t>
            </a:r>
            <a:endParaRPr lang="en-US" sz="1100" dirty="0"/>
          </a:p>
        </p:txBody>
      </p:sp>
      <p:sp>
        <p:nvSpPr>
          <p:cNvPr id="3" name="Title"/>
          <p:cNvSpPr txBox="1"/>
          <p:nvPr/>
        </p:nvSpPr>
        <p:spPr>
          <a:xfrm>
            <a:off x="4206240" y="777240"/>
            <a:ext cx="7498080" cy="685800"/>
          </a:xfrm>
          <a:prstGeom prst="rect">
            <a:avLst/>
          </a:prstGeom>
          <a:noFill/>
          <a:ln/>
        </p:spPr>
        <p:txBody>
          <a:bodyPr wrap="square" lIns="0" tIns="0" rIns="0" bIns="0" rtlCol="0" anchor="ctr"/>
          <a:lstStyle/>
          <a:p>
            <a:pPr indent="0" marL="0">
              <a:buNone/>
            </a:pPr>
            <a:r>
              <a:rPr lang="en-US" sz="3200" b="1" dirty="0">
                <a:solidFill>
                  <a:schemeClr val="tx2"/>
                </a:solidFill>
              </a:rPr>
              <a:t>Photo of customer DC</a:t>
            </a:r>
            <a:endParaRPr lang="en-US" sz="3200" dirty="0"/>
          </a:p>
        </p:txBody>
      </p:sp>
      <p:pic>
        <p:nvPicPr>
          <p:cNvPr id="4" name="Picture" descr="/tmp/claude-0/-home-claude/604fe074-c4a3-59f5-a7f0-a4d942adf429/scratchpad/deck/img/g05_camera.jpg">    </p:cNvPr>
          <p:cNvPicPr>
            <a:picLocks noChangeAspect="1"/>
          </p:cNvPicPr>
          <p:nvPr/>
        </p:nvPicPr>
        <p:blipFill>
          <a:blip r:embed="rId1"/>
          <a:stretch>
            <a:fillRect/>
          </a:stretch>
        </p:blipFill>
        <p:spPr>
          <a:xfrm>
            <a:off x="669206" y="365760"/>
            <a:ext cx="2867827" cy="598932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4206240" y="1691640"/>
            <a:ext cx="7498080" cy="35661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Photograph the customer DC / challan / pallet list - every page.</a:t>
            </a:r>
            <a:endParaRPr lang="en-US" sz="1700" dirty="0"/>
          </a:p>
          <a:p>
            <a:pPr marL="342900" indent="-342900">
              <a:spcAft>
                <a:spcPts val="1000"/>
              </a:spcAft>
              <a:buSzPct val="100000"/>
              <a:buChar char="•"/>
            </a:pPr>
            <a:r>
              <a:rPr lang="en-US" sz="1700" dirty="0">
                <a:solidFill>
                  <a:schemeClr val="tx1"/>
                </a:solidFill>
              </a:rPr>
              <a:t>Works offline; the photo uploads when the HHT is online.</a:t>
            </a:r>
            <a:endParaRPr lang="en-US" sz="1700" dirty="0"/>
          </a:p>
        </p:txBody>
      </p:sp>
      <p:pic>
        <p:nvPicPr>
          <p:cNvPr id="6" name="Back button" descr="preencoded.png">
            <a:hlinkClick r:id="rId3" tooltip="Back to IN gate - every inward is registered" action="ppaction://hlinksldjump"/>
          </p:cNvPr>
          <p:cNvPicPr>
            <a:picLocks noChangeAspect="1"/>
          </p:cNvPicPr>
          <p:nvPr/>
        </p:nvPicPr>
        <p:blipFill>
          <a:blip r:embed="rId2"/>
          <a:stretch>
            <a:fillRect/>
          </a:stretch>
        </p:blipFill>
        <p:spPr>
          <a:xfrm>
            <a:off x="4206240" y="5715000"/>
            <a:ext cx="420624" cy="420624"/>
          </a:xfrm>
          <a:prstGeom prst="rect">
            <a:avLst/>
          </a:prstGeom>
        </p:spPr>
      </p:pic>
      <p:sp>
        <p:nvSpPr>
          <p:cNvPr id="7" name="Back link"/>
          <p:cNvSpPr txBox="1"/>
          <p:nvPr/>
        </p:nvSpPr>
        <p:spPr>
          <a:xfrm>
            <a:off x="4736592" y="5715000"/>
            <a:ext cx="576072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789920" y="5715000"/>
            <a:ext cx="384048" cy="384048"/>
          </a:xfrm>
          <a:prstGeom prst="rect">
            <a:avLst/>
          </a:prstGeom>
        </p:spPr>
      </p:pic>
      <p:pic>
        <p:nvPicPr>
          <p:cNvPr id="9" name="Next step" descr="preencoded.png">
            <a:hlinkClick r:id="rId8" tooltip="Next step" action="ppaction://hlinksldjump"/>
          </p:cNvPr>
          <p:cNvPicPr>
            <a:picLocks noChangeAspect="1"/>
          </p:cNvPicPr>
          <p:nvPr/>
        </p:nvPicPr>
        <p:blipFill>
          <a:blip r:embed="rId7"/>
          <a:stretch>
            <a:fillRect/>
          </a:stretch>
        </p:blipFill>
        <p:spPr>
          <a:xfrm>
            <a:off x="1129284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Label"/>
          <p:cNvSpPr txBox="1"/>
          <p:nvPr/>
        </p:nvSpPr>
        <p:spPr>
          <a:xfrm>
            <a:off x="4206240" y="457200"/>
            <a:ext cx="7498080" cy="274320"/>
          </a:xfrm>
          <a:prstGeom prst="rect">
            <a:avLst/>
          </a:prstGeom>
          <a:noFill/>
          <a:ln/>
        </p:spPr>
        <p:txBody>
          <a:bodyPr wrap="square" lIns="0" tIns="0" rIns="0" bIns="0" rtlCol="0" anchor="ctr"/>
          <a:lstStyle/>
          <a:p>
            <a:pPr indent="0" marL="0">
              <a:buNone/>
            </a:pPr>
            <a:r>
              <a:rPr lang="en-US" sz="1100" b="1" spc="100" kern="0" dirty="0">
                <a:solidFill>
                  <a:schemeClr val="accent2"/>
                </a:solidFill>
              </a:rPr>
              <a:t>IN GATE - EVERY INWARD IS REGISTERED · STEP 5 OF 9</a:t>
            </a:r>
            <a:endParaRPr lang="en-US" sz="1100" dirty="0"/>
          </a:p>
        </p:txBody>
      </p:sp>
      <p:sp>
        <p:nvSpPr>
          <p:cNvPr id="3" name="Title"/>
          <p:cNvSpPr txBox="1"/>
          <p:nvPr/>
        </p:nvSpPr>
        <p:spPr>
          <a:xfrm>
            <a:off x="4206240" y="777240"/>
            <a:ext cx="7498080" cy="685800"/>
          </a:xfrm>
          <a:prstGeom prst="rect">
            <a:avLst/>
          </a:prstGeom>
          <a:noFill/>
          <a:ln/>
        </p:spPr>
        <p:txBody>
          <a:bodyPr wrap="square" lIns="0" tIns="0" rIns="0" bIns="0" rtlCol="0" anchor="ctr"/>
          <a:lstStyle/>
          <a:p>
            <a:pPr indent="0" marL="0">
              <a:buNone/>
            </a:pPr>
            <a:r>
              <a:rPr lang="en-US" sz="3200" b="1" dirty="0">
                <a:solidFill>
                  <a:schemeClr val="tx2"/>
                </a:solidFill>
              </a:rPr>
              <a:t>Read and matched</a:t>
            </a:r>
            <a:endParaRPr lang="en-US" sz="3200" dirty="0"/>
          </a:p>
        </p:txBody>
      </p:sp>
      <p:pic>
        <p:nvPicPr>
          <p:cNvPr id="4" name="Picture" descr="/tmp/claude-0/-home-claude/604fe074-c4a3-59f5-a7f0-a4d942adf429/scratchpad/deck/img/g06_photo_matched.jpg">    </p:cNvPr>
          <p:cNvPicPr>
            <a:picLocks noChangeAspect="1"/>
          </p:cNvPicPr>
          <p:nvPr/>
        </p:nvPicPr>
        <p:blipFill>
          <a:blip r:embed="rId1"/>
          <a:stretch>
            <a:fillRect/>
          </a:stretch>
        </p:blipFill>
        <p:spPr>
          <a:xfrm>
            <a:off x="669206" y="365760"/>
            <a:ext cx="2867827" cy="598932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4206240" y="1691640"/>
            <a:ext cx="7498080" cy="35661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The text is read on the HHT and matched with the pallets AIS shows at this customer.</a:t>
            </a:r>
            <a:endParaRPr lang="en-US" sz="1700" dirty="0"/>
          </a:p>
          <a:p>
            <a:pPr marL="342900" indent="-342900">
              <a:spcAft>
                <a:spcPts val="1000"/>
              </a:spcAft>
              <a:buSzPct val="100000"/>
              <a:buChar char="•"/>
            </a:pPr>
            <a:r>
              <a:rPr lang="en-US" sz="1700" dirty="0">
                <a:solidFill>
                  <a:schemeClr val="tx1"/>
                </a:solidFill>
              </a:rPr>
              <a:t>Pallet numbers, types with quantity (F - 4) or just a total are understood; DC, vehicle and PIN numbers are ignored.</a:t>
            </a:r>
            <a:endParaRPr lang="en-US" sz="1700" dirty="0"/>
          </a:p>
        </p:txBody>
      </p:sp>
      <p:pic>
        <p:nvPicPr>
          <p:cNvPr id="6" name="Back button" descr="preencoded.png">
            <a:hlinkClick r:id="rId3" tooltip="Back to IN gate - every inward is registered" action="ppaction://hlinksldjump"/>
          </p:cNvPr>
          <p:cNvPicPr>
            <a:picLocks noChangeAspect="1"/>
          </p:cNvPicPr>
          <p:nvPr/>
        </p:nvPicPr>
        <p:blipFill>
          <a:blip r:embed="rId2"/>
          <a:stretch>
            <a:fillRect/>
          </a:stretch>
        </p:blipFill>
        <p:spPr>
          <a:xfrm>
            <a:off x="4206240" y="5715000"/>
            <a:ext cx="420624" cy="420624"/>
          </a:xfrm>
          <a:prstGeom prst="rect">
            <a:avLst/>
          </a:prstGeom>
        </p:spPr>
      </p:pic>
      <p:sp>
        <p:nvSpPr>
          <p:cNvPr id="7" name="Back link"/>
          <p:cNvSpPr txBox="1"/>
          <p:nvPr/>
        </p:nvSpPr>
        <p:spPr>
          <a:xfrm>
            <a:off x="4736592" y="5715000"/>
            <a:ext cx="576072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789920" y="5715000"/>
            <a:ext cx="384048" cy="384048"/>
          </a:xfrm>
          <a:prstGeom prst="rect">
            <a:avLst/>
          </a:prstGeom>
        </p:spPr>
      </p:pic>
      <p:pic>
        <p:nvPicPr>
          <p:cNvPr id="9" name="Next step" descr="preencoded.png">
            <a:hlinkClick r:id="rId8" tooltip="Next step" action="ppaction://hlinksldjump"/>
          </p:cNvPr>
          <p:cNvPicPr>
            <a:picLocks noChangeAspect="1"/>
          </p:cNvPicPr>
          <p:nvPr/>
        </p:nvPicPr>
        <p:blipFill>
          <a:blip r:embed="rId7"/>
          <a:stretch>
            <a:fillRect/>
          </a:stretch>
        </p:blipFill>
        <p:spPr>
          <a:xfrm>
            <a:off x="1129284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Label"/>
          <p:cNvSpPr txBox="1"/>
          <p:nvPr/>
        </p:nvSpPr>
        <p:spPr>
          <a:xfrm>
            <a:off x="4206240" y="457200"/>
            <a:ext cx="7498080" cy="274320"/>
          </a:xfrm>
          <a:prstGeom prst="rect">
            <a:avLst/>
          </a:prstGeom>
          <a:noFill/>
          <a:ln/>
        </p:spPr>
        <p:txBody>
          <a:bodyPr wrap="square" lIns="0" tIns="0" rIns="0" bIns="0" rtlCol="0" anchor="ctr"/>
          <a:lstStyle/>
          <a:p>
            <a:pPr indent="0" marL="0">
              <a:buNone/>
            </a:pPr>
            <a:r>
              <a:rPr lang="en-US" sz="1100" b="1" spc="100" kern="0" dirty="0">
                <a:solidFill>
                  <a:schemeClr val="accent2"/>
                </a:solidFill>
              </a:rPr>
              <a:t>IN GATE - EVERY INWARD IS REGISTERED · STEP 6 OF 9</a:t>
            </a:r>
            <a:endParaRPr lang="en-US" sz="1100" dirty="0"/>
          </a:p>
        </p:txBody>
      </p:sp>
      <p:sp>
        <p:nvSpPr>
          <p:cNvPr id="3" name="Title"/>
          <p:cNvSpPr txBox="1"/>
          <p:nvPr/>
        </p:nvSpPr>
        <p:spPr>
          <a:xfrm>
            <a:off x="4206240" y="777240"/>
            <a:ext cx="7498080" cy="685800"/>
          </a:xfrm>
          <a:prstGeom prst="rect">
            <a:avLst/>
          </a:prstGeom>
          <a:noFill/>
          <a:ln/>
        </p:spPr>
        <p:txBody>
          <a:bodyPr wrap="square" lIns="0" tIns="0" rIns="0" bIns="0" rtlCol="0" anchor="ctr"/>
          <a:lstStyle/>
          <a:p>
            <a:pPr indent="0" marL="0">
              <a:buNone/>
            </a:pPr>
            <a:r>
              <a:rPr lang="en-US" sz="3200" b="1" dirty="0">
                <a:solidFill>
                  <a:schemeClr val="tx2"/>
                </a:solidFill>
              </a:rPr>
              <a:t>Option B slip</a:t>
            </a:r>
            <a:endParaRPr lang="en-US" sz="3200" dirty="0"/>
          </a:p>
        </p:txBody>
      </p:sp>
      <p:pic>
        <p:nvPicPr>
          <p:cNvPr id="4" name="Picture" descr="/tmp/claude-0/-home-claude/604fe074-c4a3-59f5-a7f0-a4d942adf429/scratchpad/deck/img/g07_optB_created.jpg">    </p:cNvPr>
          <p:cNvPicPr>
            <a:picLocks noChangeAspect="1"/>
          </p:cNvPicPr>
          <p:nvPr/>
        </p:nvPicPr>
        <p:blipFill>
          <a:blip r:embed="rId1"/>
          <a:stretch>
            <a:fillRect/>
          </a:stretch>
        </p:blipFill>
        <p:spPr>
          <a:xfrm>
            <a:off x="669206" y="365760"/>
            <a:ext cx="2867827" cy="598932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4206240" y="1691640"/>
            <a:ext cx="7498080" cy="35661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Slip CHN-RTS-000009 is made and gate entry CHN-GE-000008 registered in one step.</a:t>
            </a:r>
            <a:endParaRPr lang="en-US" sz="1700" dirty="0"/>
          </a:p>
          <a:p>
            <a:pPr marL="342900" indent="-342900">
              <a:spcAft>
                <a:spcPts val="1000"/>
              </a:spcAft>
              <a:buSzPct val="100000"/>
              <a:buChar char="•"/>
            </a:pPr>
            <a:r>
              <a:rPr lang="en-US" sz="1700" dirty="0">
                <a:solidFill>
                  <a:schemeClr val="tx1"/>
                </a:solidFill>
              </a:rPr>
              <a:t>The slip (count only) prints on the gate Bluetooth printer; shown here as text because no printer is connected.</a:t>
            </a:r>
            <a:endParaRPr lang="en-US" sz="1700" dirty="0"/>
          </a:p>
        </p:txBody>
      </p:sp>
      <p:pic>
        <p:nvPicPr>
          <p:cNvPr id="6" name="Back button" descr="preencoded.png">
            <a:hlinkClick r:id="rId3" tooltip="Back to IN gate - every inward is registered" action="ppaction://hlinksldjump"/>
          </p:cNvPr>
          <p:cNvPicPr>
            <a:picLocks noChangeAspect="1"/>
          </p:cNvPicPr>
          <p:nvPr/>
        </p:nvPicPr>
        <p:blipFill>
          <a:blip r:embed="rId2"/>
          <a:stretch>
            <a:fillRect/>
          </a:stretch>
        </p:blipFill>
        <p:spPr>
          <a:xfrm>
            <a:off x="4206240" y="5715000"/>
            <a:ext cx="420624" cy="420624"/>
          </a:xfrm>
          <a:prstGeom prst="rect">
            <a:avLst/>
          </a:prstGeom>
        </p:spPr>
      </p:pic>
      <p:sp>
        <p:nvSpPr>
          <p:cNvPr id="7" name="Back link"/>
          <p:cNvSpPr txBox="1"/>
          <p:nvPr/>
        </p:nvSpPr>
        <p:spPr>
          <a:xfrm>
            <a:off x="4736592" y="5715000"/>
            <a:ext cx="576072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789920" y="5715000"/>
            <a:ext cx="384048" cy="384048"/>
          </a:xfrm>
          <a:prstGeom prst="rect">
            <a:avLst/>
          </a:prstGeom>
        </p:spPr>
      </p:pic>
      <p:pic>
        <p:nvPicPr>
          <p:cNvPr id="9" name="Next step" descr="preencoded.png">
            <a:hlinkClick r:id="rId8" tooltip="Next step" action="ppaction://hlinksldjump"/>
          </p:cNvPr>
          <p:cNvPicPr>
            <a:picLocks noChangeAspect="1"/>
          </p:cNvPicPr>
          <p:nvPr/>
        </p:nvPicPr>
        <p:blipFill>
          <a:blip r:embed="rId7"/>
          <a:stretch>
            <a:fillRect/>
          </a:stretch>
        </p:blipFill>
        <p:spPr>
          <a:xfrm>
            <a:off x="1129284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Label"/>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100" kern="0" dirty="0">
                <a:solidFill>
                  <a:schemeClr val="accent2"/>
                </a:solidFill>
              </a:rPr>
              <a:t>IN GATE - EVERY INWARD IS REGISTERED · STEP 7 OF 9</a:t>
            </a:r>
            <a:endParaRPr lang="en-US" sz="1100" dirty="0"/>
          </a:p>
        </p:txBody>
      </p:sp>
      <p:sp>
        <p:nvSpPr>
          <p:cNvPr id="3" name="Title"/>
          <p:cNvSpPr txBox="1"/>
          <p:nvPr/>
        </p:nvSpPr>
        <p:spPr>
          <a:xfrm>
            <a:off x="457200" y="566928"/>
            <a:ext cx="11247120" cy="548640"/>
          </a:xfrm>
          <a:prstGeom prst="rect">
            <a:avLst/>
          </a:prstGeom>
          <a:noFill/>
          <a:ln/>
        </p:spPr>
        <p:txBody>
          <a:bodyPr wrap="square" lIns="0" tIns="0" rIns="0" bIns="0" rtlCol="0" anchor="ctr"/>
          <a:lstStyle/>
          <a:p>
            <a:pPr indent="0" marL="0">
              <a:buNone/>
            </a:pPr>
            <a:r>
              <a:rPr lang="en-US" sz="2800" b="1" dirty="0">
                <a:solidFill>
                  <a:schemeClr val="tx2"/>
                </a:solidFill>
              </a:rPr>
              <a:t>Customer document</a:t>
            </a:r>
            <a:endParaRPr lang="en-US" sz="2800" dirty="0"/>
          </a:p>
        </p:txBody>
      </p:sp>
      <p:pic>
        <p:nvPicPr>
          <p:cNvPr id="4" name="Picture" descr="/tmp/claude-0/-home-claude/604fe074-c4a3-59f5-a7f0-a4d942adf429/scratchpad/deck/img/o_dc_photo.jpg">    </p:cNvPr>
          <p:cNvPicPr>
            <a:picLocks noChangeAspect="1"/>
          </p:cNvPicPr>
          <p:nvPr/>
        </p:nvPicPr>
        <p:blipFill>
          <a:blip r:embed="rId1"/>
          <a:stretch>
            <a:fillRect/>
          </a:stretch>
        </p:blipFill>
        <p:spPr>
          <a:xfrm>
            <a:off x="457200" y="1280160"/>
            <a:ext cx="6644640" cy="498348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8732520" y="1280160"/>
            <a:ext cx="3017520" cy="39319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The photo is stored with the slip for future reference.</a:t>
            </a:r>
            <a:endParaRPr lang="en-US" sz="1400" dirty="0"/>
          </a:p>
          <a:p>
            <a:pPr marL="342900" indent="-342900">
              <a:spcAft>
                <a:spcPts val="1000"/>
              </a:spcAft>
              <a:buSzPct val="100000"/>
              <a:buChar char="•"/>
            </a:pPr>
            <a:r>
              <a:rPr lang="en-US" sz="1400" dirty="0">
                <a:solidFill>
                  <a:schemeClr val="tx1"/>
                </a:solidFill>
              </a:rPr>
              <a:t>The pallet yard sees it on the HHT while receiving, and the web shows it in the slip details.</a:t>
            </a:r>
            <a:endParaRPr lang="en-US" sz="1400" dirty="0"/>
          </a:p>
        </p:txBody>
      </p:sp>
      <p:pic>
        <p:nvPicPr>
          <p:cNvPr id="6" name="Back button" descr="preencoded.png">
            <a:hlinkClick r:id="rId3" tooltip="Back to IN gate - every inward is registered" action="ppaction://hlinksldjump"/>
          </p:cNvPr>
          <p:cNvPicPr>
            <a:picLocks noChangeAspect="1"/>
          </p:cNvPicPr>
          <p:nvPr/>
        </p:nvPicPr>
        <p:blipFill>
          <a:blip r:embed="rId2"/>
          <a:stretch>
            <a:fillRect/>
          </a:stretch>
        </p:blipFill>
        <p:spPr>
          <a:xfrm>
            <a:off x="8732520" y="5715000"/>
            <a:ext cx="420624" cy="420624"/>
          </a:xfrm>
          <a:prstGeom prst="rect">
            <a:avLst/>
          </a:prstGeom>
        </p:spPr>
      </p:pic>
      <p:sp>
        <p:nvSpPr>
          <p:cNvPr id="7" name="Back link"/>
          <p:cNvSpPr txBox="1"/>
          <p:nvPr/>
        </p:nvSpPr>
        <p:spPr>
          <a:xfrm>
            <a:off x="9262872" y="5715000"/>
            <a:ext cx="137160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835640" y="5715000"/>
            <a:ext cx="384048" cy="384048"/>
          </a:xfrm>
          <a:prstGeom prst="rect">
            <a:avLst/>
          </a:prstGeom>
        </p:spPr>
      </p:pic>
      <p:pic>
        <p:nvPicPr>
          <p:cNvPr id="9" name="Next step" descr="preencoded.png">
            <a:hlinkClick r:id="rId8" tooltip="Next step" action="ppaction://hlinksldjump"/>
          </p:cNvPr>
          <p:cNvPicPr>
            <a:picLocks noChangeAspect="1"/>
          </p:cNvPicPr>
          <p:nvPr/>
        </p:nvPicPr>
        <p:blipFill>
          <a:blip r:embed="rId7"/>
          <a:stretch>
            <a:fillRect/>
          </a:stretch>
        </p:blipFill>
        <p:spPr>
          <a:xfrm>
            <a:off x="1133856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Label"/>
          <p:cNvSpPr txBox="1"/>
          <p:nvPr/>
        </p:nvSpPr>
        <p:spPr>
          <a:xfrm>
            <a:off x="4937760" y="457200"/>
            <a:ext cx="6766560" cy="274320"/>
          </a:xfrm>
          <a:prstGeom prst="rect">
            <a:avLst/>
          </a:prstGeom>
          <a:noFill/>
          <a:ln/>
        </p:spPr>
        <p:txBody>
          <a:bodyPr wrap="square" lIns="0" tIns="0" rIns="0" bIns="0" rtlCol="0" anchor="ctr"/>
          <a:lstStyle/>
          <a:p>
            <a:pPr indent="0" marL="0">
              <a:buNone/>
            </a:pPr>
            <a:r>
              <a:rPr lang="en-US" sz="1100" b="1" spc="100" kern="0" dirty="0">
                <a:solidFill>
                  <a:schemeClr val="accent2"/>
                </a:solidFill>
              </a:rPr>
              <a:t>IN GATE - EVERY INWARD IS REGISTERED · STEP 8 OF 9</a:t>
            </a:r>
            <a:endParaRPr lang="en-US" sz="1100" dirty="0"/>
          </a:p>
        </p:txBody>
      </p:sp>
      <p:sp>
        <p:nvSpPr>
          <p:cNvPr id="3" name="Title"/>
          <p:cNvSpPr txBox="1"/>
          <p:nvPr/>
        </p:nvSpPr>
        <p:spPr>
          <a:xfrm>
            <a:off x="4937760" y="777240"/>
            <a:ext cx="6766560" cy="685800"/>
          </a:xfrm>
          <a:prstGeom prst="rect">
            <a:avLst/>
          </a:prstGeom>
          <a:noFill/>
          <a:ln/>
        </p:spPr>
        <p:txBody>
          <a:bodyPr wrap="square" lIns="0" tIns="0" rIns="0" bIns="0" rtlCol="0" anchor="ctr"/>
          <a:lstStyle/>
          <a:p>
            <a:pPr indent="0" marL="0">
              <a:buNone/>
            </a:pPr>
            <a:r>
              <a:rPr lang="en-US" sz="3200" b="1" dirty="0">
                <a:solidFill>
                  <a:schemeClr val="tx2"/>
                </a:solidFill>
              </a:rPr>
              <a:t>Output: Option B slip</a:t>
            </a:r>
            <a:endParaRPr lang="en-US" sz="3200" dirty="0"/>
          </a:p>
        </p:txBody>
      </p:sp>
      <p:pic>
        <p:nvPicPr>
          <p:cNvPr id="4" name="Picture" descr="/tmp/claude-0/-home-claude/604fe074-c4a3-59f5-a7f0-a4d942adf429/scratchpad/deck/img/o_slipB.jpg">    </p:cNvPr>
          <p:cNvPicPr>
            <a:picLocks noChangeAspect="1"/>
          </p:cNvPicPr>
          <p:nvPr/>
        </p:nvPicPr>
        <p:blipFill>
          <a:blip r:embed="rId1"/>
          <a:stretch>
            <a:fillRect/>
          </a:stretch>
        </p:blipFill>
        <p:spPr>
          <a:xfrm>
            <a:off x="548640" y="411979"/>
            <a:ext cx="3840480" cy="5896882"/>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4937760" y="1691640"/>
            <a:ext cx="6766560" cy="35661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Option B slip shows the number of pallets only - no pallet list.</a:t>
            </a:r>
            <a:endParaRPr lang="en-US" sz="1700" dirty="0"/>
          </a:p>
          <a:p>
            <a:pPr marL="342900" indent="-342900">
              <a:spcAft>
                <a:spcPts val="1000"/>
              </a:spcAft>
              <a:buSzPct val="100000"/>
              <a:buChar char="•"/>
            </a:pPr>
            <a:r>
              <a:rPr lang="en-US" sz="1700" dirty="0">
                <a:solidFill>
                  <a:schemeClr val="tx1"/>
                </a:solidFill>
              </a:rPr>
              <a:t>It is scanned and knocked off at pallet-yard receiving.</a:t>
            </a:r>
            <a:endParaRPr lang="en-US" sz="1700" dirty="0"/>
          </a:p>
        </p:txBody>
      </p:sp>
      <p:pic>
        <p:nvPicPr>
          <p:cNvPr id="6" name="Back button" descr="preencoded.png">
            <a:hlinkClick r:id="rId3" tooltip="Back to IN gate - every inward is registered" action="ppaction://hlinksldjump"/>
          </p:cNvPr>
          <p:cNvPicPr>
            <a:picLocks noChangeAspect="1"/>
          </p:cNvPicPr>
          <p:nvPr/>
        </p:nvPicPr>
        <p:blipFill>
          <a:blip r:embed="rId2"/>
          <a:stretch>
            <a:fillRect/>
          </a:stretch>
        </p:blipFill>
        <p:spPr>
          <a:xfrm>
            <a:off x="4937760" y="5715000"/>
            <a:ext cx="420624" cy="420624"/>
          </a:xfrm>
          <a:prstGeom prst="rect">
            <a:avLst/>
          </a:prstGeom>
        </p:spPr>
      </p:pic>
      <p:sp>
        <p:nvSpPr>
          <p:cNvPr id="7" name="Back link"/>
          <p:cNvSpPr txBox="1"/>
          <p:nvPr/>
        </p:nvSpPr>
        <p:spPr>
          <a:xfrm>
            <a:off x="5468112" y="5715000"/>
            <a:ext cx="502920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789920" y="5715000"/>
            <a:ext cx="384048" cy="384048"/>
          </a:xfrm>
          <a:prstGeom prst="rect">
            <a:avLst/>
          </a:prstGeom>
        </p:spPr>
      </p:pic>
      <p:pic>
        <p:nvPicPr>
          <p:cNvPr id="9" name="Next step" descr="preencoded.png">
            <a:hlinkClick r:id="rId8" tooltip="Next step" action="ppaction://hlinksldjump"/>
          </p:cNvPr>
          <p:cNvPicPr>
            <a:picLocks noChangeAspect="1"/>
          </p:cNvPicPr>
          <p:nvPr/>
        </p:nvPicPr>
        <p:blipFill>
          <a:blip r:embed="rId7"/>
          <a:stretch>
            <a:fillRect/>
          </a:stretch>
        </p:blipFill>
        <p:spPr>
          <a:xfrm>
            <a:off x="1129284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Label"/>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100" kern="0" dirty="0">
                <a:solidFill>
                  <a:schemeClr val="accent2"/>
                </a:solidFill>
              </a:rPr>
              <a:t>IN GATE - EVERY INWARD IS REGISTERED · STEP 9 OF 9</a:t>
            </a:r>
            <a:endParaRPr lang="en-US" sz="1100" dirty="0"/>
          </a:p>
        </p:txBody>
      </p:sp>
      <p:sp>
        <p:nvSpPr>
          <p:cNvPr id="3" name="Title"/>
          <p:cNvSpPr txBox="1"/>
          <p:nvPr/>
        </p:nvSpPr>
        <p:spPr>
          <a:xfrm>
            <a:off x="457200" y="566928"/>
            <a:ext cx="11247120" cy="548640"/>
          </a:xfrm>
          <a:prstGeom prst="rect">
            <a:avLst/>
          </a:prstGeom>
          <a:noFill/>
          <a:ln/>
        </p:spPr>
        <p:txBody>
          <a:bodyPr wrap="square" lIns="0" tIns="0" rIns="0" bIns="0" rtlCol="0" anchor="ctr"/>
          <a:lstStyle/>
          <a:p>
            <a:pPr indent="0" marL="0">
              <a:buNone/>
            </a:pPr>
            <a:r>
              <a:rPr lang="en-US" sz="2800" b="1" dirty="0">
                <a:solidFill>
                  <a:schemeClr val="tx2"/>
                </a:solidFill>
              </a:rPr>
              <a:t>Gate inward register (web)</a:t>
            </a:r>
            <a:endParaRPr lang="en-US" sz="2800" dirty="0"/>
          </a:p>
        </p:txBody>
      </p:sp>
      <p:pic>
        <p:nvPicPr>
          <p:cNvPr id="4" name="Picture" descr="/tmp/claude-0/-home-claude/604fe074-c4a3-59f5-a7f0-a4d942adf429/scratchpad/deck/img/w04_gate_register_chn.jpg">    </p:cNvPr>
          <p:cNvPicPr>
            <a:picLocks noChangeAspect="1"/>
          </p:cNvPicPr>
          <p:nvPr/>
        </p:nvPicPr>
        <p:blipFill>
          <a:blip r:embed="rId1"/>
          <a:stretch>
            <a:fillRect/>
          </a:stretch>
        </p:blipFill>
        <p:spPr>
          <a:xfrm>
            <a:off x="457200" y="1280160"/>
            <a:ext cx="7955280" cy="497439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8732520" y="1280160"/>
            <a:ext cx="3017520" cy="39319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Operations › Gate Inward Register: every inward vehicle - Option A scanned, Option B made at gate, other-plant challan - with gate entry, GCS-IN and yard status.</a:t>
            </a:r>
            <a:endParaRPr lang="en-US" sz="1400" dirty="0"/>
          </a:p>
          <a:p>
            <a:pPr marL="342900" indent="-342900">
              <a:spcAft>
                <a:spcPts val="1000"/>
              </a:spcAft>
              <a:buSzPct val="100000"/>
              <a:buChar char="•"/>
            </a:pPr>
            <a:r>
              <a:rPr lang="en-US" sz="1400" dirty="0">
                <a:solidFill>
                  <a:schemeClr val="tx1"/>
                </a:solidFill>
              </a:rPr>
              <a:t>Today / 7 / 30 / 90 days.</a:t>
            </a:r>
            <a:endParaRPr lang="en-US" sz="1400" dirty="0"/>
          </a:p>
        </p:txBody>
      </p:sp>
      <p:pic>
        <p:nvPicPr>
          <p:cNvPr id="6" name="Back button" descr="preencoded.png">
            <a:hlinkClick r:id="rId3" tooltip="Back to IN gate - every inward is registered" action="ppaction://hlinksldjump"/>
          </p:cNvPr>
          <p:cNvPicPr>
            <a:picLocks noChangeAspect="1"/>
          </p:cNvPicPr>
          <p:nvPr/>
        </p:nvPicPr>
        <p:blipFill>
          <a:blip r:embed="rId2"/>
          <a:stretch>
            <a:fillRect/>
          </a:stretch>
        </p:blipFill>
        <p:spPr>
          <a:xfrm>
            <a:off x="8732520" y="5715000"/>
            <a:ext cx="420624" cy="420624"/>
          </a:xfrm>
          <a:prstGeom prst="rect">
            <a:avLst/>
          </a:prstGeom>
        </p:spPr>
      </p:pic>
      <p:sp>
        <p:nvSpPr>
          <p:cNvPr id="7" name="Back link"/>
          <p:cNvSpPr txBox="1"/>
          <p:nvPr/>
        </p:nvSpPr>
        <p:spPr>
          <a:xfrm>
            <a:off x="9262872" y="5715000"/>
            <a:ext cx="137160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835640" y="5715000"/>
            <a:ext cx="384048" cy="384048"/>
          </a:xfrm>
          <a:prstGeom prst="rect">
            <a:avLst/>
          </a:prstGeom>
        </p:spPr>
      </p:pic>
      <p:pic>
        <p:nvPicPr>
          <p:cNvPr id="9" name="Next step" descr="preencoded.png">    </p:cNvPr>
          <p:cNvPicPr>
            <a:picLocks noChangeAspect="1"/>
          </p:cNvPicPr>
          <p:nvPr/>
        </p:nvPicPr>
        <p:blipFill>
          <a:blip r:embed="rId7"/>
          <a:stretch>
            <a:fillRect/>
          </a:stretch>
        </p:blipFill>
        <p:spPr>
          <a:xfrm>
            <a:off x="1133856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Label"/>
          <p:cNvSpPr txBox="1"/>
          <p:nvPr/>
        </p:nvSpPr>
        <p:spPr>
          <a:xfrm>
            <a:off x="4206240" y="457200"/>
            <a:ext cx="7498080" cy="274320"/>
          </a:xfrm>
          <a:prstGeom prst="rect">
            <a:avLst/>
          </a:prstGeom>
          <a:noFill/>
          <a:ln/>
        </p:spPr>
        <p:txBody>
          <a:bodyPr wrap="square" lIns="0" tIns="0" rIns="0" bIns="0" rtlCol="0" anchor="ctr"/>
          <a:lstStyle/>
          <a:p>
            <a:pPr indent="0" marL="0">
              <a:buNone/>
            </a:pPr>
            <a:r>
              <a:rPr lang="en-US" sz="1100" b="1" spc="100" kern="0" dirty="0">
                <a:solidFill>
                  <a:schemeClr val="accent5"/>
                </a:solidFill>
              </a:rPr>
              <a:t>PALLET YARD IN-WARD · STEP 1 OF 6</a:t>
            </a:r>
            <a:endParaRPr lang="en-US" sz="1100" dirty="0"/>
          </a:p>
        </p:txBody>
      </p:sp>
      <p:sp>
        <p:nvSpPr>
          <p:cNvPr id="3" name="Title"/>
          <p:cNvSpPr txBox="1"/>
          <p:nvPr/>
        </p:nvSpPr>
        <p:spPr>
          <a:xfrm>
            <a:off x="4206240" y="777240"/>
            <a:ext cx="7498080" cy="685800"/>
          </a:xfrm>
          <a:prstGeom prst="rect">
            <a:avLst/>
          </a:prstGeom>
          <a:noFill/>
          <a:ln/>
        </p:spPr>
        <p:txBody>
          <a:bodyPr wrap="square" lIns="0" tIns="0" rIns="0" bIns="0" rtlCol="0" anchor="ctr"/>
          <a:lstStyle/>
          <a:p>
            <a:pPr indent="0" marL="0">
              <a:buNone/>
            </a:pPr>
            <a:r>
              <a:rPr lang="en-US" sz="3200" b="1" dirty="0">
                <a:solidFill>
                  <a:schemeClr val="tx2"/>
                </a:solidFill>
              </a:rPr>
              <a:t>Slips to receive</a:t>
            </a:r>
            <a:endParaRPr lang="en-US" sz="3200" dirty="0"/>
          </a:p>
        </p:txBody>
      </p:sp>
      <p:pic>
        <p:nvPicPr>
          <p:cNvPr id="4" name="Picture" descr="/tmp/claude-0/-home-claude/604fe074-c4a3-59f5-a7f0-a4d942adf429/scratchpad/deck/img/y01_list.jpg">    </p:cNvPr>
          <p:cNvPicPr>
            <a:picLocks noChangeAspect="1"/>
          </p:cNvPicPr>
          <p:nvPr/>
        </p:nvPicPr>
        <p:blipFill>
          <a:blip r:embed="rId1"/>
          <a:stretch>
            <a:fillRect/>
          </a:stretch>
        </p:blipFill>
        <p:spPr>
          <a:xfrm>
            <a:off x="669206" y="365760"/>
            <a:ext cx="2867827" cy="598932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4206240" y="1691640"/>
            <a:ext cx="7498080" cy="35661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Yard In-ward lists the open slips with their type: "Option A · 2 pallets listed", "Option B · count 2 + document photo".</a:t>
            </a:r>
            <a:endParaRPr lang="en-US" sz="1700" dirty="0"/>
          </a:p>
          <a:p>
            <a:pPr marL="342900" indent="-342900">
              <a:spcAft>
                <a:spcPts val="1000"/>
              </a:spcAft>
              <a:buSzPct val="100000"/>
              <a:buChar char="•"/>
            </a:pPr>
            <a:r>
              <a:rPr lang="en-US" sz="1700" dirty="0">
                <a:solidFill>
                  <a:schemeClr val="tx1"/>
                </a:solidFill>
              </a:rPr>
              <a:t>Scan the slip QR or tap a slip.</a:t>
            </a:r>
            <a:endParaRPr lang="en-US" sz="1700" dirty="0"/>
          </a:p>
        </p:txBody>
      </p:sp>
      <p:pic>
        <p:nvPicPr>
          <p:cNvPr id="6" name="Back button" descr="preencoded.png">
            <a:hlinkClick r:id="rId3" tooltip="Back to Pallet yard in-ward" action="ppaction://hlinksldjump"/>
          </p:cNvPr>
          <p:cNvPicPr>
            <a:picLocks noChangeAspect="1"/>
          </p:cNvPicPr>
          <p:nvPr/>
        </p:nvPicPr>
        <p:blipFill>
          <a:blip r:embed="rId2"/>
          <a:stretch>
            <a:fillRect/>
          </a:stretch>
        </p:blipFill>
        <p:spPr>
          <a:xfrm>
            <a:off x="4206240" y="5715000"/>
            <a:ext cx="420624" cy="420624"/>
          </a:xfrm>
          <a:prstGeom prst="rect">
            <a:avLst/>
          </a:prstGeom>
        </p:spPr>
      </p:pic>
      <p:sp>
        <p:nvSpPr>
          <p:cNvPr id="7" name="Back link"/>
          <p:cNvSpPr txBox="1"/>
          <p:nvPr/>
        </p:nvSpPr>
        <p:spPr>
          <a:xfrm>
            <a:off x="4736592" y="5715000"/>
            <a:ext cx="576072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p:cNvPr>
          <p:cNvPicPr>
            <a:picLocks noChangeAspect="1"/>
          </p:cNvPicPr>
          <p:nvPr/>
        </p:nvPicPr>
        <p:blipFill>
          <a:blip r:embed="rId5"/>
          <a:stretch>
            <a:fillRect/>
          </a:stretch>
        </p:blipFill>
        <p:spPr>
          <a:xfrm>
            <a:off x="10789920" y="5715000"/>
            <a:ext cx="384048" cy="384048"/>
          </a:xfrm>
          <a:prstGeom prst="rect">
            <a:avLst/>
          </a:prstGeom>
        </p:spPr>
      </p:pic>
      <p:pic>
        <p:nvPicPr>
          <p:cNvPr id="9" name="Next step" descr="preencoded.png">
            <a:hlinkClick r:id="rId7" tooltip="Next step" action="ppaction://hlinksldjump"/>
          </p:cNvPr>
          <p:cNvPicPr>
            <a:picLocks noChangeAspect="1"/>
          </p:cNvPicPr>
          <p:nvPr/>
        </p:nvPicPr>
        <p:blipFill>
          <a:blip r:embed="rId6"/>
          <a:stretch>
            <a:fillRect/>
          </a:stretch>
        </p:blipFill>
        <p:spPr>
          <a:xfrm>
            <a:off x="1129284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Label"/>
          <p:cNvSpPr txBox="1"/>
          <p:nvPr/>
        </p:nvSpPr>
        <p:spPr>
          <a:xfrm>
            <a:off x="4206240" y="457200"/>
            <a:ext cx="7498080" cy="274320"/>
          </a:xfrm>
          <a:prstGeom prst="rect">
            <a:avLst/>
          </a:prstGeom>
          <a:noFill/>
          <a:ln/>
        </p:spPr>
        <p:txBody>
          <a:bodyPr wrap="square" lIns="0" tIns="0" rIns="0" bIns="0" rtlCol="0" anchor="ctr"/>
          <a:lstStyle/>
          <a:p>
            <a:pPr indent="0" marL="0">
              <a:buNone/>
            </a:pPr>
            <a:r>
              <a:rPr lang="en-US" sz="1100" b="1" spc="100" kern="0" dirty="0">
                <a:solidFill>
                  <a:schemeClr val="accent5"/>
                </a:solidFill>
              </a:rPr>
              <a:t>PALLET YARD IN-WARD · STEP 2 OF 6</a:t>
            </a:r>
            <a:endParaRPr lang="en-US" sz="1100" dirty="0"/>
          </a:p>
        </p:txBody>
      </p:sp>
      <p:sp>
        <p:nvSpPr>
          <p:cNvPr id="3" name="Title"/>
          <p:cNvSpPr txBox="1"/>
          <p:nvPr/>
        </p:nvSpPr>
        <p:spPr>
          <a:xfrm>
            <a:off x="4206240" y="777240"/>
            <a:ext cx="7498080" cy="685800"/>
          </a:xfrm>
          <a:prstGeom prst="rect">
            <a:avLst/>
          </a:prstGeom>
          <a:noFill/>
          <a:ln/>
        </p:spPr>
        <p:txBody>
          <a:bodyPr wrap="square" lIns="0" tIns="0" rIns="0" bIns="0" rtlCol="0" anchor="ctr"/>
          <a:lstStyle/>
          <a:p>
            <a:pPr indent="0" marL="0">
              <a:buNone/>
            </a:pPr>
            <a:r>
              <a:rPr lang="en-US" sz="3200" b="1" dirty="0">
                <a:solidFill>
                  <a:schemeClr val="tx2"/>
                </a:solidFill>
              </a:rPr>
              <a:t>Option A: steps</a:t>
            </a:r>
            <a:endParaRPr lang="en-US" sz="3200" dirty="0"/>
          </a:p>
        </p:txBody>
      </p:sp>
      <p:pic>
        <p:nvPicPr>
          <p:cNvPr id="4" name="Picture" descr="/tmp/claude-0/-home-claude/604fe074-c4a3-59f5-a7f0-a4d942adf429/scratchpad/deck/img/y02_slipA_open.jpg">    </p:cNvPr>
          <p:cNvPicPr>
            <a:picLocks noChangeAspect="1"/>
          </p:cNvPicPr>
          <p:nvPr/>
        </p:nvPicPr>
        <p:blipFill>
          <a:blip r:embed="rId1"/>
          <a:stretch>
            <a:fillRect/>
          </a:stretch>
        </p:blipFill>
        <p:spPr>
          <a:xfrm>
            <a:off x="669206" y="365760"/>
            <a:ext cx="2867827" cy="598932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4206240" y="1691640"/>
            <a:ext cx="7498080" cy="35661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Banner: OPTION A - customer return slip with pallet list.</a:t>
            </a:r>
            <a:endParaRPr lang="en-US" sz="1700" dirty="0"/>
          </a:p>
          <a:p>
            <a:pPr marL="342900" indent="-342900">
              <a:spcAft>
                <a:spcPts val="1000"/>
              </a:spcAft>
              <a:buSzPct val="100000"/>
              <a:buChar char="•"/>
            </a:pPr>
            <a:r>
              <a:rPr lang="en-US" sz="1700" dirty="0">
                <a:solidFill>
                  <a:schemeClr val="tx1"/>
                </a:solidFill>
              </a:rPr>
              <a:t>1 Scan each pallet · 2 Reconcile with the slip · 3 Close.</a:t>
            </a:r>
            <a:endParaRPr lang="en-US" sz="1700" dirty="0"/>
          </a:p>
          <a:p>
            <a:pPr marL="342900" indent="-342900">
              <a:spcAft>
                <a:spcPts val="1000"/>
              </a:spcAft>
              <a:buSzPct val="100000"/>
              <a:buChar char="•"/>
            </a:pPr>
            <a:r>
              <a:rPr lang="en-US" sz="1700" dirty="0">
                <a:solidFill>
                  <a:schemeClr val="tx1"/>
                </a:solidFill>
              </a:rPr>
              <a:t>Pallets on the slip not yet received are listed below.</a:t>
            </a:r>
            <a:endParaRPr lang="en-US" sz="1700" dirty="0"/>
          </a:p>
        </p:txBody>
      </p:sp>
      <p:pic>
        <p:nvPicPr>
          <p:cNvPr id="6" name="Back button" descr="preencoded.png">
            <a:hlinkClick r:id="rId3" tooltip="Back to Pallet yard in-ward" action="ppaction://hlinksldjump"/>
          </p:cNvPr>
          <p:cNvPicPr>
            <a:picLocks noChangeAspect="1"/>
          </p:cNvPicPr>
          <p:nvPr/>
        </p:nvPicPr>
        <p:blipFill>
          <a:blip r:embed="rId2"/>
          <a:stretch>
            <a:fillRect/>
          </a:stretch>
        </p:blipFill>
        <p:spPr>
          <a:xfrm>
            <a:off x="4206240" y="5715000"/>
            <a:ext cx="420624" cy="420624"/>
          </a:xfrm>
          <a:prstGeom prst="rect">
            <a:avLst/>
          </a:prstGeom>
        </p:spPr>
      </p:pic>
      <p:sp>
        <p:nvSpPr>
          <p:cNvPr id="7" name="Back link"/>
          <p:cNvSpPr txBox="1"/>
          <p:nvPr/>
        </p:nvSpPr>
        <p:spPr>
          <a:xfrm>
            <a:off x="4736592" y="5715000"/>
            <a:ext cx="576072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789920" y="5715000"/>
            <a:ext cx="384048" cy="384048"/>
          </a:xfrm>
          <a:prstGeom prst="rect">
            <a:avLst/>
          </a:prstGeom>
        </p:spPr>
      </p:pic>
      <p:pic>
        <p:nvPicPr>
          <p:cNvPr id="9" name="Next step" descr="preencoded.png">
            <a:hlinkClick r:id="rId8" tooltip="Next step" action="ppaction://hlinksldjump"/>
          </p:cNvPr>
          <p:cNvPicPr>
            <a:picLocks noChangeAspect="1"/>
          </p:cNvPicPr>
          <p:nvPr/>
        </p:nvPicPr>
        <p:blipFill>
          <a:blip r:embed="rId7"/>
          <a:stretch>
            <a:fillRect/>
          </a:stretch>
        </p:blipFill>
        <p:spPr>
          <a:xfrm>
            <a:off x="1129284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Label"/>
          <p:cNvSpPr txBox="1"/>
          <p:nvPr/>
        </p:nvSpPr>
        <p:spPr>
          <a:xfrm>
            <a:off x="4206240" y="457200"/>
            <a:ext cx="7498080" cy="274320"/>
          </a:xfrm>
          <a:prstGeom prst="rect">
            <a:avLst/>
          </a:prstGeom>
          <a:noFill/>
          <a:ln/>
        </p:spPr>
        <p:txBody>
          <a:bodyPr wrap="square" lIns="0" tIns="0" rIns="0" bIns="0" rtlCol="0" anchor="ctr"/>
          <a:lstStyle/>
          <a:p>
            <a:pPr indent="0" marL="0">
              <a:buNone/>
            </a:pPr>
            <a:r>
              <a:rPr lang="en-US" sz="1100" b="1" spc="100" kern="0" dirty="0">
                <a:solidFill>
                  <a:schemeClr val="accent5"/>
                </a:solidFill>
              </a:rPr>
              <a:t>PALLET YARD IN-WARD · STEP 3 OF 6</a:t>
            </a:r>
            <a:endParaRPr lang="en-US" sz="1100" dirty="0"/>
          </a:p>
        </p:txBody>
      </p:sp>
      <p:sp>
        <p:nvSpPr>
          <p:cNvPr id="3" name="Title"/>
          <p:cNvSpPr txBox="1"/>
          <p:nvPr/>
        </p:nvSpPr>
        <p:spPr>
          <a:xfrm>
            <a:off x="4206240" y="777240"/>
            <a:ext cx="7498080" cy="685800"/>
          </a:xfrm>
          <a:prstGeom prst="rect">
            <a:avLst/>
          </a:prstGeom>
          <a:noFill/>
          <a:ln/>
        </p:spPr>
        <p:txBody>
          <a:bodyPr wrap="square" lIns="0" tIns="0" rIns="0" bIns="0" rtlCol="0" anchor="ctr"/>
          <a:lstStyle/>
          <a:p>
            <a:pPr indent="0" marL="0">
              <a:buNone/>
            </a:pPr>
            <a:r>
              <a:rPr lang="en-US" sz="3200" b="1" dirty="0">
                <a:solidFill>
                  <a:schemeClr val="tx2"/>
                </a:solidFill>
              </a:rPr>
              <a:t>Option A: all matched</a:t>
            </a:r>
            <a:endParaRPr lang="en-US" sz="3200" dirty="0"/>
          </a:p>
        </p:txBody>
      </p:sp>
      <p:pic>
        <p:nvPicPr>
          <p:cNvPr id="4" name="Picture" descr="/tmp/claude-0/-home-claude/604fe074-c4a3-59f5-a7f0-a4d942adf429/scratchpad/deck/img/y03_slipA_all.jpg">    </p:cNvPr>
          <p:cNvPicPr>
            <a:picLocks noChangeAspect="1"/>
          </p:cNvPicPr>
          <p:nvPr/>
        </p:nvPicPr>
        <p:blipFill>
          <a:blip r:embed="rId1"/>
          <a:stretch>
            <a:fillRect/>
          </a:stretch>
        </p:blipFill>
        <p:spPr>
          <a:xfrm>
            <a:off x="669206" y="365760"/>
            <a:ext cx="2867827" cy="598932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4206240" y="1691640"/>
            <a:ext cx="7498080" cy="35661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Both pallets received - all matched. Short or extra pallets would need the supervisor PIN.</a:t>
            </a:r>
            <a:endParaRPr lang="en-US" sz="1700" dirty="0"/>
          </a:p>
        </p:txBody>
      </p:sp>
      <p:pic>
        <p:nvPicPr>
          <p:cNvPr id="6" name="Back button" descr="preencoded.png">
            <a:hlinkClick r:id="rId3" tooltip="Back to Pallet yard in-ward" action="ppaction://hlinksldjump"/>
          </p:cNvPr>
          <p:cNvPicPr>
            <a:picLocks noChangeAspect="1"/>
          </p:cNvPicPr>
          <p:nvPr/>
        </p:nvPicPr>
        <p:blipFill>
          <a:blip r:embed="rId2"/>
          <a:stretch>
            <a:fillRect/>
          </a:stretch>
        </p:blipFill>
        <p:spPr>
          <a:xfrm>
            <a:off x="4206240" y="5715000"/>
            <a:ext cx="420624" cy="420624"/>
          </a:xfrm>
          <a:prstGeom prst="rect">
            <a:avLst/>
          </a:prstGeom>
        </p:spPr>
      </p:pic>
      <p:sp>
        <p:nvSpPr>
          <p:cNvPr id="7" name="Back link"/>
          <p:cNvSpPr txBox="1"/>
          <p:nvPr/>
        </p:nvSpPr>
        <p:spPr>
          <a:xfrm>
            <a:off x="4736592" y="5715000"/>
            <a:ext cx="576072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789920" y="5715000"/>
            <a:ext cx="384048" cy="384048"/>
          </a:xfrm>
          <a:prstGeom prst="rect">
            <a:avLst/>
          </a:prstGeom>
        </p:spPr>
      </p:pic>
      <p:pic>
        <p:nvPicPr>
          <p:cNvPr id="9" name="Next step" descr="preencoded.png">
            <a:hlinkClick r:id="rId8" tooltip="Next step" action="ppaction://hlinksldjump"/>
          </p:cNvPr>
          <p:cNvPicPr>
            <a:picLocks noChangeAspect="1"/>
          </p:cNvPicPr>
          <p:nvPr/>
        </p:nvPicPr>
        <p:blipFill>
          <a:blip r:embed="rId7"/>
          <a:stretch>
            <a:fillRect/>
          </a:stretch>
        </p:blipFill>
        <p:spPr>
          <a:xfrm>
            <a:off x="1129284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Label"/>
          <p:cNvSpPr txBox="1"/>
          <p:nvPr/>
        </p:nvSpPr>
        <p:spPr>
          <a:xfrm>
            <a:off x="4206240" y="457200"/>
            <a:ext cx="7498080" cy="274320"/>
          </a:xfrm>
          <a:prstGeom prst="rect">
            <a:avLst/>
          </a:prstGeom>
          <a:noFill/>
          <a:ln/>
        </p:spPr>
        <p:txBody>
          <a:bodyPr wrap="square" lIns="0" tIns="0" rIns="0" bIns="0" rtlCol="0" anchor="ctr"/>
          <a:lstStyle/>
          <a:p>
            <a:pPr indent="0" marL="0">
              <a:buNone/>
            </a:pPr>
            <a:r>
              <a:rPr lang="en-US" sz="1100" b="1" spc="100" kern="0" dirty="0">
                <a:solidFill>
                  <a:schemeClr val="accent5"/>
                </a:solidFill>
              </a:rPr>
              <a:t>PALLET YARD IN-WARD · STEP 4 OF 6</a:t>
            </a:r>
            <a:endParaRPr lang="en-US" sz="1100" dirty="0"/>
          </a:p>
        </p:txBody>
      </p:sp>
      <p:sp>
        <p:nvSpPr>
          <p:cNvPr id="3" name="Title"/>
          <p:cNvSpPr txBox="1"/>
          <p:nvPr/>
        </p:nvSpPr>
        <p:spPr>
          <a:xfrm>
            <a:off x="4206240" y="777240"/>
            <a:ext cx="7498080" cy="685800"/>
          </a:xfrm>
          <a:prstGeom prst="rect">
            <a:avLst/>
          </a:prstGeom>
          <a:noFill/>
          <a:ln/>
        </p:spPr>
        <p:txBody>
          <a:bodyPr wrap="square" lIns="0" tIns="0" rIns="0" bIns="0" rtlCol="0" anchor="ctr"/>
          <a:lstStyle/>
          <a:p>
            <a:pPr indent="0" marL="0">
              <a:buNone/>
            </a:pPr>
            <a:r>
              <a:rPr lang="en-US" sz="3200" b="1" dirty="0">
                <a:solidFill>
                  <a:schemeClr val="tx2"/>
                </a:solidFill>
              </a:rPr>
              <a:t>Option B: steps</a:t>
            </a:r>
            <a:endParaRPr lang="en-US" sz="3200" dirty="0"/>
          </a:p>
        </p:txBody>
      </p:sp>
      <p:pic>
        <p:nvPicPr>
          <p:cNvPr id="4" name="Picture" descr="/tmp/claude-0/-home-claude/604fe074-c4a3-59f5-a7f0-a4d942adf429/scratchpad/deck/img/y05_slipB_open.jpg">    </p:cNvPr>
          <p:cNvPicPr>
            <a:picLocks noChangeAspect="1"/>
          </p:cNvPicPr>
          <p:nvPr/>
        </p:nvPicPr>
        <p:blipFill>
          <a:blip r:embed="rId1"/>
          <a:stretch>
            <a:fillRect/>
          </a:stretch>
        </p:blipFill>
        <p:spPr>
          <a:xfrm>
            <a:off x="669206" y="365760"/>
            <a:ext cx="2867827" cy="598932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4206240" y="1691640"/>
            <a:ext cx="7498080" cy="35661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Banner: OPTION B - count made at the IN gate.</a:t>
            </a:r>
            <a:endParaRPr lang="en-US" sz="1700" dirty="0"/>
          </a:p>
          <a:p>
            <a:pPr marL="342900" indent="-342900">
              <a:spcAft>
                <a:spcPts val="1000"/>
              </a:spcAft>
              <a:buSzPct val="100000"/>
              <a:buChar char="•"/>
            </a:pPr>
            <a:r>
              <a:rPr lang="en-US" sz="1700" dirty="0">
                <a:solidFill>
                  <a:schemeClr val="tx1"/>
                </a:solidFill>
              </a:rPr>
              <a:t>The customer document bar shows pallet numbers read and the total; the first scan opens the photo.</a:t>
            </a:r>
            <a:endParaRPr lang="en-US" sz="1700" dirty="0"/>
          </a:p>
        </p:txBody>
      </p:sp>
      <p:pic>
        <p:nvPicPr>
          <p:cNvPr id="6" name="Back button" descr="preencoded.png">
            <a:hlinkClick r:id="rId3" tooltip="Back to Pallet yard in-ward" action="ppaction://hlinksldjump"/>
          </p:cNvPr>
          <p:cNvPicPr>
            <a:picLocks noChangeAspect="1"/>
          </p:cNvPicPr>
          <p:nvPr/>
        </p:nvPicPr>
        <p:blipFill>
          <a:blip r:embed="rId2"/>
          <a:stretch>
            <a:fillRect/>
          </a:stretch>
        </p:blipFill>
        <p:spPr>
          <a:xfrm>
            <a:off x="4206240" y="5715000"/>
            <a:ext cx="420624" cy="420624"/>
          </a:xfrm>
          <a:prstGeom prst="rect">
            <a:avLst/>
          </a:prstGeom>
        </p:spPr>
      </p:pic>
      <p:sp>
        <p:nvSpPr>
          <p:cNvPr id="7" name="Back link"/>
          <p:cNvSpPr txBox="1"/>
          <p:nvPr/>
        </p:nvSpPr>
        <p:spPr>
          <a:xfrm>
            <a:off x="4736592" y="5715000"/>
            <a:ext cx="576072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789920" y="5715000"/>
            <a:ext cx="384048" cy="384048"/>
          </a:xfrm>
          <a:prstGeom prst="rect">
            <a:avLst/>
          </a:prstGeom>
        </p:spPr>
      </p:pic>
      <p:pic>
        <p:nvPicPr>
          <p:cNvPr id="9" name="Next step" descr="preencoded.png">
            <a:hlinkClick r:id="rId8" tooltip="Next step" action="ppaction://hlinksldjump"/>
          </p:cNvPr>
          <p:cNvPicPr>
            <a:picLocks noChangeAspect="1"/>
          </p:cNvPicPr>
          <p:nvPr/>
        </p:nvPicPr>
        <p:blipFill>
          <a:blip r:embed="rId7"/>
          <a:stretch>
            <a:fillRect/>
          </a:stretch>
        </p:blipFill>
        <p:spPr>
          <a:xfrm>
            <a:off x="1129284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Label"/>
          <p:cNvSpPr txBox="1"/>
          <p:nvPr/>
        </p:nvSpPr>
        <p:spPr>
          <a:xfrm>
            <a:off x="4206240" y="457200"/>
            <a:ext cx="7498080" cy="274320"/>
          </a:xfrm>
          <a:prstGeom prst="rect">
            <a:avLst/>
          </a:prstGeom>
          <a:noFill/>
          <a:ln/>
        </p:spPr>
        <p:txBody>
          <a:bodyPr wrap="square" lIns="0" tIns="0" rIns="0" bIns="0" rtlCol="0" anchor="ctr"/>
          <a:lstStyle/>
          <a:p>
            <a:pPr indent="0" marL="0">
              <a:buNone/>
            </a:pPr>
            <a:r>
              <a:rPr lang="en-US" sz="1100" b="1" spc="100" kern="0" dirty="0">
                <a:solidFill>
                  <a:schemeClr val="accent5"/>
                </a:solidFill>
              </a:rPr>
              <a:t>PALLET YARD IN-WARD · STEP 5 OF 6</a:t>
            </a:r>
            <a:endParaRPr lang="en-US" sz="1100" dirty="0"/>
          </a:p>
        </p:txBody>
      </p:sp>
      <p:sp>
        <p:nvSpPr>
          <p:cNvPr id="3" name="Title"/>
          <p:cNvSpPr txBox="1"/>
          <p:nvPr/>
        </p:nvSpPr>
        <p:spPr>
          <a:xfrm>
            <a:off x="4206240" y="777240"/>
            <a:ext cx="7498080" cy="685800"/>
          </a:xfrm>
          <a:prstGeom prst="rect">
            <a:avLst/>
          </a:prstGeom>
          <a:noFill/>
          <a:ln/>
        </p:spPr>
        <p:txBody>
          <a:bodyPr wrap="square" lIns="0" tIns="0" rIns="0" bIns="0" rtlCol="0" anchor="ctr"/>
          <a:lstStyle/>
          <a:p>
            <a:pPr indent="0" marL="0">
              <a:buNone/>
            </a:pPr>
            <a:r>
              <a:rPr lang="en-US" sz="3200" b="1" dirty="0">
                <a:solidFill>
                  <a:schemeClr val="tx2"/>
                </a:solidFill>
              </a:rPr>
              <a:t>Option B: view document</a:t>
            </a:r>
            <a:endParaRPr lang="en-US" sz="3200" dirty="0"/>
          </a:p>
        </p:txBody>
      </p:sp>
      <p:pic>
        <p:nvPicPr>
          <p:cNvPr id="4" name="Picture" descr="/tmp/claude-0/-home-claude/604fe074-c4a3-59f5-a7f0-a4d942adf429/scratchpad/deck/img/y06_slipB_doc_view.jpg">    </p:cNvPr>
          <p:cNvPicPr>
            <a:picLocks noChangeAspect="1"/>
          </p:cNvPicPr>
          <p:nvPr/>
        </p:nvPicPr>
        <p:blipFill>
          <a:blip r:embed="rId1"/>
          <a:stretch>
            <a:fillRect/>
          </a:stretch>
        </p:blipFill>
        <p:spPr>
          <a:xfrm>
            <a:off x="669206" y="365760"/>
            <a:ext cx="2867827" cy="598932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4206240" y="1691640"/>
            <a:ext cx="7498080" cy="35661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The photo taken at the IN gate, with zoom.</a:t>
            </a:r>
            <a:endParaRPr lang="en-US" sz="1700" dirty="0"/>
          </a:p>
          <a:p>
            <a:pPr marL="342900" indent="-342900">
              <a:spcAft>
                <a:spcPts val="1000"/>
              </a:spcAft>
              <a:buSzPct val="100000"/>
              <a:buChar char="•"/>
            </a:pPr>
            <a:r>
              <a:rPr lang="en-US" sz="1700" dirty="0">
                <a:solidFill>
                  <a:schemeClr val="tx1"/>
                </a:solidFill>
              </a:rPr>
              <a:t>Scanning starts after the document has been viewed.</a:t>
            </a:r>
            <a:endParaRPr lang="en-US" sz="1700" dirty="0"/>
          </a:p>
        </p:txBody>
      </p:sp>
      <p:pic>
        <p:nvPicPr>
          <p:cNvPr id="6" name="Back button" descr="preencoded.png">
            <a:hlinkClick r:id="rId3" tooltip="Back to Pallet yard in-ward" action="ppaction://hlinksldjump"/>
          </p:cNvPr>
          <p:cNvPicPr>
            <a:picLocks noChangeAspect="1"/>
          </p:cNvPicPr>
          <p:nvPr/>
        </p:nvPicPr>
        <p:blipFill>
          <a:blip r:embed="rId2"/>
          <a:stretch>
            <a:fillRect/>
          </a:stretch>
        </p:blipFill>
        <p:spPr>
          <a:xfrm>
            <a:off x="4206240" y="5715000"/>
            <a:ext cx="420624" cy="420624"/>
          </a:xfrm>
          <a:prstGeom prst="rect">
            <a:avLst/>
          </a:prstGeom>
        </p:spPr>
      </p:pic>
      <p:sp>
        <p:nvSpPr>
          <p:cNvPr id="7" name="Back link"/>
          <p:cNvSpPr txBox="1"/>
          <p:nvPr/>
        </p:nvSpPr>
        <p:spPr>
          <a:xfrm>
            <a:off x="4736592" y="5715000"/>
            <a:ext cx="576072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789920" y="5715000"/>
            <a:ext cx="384048" cy="384048"/>
          </a:xfrm>
          <a:prstGeom prst="rect">
            <a:avLst/>
          </a:prstGeom>
        </p:spPr>
      </p:pic>
      <p:pic>
        <p:nvPicPr>
          <p:cNvPr id="9" name="Next step" descr="preencoded.png">
            <a:hlinkClick r:id="rId8" tooltip="Next step" action="ppaction://hlinksldjump"/>
          </p:cNvPr>
          <p:cNvPicPr>
            <a:picLocks noChangeAspect="1"/>
          </p:cNvPicPr>
          <p:nvPr/>
        </p:nvPicPr>
        <p:blipFill>
          <a:blip r:embed="rId7"/>
          <a:stretch>
            <a:fillRect/>
          </a:stretch>
        </p:blipFill>
        <p:spPr>
          <a:xfrm>
            <a:off x="1129284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Label"/>
          <p:cNvSpPr txBox="1"/>
          <p:nvPr/>
        </p:nvSpPr>
        <p:spPr>
          <a:xfrm>
            <a:off x="4206240" y="457200"/>
            <a:ext cx="7498080" cy="274320"/>
          </a:xfrm>
          <a:prstGeom prst="rect">
            <a:avLst/>
          </a:prstGeom>
          <a:noFill/>
          <a:ln/>
        </p:spPr>
        <p:txBody>
          <a:bodyPr wrap="square" lIns="0" tIns="0" rIns="0" bIns="0" rtlCol="0" anchor="ctr"/>
          <a:lstStyle/>
          <a:p>
            <a:pPr indent="0" marL="0">
              <a:buNone/>
            </a:pPr>
            <a:r>
              <a:rPr lang="en-US" sz="1100" b="1" spc="100" kern="0" dirty="0">
                <a:solidFill>
                  <a:schemeClr val="accent5"/>
                </a:solidFill>
              </a:rPr>
              <a:t>PALLET YARD IN-WARD · STEP 6 OF 6</a:t>
            </a:r>
            <a:endParaRPr lang="en-US" sz="1100" dirty="0"/>
          </a:p>
        </p:txBody>
      </p:sp>
      <p:sp>
        <p:nvSpPr>
          <p:cNvPr id="3" name="Title"/>
          <p:cNvSpPr txBox="1"/>
          <p:nvPr/>
        </p:nvSpPr>
        <p:spPr>
          <a:xfrm>
            <a:off x="4206240" y="777240"/>
            <a:ext cx="7498080" cy="685800"/>
          </a:xfrm>
          <a:prstGeom prst="rect">
            <a:avLst/>
          </a:prstGeom>
          <a:noFill/>
          <a:ln/>
        </p:spPr>
        <p:txBody>
          <a:bodyPr wrap="square" lIns="0" tIns="0" rIns="0" bIns="0" rtlCol="0" anchor="ctr"/>
          <a:lstStyle/>
          <a:p>
            <a:pPr indent="0" marL="0">
              <a:buNone/>
            </a:pPr>
            <a:r>
              <a:rPr lang="en-US" sz="3200" b="1" dirty="0">
                <a:solidFill>
                  <a:schemeClr val="tx2"/>
                </a:solidFill>
              </a:rPr>
              <a:t>Option B: count matches</a:t>
            </a:r>
            <a:endParaRPr lang="en-US" sz="3200" dirty="0"/>
          </a:p>
        </p:txBody>
      </p:sp>
      <p:pic>
        <p:nvPicPr>
          <p:cNvPr id="4" name="Picture" descr="/tmp/claude-0/-home-claude/604fe074-c4a3-59f5-a7f0-a4d942adf429/scratchpad/deck/img/y08_slipB_2of2.jpg">    </p:cNvPr>
          <p:cNvPicPr>
            <a:picLocks noChangeAspect="1"/>
          </p:cNvPicPr>
          <p:nvPr/>
        </p:nvPicPr>
        <p:blipFill>
          <a:blip r:embed="rId1"/>
          <a:stretch>
            <a:fillRect/>
          </a:stretch>
        </p:blipFill>
        <p:spPr>
          <a:xfrm>
            <a:off x="669206" y="365760"/>
            <a:ext cx="2867827" cy="598932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4206240" y="1691640"/>
            <a:ext cx="7498080" cy="35661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Each pallet is marked "on doc" when it is on the customer document.</a:t>
            </a:r>
            <a:endParaRPr lang="en-US" sz="1700" dirty="0"/>
          </a:p>
          <a:p>
            <a:pPr marL="342900" indent="-342900">
              <a:spcAft>
                <a:spcPts val="1000"/>
              </a:spcAft>
              <a:buSzPct val="100000"/>
              <a:buChar char="•"/>
            </a:pPr>
            <a:r>
              <a:rPr lang="en-US" sz="1700" dirty="0">
                <a:solidFill>
                  <a:schemeClr val="tx1"/>
                </a:solidFill>
              </a:rPr>
              <a:t>Count 2 = gate count 2: closes without PIN. A difference needs the supervisor PIN.</a:t>
            </a:r>
            <a:endParaRPr lang="en-US" sz="1700" dirty="0"/>
          </a:p>
        </p:txBody>
      </p:sp>
      <p:pic>
        <p:nvPicPr>
          <p:cNvPr id="6" name="Back button" descr="preencoded.png">
            <a:hlinkClick r:id="rId3" tooltip="Back to Pallet yard in-ward" action="ppaction://hlinksldjump"/>
          </p:cNvPr>
          <p:cNvPicPr>
            <a:picLocks noChangeAspect="1"/>
          </p:cNvPicPr>
          <p:nvPr/>
        </p:nvPicPr>
        <p:blipFill>
          <a:blip r:embed="rId2"/>
          <a:stretch>
            <a:fillRect/>
          </a:stretch>
        </p:blipFill>
        <p:spPr>
          <a:xfrm>
            <a:off x="4206240" y="5715000"/>
            <a:ext cx="420624" cy="420624"/>
          </a:xfrm>
          <a:prstGeom prst="rect">
            <a:avLst/>
          </a:prstGeom>
        </p:spPr>
      </p:pic>
      <p:sp>
        <p:nvSpPr>
          <p:cNvPr id="7" name="Back link"/>
          <p:cNvSpPr txBox="1"/>
          <p:nvPr/>
        </p:nvSpPr>
        <p:spPr>
          <a:xfrm>
            <a:off x="4736592" y="5715000"/>
            <a:ext cx="576072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789920" y="5715000"/>
            <a:ext cx="384048" cy="384048"/>
          </a:xfrm>
          <a:prstGeom prst="rect">
            <a:avLst/>
          </a:prstGeom>
        </p:spPr>
      </p:pic>
      <p:pic>
        <p:nvPicPr>
          <p:cNvPr id="9" name="Next step" descr="preencoded.png">    </p:cNvPr>
          <p:cNvPicPr>
            <a:picLocks noChangeAspect="1"/>
          </p:cNvPicPr>
          <p:nvPr/>
        </p:nvPicPr>
        <p:blipFill>
          <a:blip r:embed="rId7"/>
          <a:stretch>
            <a:fillRect/>
          </a:stretch>
        </p:blipFill>
        <p:spPr>
          <a:xfrm>
            <a:off x="1129284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Label"/>
          <p:cNvSpPr txBox="1"/>
          <p:nvPr/>
        </p:nvSpPr>
        <p:spPr>
          <a:xfrm>
            <a:off x="4206240" y="457200"/>
            <a:ext cx="7498080" cy="274320"/>
          </a:xfrm>
          <a:prstGeom prst="rect">
            <a:avLst/>
          </a:prstGeom>
          <a:noFill/>
          <a:ln/>
        </p:spPr>
        <p:txBody>
          <a:bodyPr wrap="square" lIns="0" tIns="0" rIns="0" bIns="0" rtlCol="0" anchor="ctr"/>
          <a:lstStyle/>
          <a:p>
            <a:pPr indent="0" marL="0">
              <a:buNone/>
            </a:pPr>
            <a:r>
              <a:rPr lang="en-US" sz="1100" b="1" spc="100" kern="0" dirty="0">
                <a:solidFill>
                  <a:schemeClr val="accent4"/>
                </a:solidFill>
              </a:rPr>
              <a:t>PLANT TO PLANT - OTHER PLANTS’ PALLETS · STEP 1 OF 8</a:t>
            </a:r>
            <a:endParaRPr lang="en-US" sz="1100" dirty="0"/>
          </a:p>
        </p:txBody>
      </p:sp>
      <p:sp>
        <p:nvSpPr>
          <p:cNvPr id="3" name="Title"/>
          <p:cNvSpPr txBox="1"/>
          <p:nvPr/>
        </p:nvSpPr>
        <p:spPr>
          <a:xfrm>
            <a:off x="4206240" y="777240"/>
            <a:ext cx="7498080" cy="685800"/>
          </a:xfrm>
          <a:prstGeom prst="rect">
            <a:avLst/>
          </a:prstGeom>
          <a:noFill/>
          <a:ln/>
        </p:spPr>
        <p:txBody>
          <a:bodyPr wrap="square" lIns="0" tIns="0" rIns="0" bIns="0" rtlCol="0" anchor="ctr"/>
          <a:lstStyle/>
          <a:p>
            <a:pPr indent="0" marL="0">
              <a:buNone/>
            </a:pPr>
            <a:r>
              <a:rPr lang="en-US" sz="3200" b="1" dirty="0">
                <a:solidFill>
                  <a:schemeClr val="tx2"/>
                </a:solidFill>
              </a:rPr>
              <a:t>New empty return</a:t>
            </a:r>
            <a:endParaRPr lang="en-US" sz="3200" dirty="0"/>
          </a:p>
        </p:txBody>
      </p:sp>
      <p:pic>
        <p:nvPicPr>
          <p:cNvPr id="4" name="Picture" descr="/tmp/claude-0/-home-claude/604fe074-c4a3-59f5-a7f0-a4d942adf429/scratchpad/deck/img/i01_new_return.jpg">    </p:cNvPr>
          <p:cNvPicPr>
            <a:picLocks noChangeAspect="1"/>
          </p:cNvPicPr>
          <p:nvPr/>
        </p:nvPicPr>
        <p:blipFill>
          <a:blip r:embed="rId1"/>
          <a:stretch>
            <a:fillRect/>
          </a:stretch>
        </p:blipFill>
        <p:spPr>
          <a:xfrm>
            <a:off x="669206" y="365760"/>
            <a:ext cx="2867827" cy="598932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4206240" y="1691640"/>
            <a:ext cx="7498080" cy="35661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Empty Pallet Return › New: choose the owner plant (pallets HELD here for it are counted) and the vehicle.</a:t>
            </a:r>
            <a:endParaRPr lang="en-US" sz="1700" dirty="0"/>
          </a:p>
        </p:txBody>
      </p:sp>
      <p:pic>
        <p:nvPicPr>
          <p:cNvPr id="6" name="Back button" descr="preencoded.png">
            <a:hlinkClick r:id="rId3" tooltip="Back to Plant to plant - other plants’ pallets" action="ppaction://hlinksldjump"/>
          </p:cNvPr>
          <p:cNvPicPr>
            <a:picLocks noChangeAspect="1"/>
          </p:cNvPicPr>
          <p:nvPr/>
        </p:nvPicPr>
        <p:blipFill>
          <a:blip r:embed="rId2"/>
          <a:stretch>
            <a:fillRect/>
          </a:stretch>
        </p:blipFill>
        <p:spPr>
          <a:xfrm>
            <a:off x="4206240" y="5715000"/>
            <a:ext cx="420624" cy="420624"/>
          </a:xfrm>
          <a:prstGeom prst="rect">
            <a:avLst/>
          </a:prstGeom>
        </p:spPr>
      </p:pic>
      <p:sp>
        <p:nvSpPr>
          <p:cNvPr id="7" name="Back link"/>
          <p:cNvSpPr txBox="1"/>
          <p:nvPr/>
        </p:nvSpPr>
        <p:spPr>
          <a:xfrm>
            <a:off x="4736592" y="5715000"/>
            <a:ext cx="576072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p:cNvPr>
          <p:cNvPicPr>
            <a:picLocks noChangeAspect="1"/>
          </p:cNvPicPr>
          <p:nvPr/>
        </p:nvPicPr>
        <p:blipFill>
          <a:blip r:embed="rId5"/>
          <a:stretch>
            <a:fillRect/>
          </a:stretch>
        </p:blipFill>
        <p:spPr>
          <a:xfrm>
            <a:off x="10789920" y="5715000"/>
            <a:ext cx="384048" cy="384048"/>
          </a:xfrm>
          <a:prstGeom prst="rect">
            <a:avLst/>
          </a:prstGeom>
        </p:spPr>
      </p:pic>
      <p:pic>
        <p:nvPicPr>
          <p:cNvPr id="9" name="Next step" descr="preencoded.png">
            <a:hlinkClick r:id="rId7" tooltip="Next step" action="ppaction://hlinksldjump"/>
          </p:cNvPr>
          <p:cNvPicPr>
            <a:picLocks noChangeAspect="1"/>
          </p:cNvPicPr>
          <p:nvPr/>
        </p:nvPicPr>
        <p:blipFill>
          <a:blip r:embed="rId6"/>
          <a:stretch>
            <a:fillRect/>
          </a:stretch>
        </p:blipFill>
        <p:spPr>
          <a:xfrm>
            <a:off x="1129284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Label"/>
          <p:cNvSpPr txBox="1"/>
          <p:nvPr/>
        </p:nvSpPr>
        <p:spPr>
          <a:xfrm>
            <a:off x="4206240" y="457200"/>
            <a:ext cx="7498080" cy="274320"/>
          </a:xfrm>
          <a:prstGeom prst="rect">
            <a:avLst/>
          </a:prstGeom>
          <a:noFill/>
          <a:ln/>
        </p:spPr>
        <p:txBody>
          <a:bodyPr wrap="square" lIns="0" tIns="0" rIns="0" bIns="0" rtlCol="0" anchor="ctr"/>
          <a:lstStyle/>
          <a:p>
            <a:pPr indent="0" marL="0">
              <a:buNone/>
            </a:pPr>
            <a:r>
              <a:rPr lang="en-US" sz="1100" b="1" spc="100" kern="0" dirty="0">
                <a:solidFill>
                  <a:schemeClr val="accent4"/>
                </a:solidFill>
              </a:rPr>
              <a:t>PLANT TO PLANT - OTHER PLANTS’ PALLETS · STEP 2 OF 8</a:t>
            </a:r>
            <a:endParaRPr lang="en-US" sz="1100" dirty="0"/>
          </a:p>
        </p:txBody>
      </p:sp>
      <p:sp>
        <p:nvSpPr>
          <p:cNvPr id="3" name="Title"/>
          <p:cNvSpPr txBox="1"/>
          <p:nvPr/>
        </p:nvSpPr>
        <p:spPr>
          <a:xfrm>
            <a:off x="4206240" y="777240"/>
            <a:ext cx="7498080" cy="685800"/>
          </a:xfrm>
          <a:prstGeom prst="rect">
            <a:avLst/>
          </a:prstGeom>
          <a:noFill/>
          <a:ln/>
        </p:spPr>
        <p:txBody>
          <a:bodyPr wrap="square" lIns="0" tIns="0" rIns="0" bIns="0" rtlCol="0" anchor="ctr"/>
          <a:lstStyle/>
          <a:p>
            <a:pPr indent="0" marL="0">
              <a:buNone/>
            </a:pPr>
            <a:r>
              <a:rPr lang="en-US" sz="3200" b="1" dirty="0">
                <a:solidFill>
                  <a:schemeClr val="tx2"/>
                </a:solidFill>
              </a:rPr>
              <a:t>Load at the yard</a:t>
            </a:r>
            <a:endParaRPr lang="en-US" sz="3200" dirty="0"/>
          </a:p>
        </p:txBody>
      </p:sp>
      <p:pic>
        <p:nvPicPr>
          <p:cNvPr id="4" name="Picture" descr="/tmp/claude-0/-home-claude/604fe074-c4a3-59f5-a7f0-a4d942adf429/scratchpad/deck/img/i02_loaded.jpg">    </p:cNvPr>
          <p:cNvPicPr>
            <a:picLocks noChangeAspect="1"/>
          </p:cNvPicPr>
          <p:nvPr/>
        </p:nvPicPr>
        <p:blipFill>
          <a:blip r:embed="rId1"/>
          <a:stretch>
            <a:fillRect/>
          </a:stretch>
        </p:blipFill>
        <p:spPr>
          <a:xfrm>
            <a:off x="669206" y="365760"/>
            <a:ext cx="2867827" cy="598932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4206240" y="1691640"/>
            <a:ext cx="7498080" cy="35661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Scan each of the owner plant pallets loaded on the vehicle.</a:t>
            </a:r>
            <a:endParaRPr lang="en-US" sz="1700" dirty="0"/>
          </a:p>
        </p:txBody>
      </p:sp>
      <p:pic>
        <p:nvPicPr>
          <p:cNvPr id="6" name="Back button" descr="preencoded.png">
            <a:hlinkClick r:id="rId3" tooltip="Back to Plant to plant - other plants’ pallets" action="ppaction://hlinksldjump"/>
          </p:cNvPr>
          <p:cNvPicPr>
            <a:picLocks noChangeAspect="1"/>
          </p:cNvPicPr>
          <p:nvPr/>
        </p:nvPicPr>
        <p:blipFill>
          <a:blip r:embed="rId2"/>
          <a:stretch>
            <a:fillRect/>
          </a:stretch>
        </p:blipFill>
        <p:spPr>
          <a:xfrm>
            <a:off x="4206240" y="5715000"/>
            <a:ext cx="420624" cy="420624"/>
          </a:xfrm>
          <a:prstGeom prst="rect">
            <a:avLst/>
          </a:prstGeom>
        </p:spPr>
      </p:pic>
      <p:sp>
        <p:nvSpPr>
          <p:cNvPr id="7" name="Back link"/>
          <p:cNvSpPr txBox="1"/>
          <p:nvPr/>
        </p:nvSpPr>
        <p:spPr>
          <a:xfrm>
            <a:off x="4736592" y="5715000"/>
            <a:ext cx="576072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789920" y="5715000"/>
            <a:ext cx="384048" cy="384048"/>
          </a:xfrm>
          <a:prstGeom prst="rect">
            <a:avLst/>
          </a:prstGeom>
        </p:spPr>
      </p:pic>
      <p:pic>
        <p:nvPicPr>
          <p:cNvPr id="9" name="Next step" descr="preencoded.png">
            <a:hlinkClick r:id="rId8" tooltip="Next step" action="ppaction://hlinksldjump"/>
          </p:cNvPr>
          <p:cNvPicPr>
            <a:picLocks noChangeAspect="1"/>
          </p:cNvPicPr>
          <p:nvPr/>
        </p:nvPicPr>
        <p:blipFill>
          <a:blip r:embed="rId7"/>
          <a:stretch>
            <a:fillRect/>
          </a:stretch>
        </p:blipFill>
        <p:spPr>
          <a:xfrm>
            <a:off x="1129284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Label"/>
          <p:cNvSpPr txBox="1"/>
          <p:nvPr/>
        </p:nvSpPr>
        <p:spPr>
          <a:xfrm>
            <a:off x="4206240" y="457200"/>
            <a:ext cx="7498080" cy="274320"/>
          </a:xfrm>
          <a:prstGeom prst="rect">
            <a:avLst/>
          </a:prstGeom>
          <a:noFill/>
          <a:ln/>
        </p:spPr>
        <p:txBody>
          <a:bodyPr wrap="square" lIns="0" tIns="0" rIns="0" bIns="0" rtlCol="0" anchor="ctr"/>
          <a:lstStyle/>
          <a:p>
            <a:pPr indent="0" marL="0">
              <a:buNone/>
            </a:pPr>
            <a:r>
              <a:rPr lang="en-US" sz="1100" b="1" spc="100" kern="0" dirty="0">
                <a:solidFill>
                  <a:schemeClr val="accent4"/>
                </a:solidFill>
              </a:rPr>
              <a:t>PLANT TO PLANT - OTHER PLANTS’ PALLETS · STEP 3 OF 8</a:t>
            </a:r>
            <a:endParaRPr lang="en-US" sz="1100" dirty="0"/>
          </a:p>
        </p:txBody>
      </p:sp>
      <p:sp>
        <p:nvSpPr>
          <p:cNvPr id="3" name="Title"/>
          <p:cNvSpPr txBox="1"/>
          <p:nvPr/>
        </p:nvSpPr>
        <p:spPr>
          <a:xfrm>
            <a:off x="4206240" y="777240"/>
            <a:ext cx="7498080" cy="685800"/>
          </a:xfrm>
          <a:prstGeom prst="rect">
            <a:avLst/>
          </a:prstGeom>
          <a:noFill/>
          <a:ln/>
        </p:spPr>
        <p:txBody>
          <a:bodyPr wrap="square" lIns="0" tIns="0" rIns="0" bIns="0" rtlCol="0" anchor="ctr"/>
          <a:lstStyle/>
          <a:p>
            <a:pPr indent="0" marL="0">
              <a:buNone/>
            </a:pPr>
            <a:r>
              <a:rPr lang="en-US" sz="3200" b="1" dirty="0">
                <a:solidFill>
                  <a:schemeClr val="tx2"/>
                </a:solidFill>
              </a:rPr>
              <a:t>Challan + e-way bill</a:t>
            </a:r>
            <a:endParaRPr lang="en-US" sz="3200" dirty="0"/>
          </a:p>
        </p:txBody>
      </p:sp>
      <p:pic>
        <p:nvPicPr>
          <p:cNvPr id="4" name="Picture" descr="/tmp/claude-0/-home-claude/604fe074-c4a3-59f5-a7f0-a4d942adf429/scratchpad/deck/img/i04_challan_ready.jpg">    </p:cNvPr>
          <p:cNvPicPr>
            <a:picLocks noChangeAspect="1"/>
          </p:cNvPicPr>
          <p:nvPr/>
        </p:nvPicPr>
        <p:blipFill>
          <a:blip r:embed="rId1"/>
          <a:stretch>
            <a:fillRect/>
          </a:stretch>
        </p:blipFill>
        <p:spPr>
          <a:xfrm>
            <a:off x="669206" y="365760"/>
            <a:ext cx="2867827" cy="598932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4206240" y="1691640"/>
            <a:ext cx="7498080" cy="35661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Finish loading makes the EBS challan and e-way bill.</a:t>
            </a:r>
            <a:endParaRPr lang="en-US" sz="1700" dirty="0"/>
          </a:p>
          <a:p>
            <a:pPr marL="342900" indent="-342900">
              <a:spcAft>
                <a:spcPts val="1000"/>
              </a:spcAft>
              <a:buSzPct val="100000"/>
              <a:buChar char="•"/>
            </a:pPr>
            <a:r>
              <a:rPr lang="en-US" sz="1700" dirty="0">
                <a:solidFill>
                  <a:schemeClr val="tx1"/>
                </a:solidFill>
              </a:rPr>
              <a:t>The challan prints automatically on the plant network printer.</a:t>
            </a:r>
            <a:endParaRPr lang="en-US" sz="1700" dirty="0"/>
          </a:p>
        </p:txBody>
      </p:sp>
      <p:pic>
        <p:nvPicPr>
          <p:cNvPr id="6" name="Back button" descr="preencoded.png">
            <a:hlinkClick r:id="rId3" tooltip="Back to Plant to plant - other plants’ pallets" action="ppaction://hlinksldjump"/>
          </p:cNvPr>
          <p:cNvPicPr>
            <a:picLocks noChangeAspect="1"/>
          </p:cNvPicPr>
          <p:nvPr/>
        </p:nvPicPr>
        <p:blipFill>
          <a:blip r:embed="rId2"/>
          <a:stretch>
            <a:fillRect/>
          </a:stretch>
        </p:blipFill>
        <p:spPr>
          <a:xfrm>
            <a:off x="4206240" y="5715000"/>
            <a:ext cx="420624" cy="420624"/>
          </a:xfrm>
          <a:prstGeom prst="rect">
            <a:avLst/>
          </a:prstGeom>
        </p:spPr>
      </p:pic>
      <p:sp>
        <p:nvSpPr>
          <p:cNvPr id="7" name="Back link"/>
          <p:cNvSpPr txBox="1"/>
          <p:nvPr/>
        </p:nvSpPr>
        <p:spPr>
          <a:xfrm>
            <a:off x="4736592" y="5715000"/>
            <a:ext cx="576072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789920" y="5715000"/>
            <a:ext cx="384048" cy="384048"/>
          </a:xfrm>
          <a:prstGeom prst="rect">
            <a:avLst/>
          </a:prstGeom>
        </p:spPr>
      </p:pic>
      <p:pic>
        <p:nvPicPr>
          <p:cNvPr id="9" name="Next step" descr="preencoded.png">
            <a:hlinkClick r:id="rId8" tooltip="Next step" action="ppaction://hlinksldjump"/>
          </p:cNvPr>
          <p:cNvPicPr>
            <a:picLocks noChangeAspect="1"/>
          </p:cNvPicPr>
          <p:nvPr/>
        </p:nvPicPr>
        <p:blipFill>
          <a:blip r:embed="rId7"/>
          <a:stretch>
            <a:fillRect/>
          </a:stretch>
        </p:blipFill>
        <p:spPr>
          <a:xfrm>
            <a:off x="1129284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Label"/>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100" kern="0" dirty="0">
                <a:solidFill>
                  <a:schemeClr val="accent4"/>
                </a:solidFill>
              </a:rPr>
              <a:t>PLANT TO PLANT - OTHER PLANTS’ PALLETS · STEP 4 OF 8</a:t>
            </a:r>
            <a:endParaRPr lang="en-US" sz="1100" dirty="0"/>
          </a:p>
        </p:txBody>
      </p:sp>
      <p:sp>
        <p:nvSpPr>
          <p:cNvPr id="3" name="Title"/>
          <p:cNvSpPr txBox="1"/>
          <p:nvPr/>
        </p:nvSpPr>
        <p:spPr>
          <a:xfrm>
            <a:off x="457200" y="566928"/>
            <a:ext cx="11247120" cy="548640"/>
          </a:xfrm>
          <a:prstGeom prst="rect">
            <a:avLst/>
          </a:prstGeom>
          <a:noFill/>
          <a:ln/>
        </p:spPr>
        <p:txBody>
          <a:bodyPr wrap="square" lIns="0" tIns="0" rIns="0" bIns="0" rtlCol="0" anchor="ctr"/>
          <a:lstStyle/>
          <a:p>
            <a:pPr indent="0" marL="0">
              <a:buNone/>
            </a:pPr>
            <a:r>
              <a:rPr lang="en-US" sz="2800" b="1" dirty="0">
                <a:solidFill>
                  <a:schemeClr val="tx2"/>
                </a:solidFill>
              </a:rPr>
              <a:t>Output: return challan</a:t>
            </a:r>
            <a:endParaRPr lang="en-US" sz="2800" dirty="0"/>
          </a:p>
        </p:txBody>
      </p:sp>
      <p:pic>
        <p:nvPicPr>
          <p:cNvPr id="4" name="Picture" descr="/tmp/claude-0/-home-claude/604fe074-c4a3-59f5-a7f0-a4d942adf429/scratchpad/deck/img/o_rtchallan.jpg">    </p:cNvPr>
          <p:cNvPicPr>
            <a:picLocks noChangeAspect="1"/>
          </p:cNvPicPr>
          <p:nvPr/>
        </p:nvPicPr>
        <p:blipFill>
          <a:blip r:embed="rId1"/>
          <a:stretch>
            <a:fillRect/>
          </a:stretch>
        </p:blipFill>
        <p:spPr>
          <a:xfrm>
            <a:off x="457200" y="1280160"/>
            <a:ext cx="5630496" cy="498348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8732520" y="1280160"/>
            <a:ext cx="3017520" cy="39319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Delivery challan - return of empty pallets owned by AIS PUN; types, HSN, value and pallet numbers.</a:t>
            </a:r>
            <a:endParaRPr lang="en-US" sz="1400" dirty="0"/>
          </a:p>
        </p:txBody>
      </p:sp>
      <p:pic>
        <p:nvPicPr>
          <p:cNvPr id="6" name="Back button" descr="preencoded.png">
            <a:hlinkClick r:id="rId3" tooltip="Back to Plant to plant - other plants’ pallets" action="ppaction://hlinksldjump"/>
          </p:cNvPr>
          <p:cNvPicPr>
            <a:picLocks noChangeAspect="1"/>
          </p:cNvPicPr>
          <p:nvPr/>
        </p:nvPicPr>
        <p:blipFill>
          <a:blip r:embed="rId2"/>
          <a:stretch>
            <a:fillRect/>
          </a:stretch>
        </p:blipFill>
        <p:spPr>
          <a:xfrm>
            <a:off x="8732520" y="5715000"/>
            <a:ext cx="420624" cy="420624"/>
          </a:xfrm>
          <a:prstGeom prst="rect">
            <a:avLst/>
          </a:prstGeom>
        </p:spPr>
      </p:pic>
      <p:sp>
        <p:nvSpPr>
          <p:cNvPr id="7" name="Back link"/>
          <p:cNvSpPr txBox="1"/>
          <p:nvPr/>
        </p:nvSpPr>
        <p:spPr>
          <a:xfrm>
            <a:off x="9262872" y="5715000"/>
            <a:ext cx="137160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835640" y="5715000"/>
            <a:ext cx="384048" cy="384048"/>
          </a:xfrm>
          <a:prstGeom prst="rect">
            <a:avLst/>
          </a:prstGeom>
        </p:spPr>
      </p:pic>
      <p:pic>
        <p:nvPicPr>
          <p:cNvPr id="9" name="Next step" descr="preencoded.png">
            <a:hlinkClick r:id="rId8" tooltip="Next step" action="ppaction://hlinksldjump"/>
          </p:cNvPr>
          <p:cNvPicPr>
            <a:picLocks noChangeAspect="1"/>
          </p:cNvPicPr>
          <p:nvPr/>
        </p:nvPicPr>
        <p:blipFill>
          <a:blip r:embed="rId7"/>
          <a:stretch>
            <a:fillRect/>
          </a:stretch>
        </p:blipFill>
        <p:spPr>
          <a:xfrm>
            <a:off x="1133856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Label"/>
          <p:cNvSpPr txBox="1"/>
          <p:nvPr/>
        </p:nvSpPr>
        <p:spPr>
          <a:xfrm>
            <a:off x="4206240" y="457200"/>
            <a:ext cx="7498080" cy="274320"/>
          </a:xfrm>
          <a:prstGeom prst="rect">
            <a:avLst/>
          </a:prstGeom>
          <a:noFill/>
          <a:ln/>
        </p:spPr>
        <p:txBody>
          <a:bodyPr wrap="square" lIns="0" tIns="0" rIns="0" bIns="0" rtlCol="0" anchor="ctr"/>
          <a:lstStyle/>
          <a:p>
            <a:pPr indent="0" marL="0">
              <a:buNone/>
            </a:pPr>
            <a:r>
              <a:rPr lang="en-US" sz="1100" b="1" spc="100" kern="0" dirty="0">
                <a:solidFill>
                  <a:schemeClr val="accent4"/>
                </a:solidFill>
              </a:rPr>
              <a:t>PLANT TO PLANT - OTHER PLANTS’ PALLETS · STEP 5 OF 8</a:t>
            </a:r>
            <a:endParaRPr lang="en-US" sz="1100" dirty="0"/>
          </a:p>
        </p:txBody>
      </p:sp>
      <p:sp>
        <p:nvSpPr>
          <p:cNvPr id="3" name="Title"/>
          <p:cNvSpPr txBox="1"/>
          <p:nvPr/>
        </p:nvSpPr>
        <p:spPr>
          <a:xfrm>
            <a:off x="4206240" y="777240"/>
            <a:ext cx="7498080" cy="685800"/>
          </a:xfrm>
          <a:prstGeom prst="rect">
            <a:avLst/>
          </a:prstGeom>
          <a:noFill/>
          <a:ln/>
        </p:spPr>
        <p:txBody>
          <a:bodyPr wrap="square" lIns="0" tIns="0" rIns="0" bIns="0" rtlCol="0" anchor="ctr"/>
          <a:lstStyle/>
          <a:p>
            <a:pPr indent="0" marL="0">
              <a:buNone/>
            </a:pPr>
            <a:r>
              <a:rPr lang="en-US" sz="3200" b="1" dirty="0">
                <a:solidFill>
                  <a:schemeClr val="tx2"/>
                </a:solidFill>
              </a:rPr>
              <a:t>OUT gate</a:t>
            </a:r>
            <a:endParaRPr lang="en-US" sz="3200" dirty="0"/>
          </a:p>
        </p:txBody>
      </p:sp>
      <p:pic>
        <p:nvPicPr>
          <p:cNvPr id="4" name="Picture" descr="/tmp/claude-0/-home-claude/604fe074-c4a3-59f5-a7f0-a4d942adf429/scratchpad/deck/img/i06_out_gate_challan.jpg">    </p:cNvPr>
          <p:cNvPicPr>
            <a:picLocks noChangeAspect="1"/>
          </p:cNvPicPr>
          <p:nvPr/>
        </p:nvPicPr>
        <p:blipFill>
          <a:blip r:embed="rId1"/>
          <a:stretch>
            <a:fillRect/>
          </a:stretch>
        </p:blipFill>
        <p:spPr>
          <a:xfrm>
            <a:off x="669206" y="365760"/>
            <a:ext cx="2867827" cy="598932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4206240" y="1691640"/>
            <a:ext cx="7498080" cy="35661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After logistics approval the OUT gate scans the challan QR: 3 pallets → PUN, IN TRANSIT.</a:t>
            </a:r>
            <a:endParaRPr lang="en-US" sz="1700" dirty="0"/>
          </a:p>
        </p:txBody>
      </p:sp>
      <p:pic>
        <p:nvPicPr>
          <p:cNvPr id="6" name="Back button" descr="preencoded.png">
            <a:hlinkClick r:id="rId3" tooltip="Back to Plant to plant - other plants’ pallets" action="ppaction://hlinksldjump"/>
          </p:cNvPr>
          <p:cNvPicPr>
            <a:picLocks noChangeAspect="1"/>
          </p:cNvPicPr>
          <p:nvPr/>
        </p:nvPicPr>
        <p:blipFill>
          <a:blip r:embed="rId2"/>
          <a:stretch>
            <a:fillRect/>
          </a:stretch>
        </p:blipFill>
        <p:spPr>
          <a:xfrm>
            <a:off x="4206240" y="5715000"/>
            <a:ext cx="420624" cy="420624"/>
          </a:xfrm>
          <a:prstGeom prst="rect">
            <a:avLst/>
          </a:prstGeom>
        </p:spPr>
      </p:pic>
      <p:sp>
        <p:nvSpPr>
          <p:cNvPr id="7" name="Back link"/>
          <p:cNvSpPr txBox="1"/>
          <p:nvPr/>
        </p:nvSpPr>
        <p:spPr>
          <a:xfrm>
            <a:off x="4736592" y="5715000"/>
            <a:ext cx="576072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789920" y="5715000"/>
            <a:ext cx="384048" cy="384048"/>
          </a:xfrm>
          <a:prstGeom prst="rect">
            <a:avLst/>
          </a:prstGeom>
        </p:spPr>
      </p:pic>
      <p:pic>
        <p:nvPicPr>
          <p:cNvPr id="9" name="Next step" descr="preencoded.png">
            <a:hlinkClick r:id="rId8" tooltip="Next step" action="ppaction://hlinksldjump"/>
          </p:cNvPr>
          <p:cNvPicPr>
            <a:picLocks noChangeAspect="1"/>
          </p:cNvPicPr>
          <p:nvPr/>
        </p:nvPicPr>
        <p:blipFill>
          <a:blip r:embed="rId7"/>
          <a:stretch>
            <a:fillRect/>
          </a:stretch>
        </p:blipFill>
        <p:spPr>
          <a:xfrm>
            <a:off x="1129284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Label"/>
          <p:cNvSpPr txBox="1"/>
          <p:nvPr/>
        </p:nvSpPr>
        <p:spPr>
          <a:xfrm>
            <a:off x="4206240" y="457200"/>
            <a:ext cx="7498080" cy="274320"/>
          </a:xfrm>
          <a:prstGeom prst="rect">
            <a:avLst/>
          </a:prstGeom>
          <a:noFill/>
          <a:ln/>
        </p:spPr>
        <p:txBody>
          <a:bodyPr wrap="square" lIns="0" tIns="0" rIns="0" bIns="0" rtlCol="0" anchor="ctr"/>
          <a:lstStyle/>
          <a:p>
            <a:pPr indent="0" marL="0">
              <a:buNone/>
            </a:pPr>
            <a:r>
              <a:rPr lang="en-US" sz="1100" b="1" spc="100" kern="0" dirty="0">
                <a:solidFill>
                  <a:schemeClr val="accent4"/>
                </a:solidFill>
              </a:rPr>
              <a:t>PLANT TO PLANT - OTHER PLANTS’ PALLETS · STEP 6 OF 8</a:t>
            </a:r>
            <a:endParaRPr lang="en-US" sz="1100" dirty="0"/>
          </a:p>
        </p:txBody>
      </p:sp>
      <p:sp>
        <p:nvSpPr>
          <p:cNvPr id="3" name="Title"/>
          <p:cNvSpPr txBox="1"/>
          <p:nvPr/>
        </p:nvSpPr>
        <p:spPr>
          <a:xfrm>
            <a:off x="4206240" y="777240"/>
            <a:ext cx="7498080" cy="685800"/>
          </a:xfrm>
          <a:prstGeom prst="rect">
            <a:avLst/>
          </a:prstGeom>
          <a:noFill/>
          <a:ln/>
        </p:spPr>
        <p:txBody>
          <a:bodyPr wrap="square" lIns="0" tIns="0" rIns="0" bIns="0" rtlCol="0" anchor="ctr"/>
          <a:lstStyle/>
          <a:p>
            <a:pPr indent="0" marL="0">
              <a:buNone/>
            </a:pPr>
            <a:r>
              <a:rPr lang="en-US" sz="3200" b="1" dirty="0">
                <a:solidFill>
                  <a:schemeClr val="tx2"/>
                </a:solidFill>
              </a:rPr>
              <a:t>PUN IN gate</a:t>
            </a:r>
            <a:endParaRPr lang="en-US" sz="3200" dirty="0"/>
          </a:p>
        </p:txBody>
      </p:sp>
      <p:pic>
        <p:nvPicPr>
          <p:cNvPr id="4" name="Picture" descr="/tmp/claude-0/-home-claude/604fe074-c4a3-59f5-a7f0-a4d942adf429/scratchpad/deck/img/i07_pun_in_gate.jpg">    </p:cNvPr>
          <p:cNvPicPr>
            <a:picLocks noChangeAspect="1"/>
          </p:cNvPicPr>
          <p:nvPr/>
        </p:nvPicPr>
        <p:blipFill>
          <a:blip r:embed="rId1"/>
          <a:stretch>
            <a:fillRect/>
          </a:stretch>
        </p:blipFill>
        <p:spPr>
          <a:xfrm>
            <a:off x="669206" y="365760"/>
            <a:ext cx="2867827" cy="598932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4206240" y="1691640"/>
            <a:ext cx="7498080" cy="35661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At the owner plant the IN gate scans the same challan: gate entry PUN-GE-000002, GCS inward.</a:t>
            </a:r>
            <a:endParaRPr lang="en-US" sz="1700" dirty="0"/>
          </a:p>
          <a:p>
            <a:pPr marL="342900" indent="-342900">
              <a:spcAft>
                <a:spcPts val="1000"/>
              </a:spcAft>
              <a:buSzPct val="100000"/>
              <a:buChar char="•"/>
            </a:pPr>
            <a:r>
              <a:rPr lang="en-US" sz="1700" dirty="0">
                <a:solidFill>
                  <a:schemeClr val="tx1"/>
                </a:solidFill>
              </a:rPr>
              <a:t>Pallets from other plants are accepted only on that plant challan.</a:t>
            </a:r>
            <a:endParaRPr lang="en-US" sz="1700" dirty="0"/>
          </a:p>
        </p:txBody>
      </p:sp>
      <p:pic>
        <p:nvPicPr>
          <p:cNvPr id="6" name="Back button" descr="preencoded.png">
            <a:hlinkClick r:id="rId3" tooltip="Back to Plant to plant - other plants’ pallets" action="ppaction://hlinksldjump"/>
          </p:cNvPr>
          <p:cNvPicPr>
            <a:picLocks noChangeAspect="1"/>
          </p:cNvPicPr>
          <p:nvPr/>
        </p:nvPicPr>
        <p:blipFill>
          <a:blip r:embed="rId2"/>
          <a:stretch>
            <a:fillRect/>
          </a:stretch>
        </p:blipFill>
        <p:spPr>
          <a:xfrm>
            <a:off x="4206240" y="5715000"/>
            <a:ext cx="420624" cy="420624"/>
          </a:xfrm>
          <a:prstGeom prst="rect">
            <a:avLst/>
          </a:prstGeom>
        </p:spPr>
      </p:pic>
      <p:sp>
        <p:nvSpPr>
          <p:cNvPr id="7" name="Back link"/>
          <p:cNvSpPr txBox="1"/>
          <p:nvPr/>
        </p:nvSpPr>
        <p:spPr>
          <a:xfrm>
            <a:off x="4736592" y="5715000"/>
            <a:ext cx="576072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789920" y="5715000"/>
            <a:ext cx="384048" cy="384048"/>
          </a:xfrm>
          <a:prstGeom prst="rect">
            <a:avLst/>
          </a:prstGeom>
        </p:spPr>
      </p:pic>
      <p:pic>
        <p:nvPicPr>
          <p:cNvPr id="9" name="Next step" descr="preencoded.png">
            <a:hlinkClick r:id="rId8" tooltip="Next step" action="ppaction://hlinksldjump"/>
          </p:cNvPr>
          <p:cNvPicPr>
            <a:picLocks noChangeAspect="1"/>
          </p:cNvPicPr>
          <p:nvPr/>
        </p:nvPicPr>
        <p:blipFill>
          <a:blip r:embed="rId7"/>
          <a:stretch>
            <a:fillRect/>
          </a:stretch>
        </p:blipFill>
        <p:spPr>
          <a:xfrm>
            <a:off x="1129284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Label"/>
          <p:cNvSpPr txBox="1"/>
          <p:nvPr/>
        </p:nvSpPr>
        <p:spPr>
          <a:xfrm>
            <a:off x="4206240" y="457200"/>
            <a:ext cx="7498080" cy="274320"/>
          </a:xfrm>
          <a:prstGeom prst="rect">
            <a:avLst/>
          </a:prstGeom>
          <a:noFill/>
          <a:ln/>
        </p:spPr>
        <p:txBody>
          <a:bodyPr wrap="square" lIns="0" tIns="0" rIns="0" bIns="0" rtlCol="0" anchor="ctr"/>
          <a:lstStyle/>
          <a:p>
            <a:pPr indent="0" marL="0">
              <a:buNone/>
            </a:pPr>
            <a:r>
              <a:rPr lang="en-US" sz="1100" b="1" spc="100" kern="0" dirty="0">
                <a:solidFill>
                  <a:schemeClr val="accent4"/>
                </a:solidFill>
              </a:rPr>
              <a:t>PLANT TO PLANT - OTHER PLANTS’ PALLETS · STEP 7 OF 8</a:t>
            </a:r>
            <a:endParaRPr lang="en-US" sz="1100" dirty="0"/>
          </a:p>
        </p:txBody>
      </p:sp>
      <p:sp>
        <p:nvSpPr>
          <p:cNvPr id="3" name="Title"/>
          <p:cNvSpPr txBox="1"/>
          <p:nvPr/>
        </p:nvSpPr>
        <p:spPr>
          <a:xfrm>
            <a:off x="4206240" y="777240"/>
            <a:ext cx="7498080" cy="685800"/>
          </a:xfrm>
          <a:prstGeom prst="rect">
            <a:avLst/>
          </a:prstGeom>
          <a:noFill/>
          <a:ln/>
        </p:spPr>
        <p:txBody>
          <a:bodyPr wrap="square" lIns="0" tIns="0" rIns="0" bIns="0" rtlCol="0" anchor="ctr"/>
          <a:lstStyle/>
          <a:p>
            <a:pPr indent="0" marL="0">
              <a:buNone/>
            </a:pPr>
            <a:r>
              <a:rPr lang="en-US" sz="3200" b="1" dirty="0">
                <a:solidFill>
                  <a:schemeClr val="tx2"/>
                </a:solidFill>
              </a:rPr>
              <a:t>PUN yard: challan</a:t>
            </a:r>
            <a:endParaRPr lang="en-US" sz="3200" dirty="0"/>
          </a:p>
        </p:txBody>
      </p:sp>
      <p:pic>
        <p:nvPicPr>
          <p:cNvPr id="4" name="Picture" descr="/tmp/claude-0/-home-claude/604fe074-c4a3-59f5-a7f0-a4d942adf429/scratchpad/deck/img/i09_pun_yard_open.jpg">    </p:cNvPr>
          <p:cNvPicPr>
            <a:picLocks noChangeAspect="1"/>
          </p:cNvPicPr>
          <p:nvPr/>
        </p:nvPicPr>
        <p:blipFill>
          <a:blip r:embed="rId1"/>
          <a:stretch>
            <a:fillRect/>
          </a:stretch>
        </p:blipFill>
        <p:spPr>
          <a:xfrm>
            <a:off x="669206" y="365760"/>
            <a:ext cx="2867827" cy="598932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4206240" y="1691640"/>
            <a:ext cx="7498080" cy="35661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Yard In-ward shows the challan: OTHER-PLANT CHALLAN - our pallets back from CHN, with the pallets to scan.</a:t>
            </a:r>
            <a:endParaRPr lang="en-US" sz="1700" dirty="0"/>
          </a:p>
        </p:txBody>
      </p:sp>
      <p:pic>
        <p:nvPicPr>
          <p:cNvPr id="6" name="Back button" descr="preencoded.png">
            <a:hlinkClick r:id="rId3" tooltip="Back to Plant to plant - other plants’ pallets" action="ppaction://hlinksldjump"/>
          </p:cNvPr>
          <p:cNvPicPr>
            <a:picLocks noChangeAspect="1"/>
          </p:cNvPicPr>
          <p:nvPr/>
        </p:nvPicPr>
        <p:blipFill>
          <a:blip r:embed="rId2"/>
          <a:stretch>
            <a:fillRect/>
          </a:stretch>
        </p:blipFill>
        <p:spPr>
          <a:xfrm>
            <a:off x="4206240" y="5715000"/>
            <a:ext cx="420624" cy="420624"/>
          </a:xfrm>
          <a:prstGeom prst="rect">
            <a:avLst/>
          </a:prstGeom>
        </p:spPr>
      </p:pic>
      <p:sp>
        <p:nvSpPr>
          <p:cNvPr id="7" name="Back link"/>
          <p:cNvSpPr txBox="1"/>
          <p:nvPr/>
        </p:nvSpPr>
        <p:spPr>
          <a:xfrm>
            <a:off x="4736592" y="5715000"/>
            <a:ext cx="576072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789920" y="5715000"/>
            <a:ext cx="384048" cy="384048"/>
          </a:xfrm>
          <a:prstGeom prst="rect">
            <a:avLst/>
          </a:prstGeom>
        </p:spPr>
      </p:pic>
      <p:pic>
        <p:nvPicPr>
          <p:cNvPr id="9" name="Next step" descr="preencoded.png">
            <a:hlinkClick r:id="rId8" tooltip="Next step" action="ppaction://hlinksldjump"/>
          </p:cNvPr>
          <p:cNvPicPr>
            <a:picLocks noChangeAspect="1"/>
          </p:cNvPicPr>
          <p:nvPr/>
        </p:nvPicPr>
        <p:blipFill>
          <a:blip r:embed="rId7"/>
          <a:stretch>
            <a:fillRect/>
          </a:stretch>
        </p:blipFill>
        <p:spPr>
          <a:xfrm>
            <a:off x="1129284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Label"/>
          <p:cNvSpPr txBox="1"/>
          <p:nvPr/>
        </p:nvSpPr>
        <p:spPr>
          <a:xfrm>
            <a:off x="4206240" y="457200"/>
            <a:ext cx="7498080" cy="274320"/>
          </a:xfrm>
          <a:prstGeom prst="rect">
            <a:avLst/>
          </a:prstGeom>
          <a:noFill/>
          <a:ln/>
        </p:spPr>
        <p:txBody>
          <a:bodyPr wrap="square" lIns="0" tIns="0" rIns="0" bIns="0" rtlCol="0" anchor="ctr"/>
          <a:lstStyle/>
          <a:p>
            <a:pPr indent="0" marL="0">
              <a:buNone/>
            </a:pPr>
            <a:r>
              <a:rPr lang="en-US" sz="1100" b="1" spc="100" kern="0" dirty="0">
                <a:solidFill>
                  <a:schemeClr val="accent4"/>
                </a:solidFill>
              </a:rPr>
              <a:t>PLANT TO PLANT - OTHER PLANTS’ PALLETS · STEP 8 OF 8</a:t>
            </a:r>
            <a:endParaRPr lang="en-US" sz="1100" dirty="0"/>
          </a:p>
        </p:txBody>
      </p:sp>
      <p:sp>
        <p:nvSpPr>
          <p:cNvPr id="3" name="Title"/>
          <p:cNvSpPr txBox="1"/>
          <p:nvPr/>
        </p:nvSpPr>
        <p:spPr>
          <a:xfrm>
            <a:off x="4206240" y="777240"/>
            <a:ext cx="7498080" cy="685800"/>
          </a:xfrm>
          <a:prstGeom prst="rect">
            <a:avLst/>
          </a:prstGeom>
          <a:noFill/>
          <a:ln/>
        </p:spPr>
        <p:txBody>
          <a:bodyPr wrap="square" lIns="0" tIns="0" rIns="0" bIns="0" rtlCol="0" anchor="ctr"/>
          <a:lstStyle/>
          <a:p>
            <a:pPr indent="0" marL="0">
              <a:buNone/>
            </a:pPr>
            <a:r>
              <a:rPr lang="en-US" sz="3200" b="1" dirty="0">
                <a:solidFill>
                  <a:schemeClr val="tx2"/>
                </a:solidFill>
              </a:rPr>
              <a:t>Received and closed</a:t>
            </a:r>
            <a:endParaRPr lang="en-US" sz="3200" dirty="0"/>
          </a:p>
        </p:txBody>
      </p:sp>
      <p:pic>
        <p:nvPicPr>
          <p:cNvPr id="4" name="Picture" descr="/tmp/claude-0/-home-claude/604fe074-c4a3-59f5-a7f0-a4d942adf429/scratchpad/deck/img/i10_pun_yard_all.jpg">    </p:cNvPr>
          <p:cNvPicPr>
            <a:picLocks noChangeAspect="1"/>
          </p:cNvPicPr>
          <p:nvPr/>
        </p:nvPicPr>
        <p:blipFill>
          <a:blip r:embed="rId1"/>
          <a:stretch>
            <a:fillRect/>
          </a:stretch>
        </p:blipFill>
        <p:spPr>
          <a:xfrm>
            <a:off x="669206" y="365760"/>
            <a:ext cx="2867827" cy="598932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4206240" y="1691640"/>
            <a:ext cx="7498080" cy="35661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All 3 pallets ticked; Reconcile &amp; close. The pallets are AVAILABLE at their home plant.</a:t>
            </a:r>
            <a:endParaRPr lang="en-US" sz="1700" dirty="0"/>
          </a:p>
        </p:txBody>
      </p:sp>
      <p:pic>
        <p:nvPicPr>
          <p:cNvPr id="6" name="Back button" descr="preencoded.png">
            <a:hlinkClick r:id="rId3" tooltip="Back to Plant to plant - other plants’ pallets" action="ppaction://hlinksldjump"/>
          </p:cNvPr>
          <p:cNvPicPr>
            <a:picLocks noChangeAspect="1"/>
          </p:cNvPicPr>
          <p:nvPr/>
        </p:nvPicPr>
        <p:blipFill>
          <a:blip r:embed="rId2"/>
          <a:stretch>
            <a:fillRect/>
          </a:stretch>
        </p:blipFill>
        <p:spPr>
          <a:xfrm>
            <a:off x="4206240" y="5715000"/>
            <a:ext cx="420624" cy="420624"/>
          </a:xfrm>
          <a:prstGeom prst="rect">
            <a:avLst/>
          </a:prstGeom>
        </p:spPr>
      </p:pic>
      <p:sp>
        <p:nvSpPr>
          <p:cNvPr id="7" name="Back link"/>
          <p:cNvSpPr txBox="1"/>
          <p:nvPr/>
        </p:nvSpPr>
        <p:spPr>
          <a:xfrm>
            <a:off x="4736592" y="5715000"/>
            <a:ext cx="576072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789920" y="5715000"/>
            <a:ext cx="384048" cy="384048"/>
          </a:xfrm>
          <a:prstGeom prst="rect">
            <a:avLst/>
          </a:prstGeom>
        </p:spPr>
      </p:pic>
      <p:pic>
        <p:nvPicPr>
          <p:cNvPr id="9" name="Next step" descr="preencoded.png">    </p:cNvPr>
          <p:cNvPicPr>
            <a:picLocks noChangeAspect="1"/>
          </p:cNvPicPr>
          <p:nvPr/>
        </p:nvPicPr>
        <p:blipFill>
          <a:blip r:embed="rId7"/>
          <a:stretch>
            <a:fillRect/>
          </a:stretch>
        </p:blipFill>
        <p:spPr>
          <a:xfrm>
            <a:off x="1129284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Label"/>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MONITORING ON THE WEB · STEP 1 OF 6</a:t>
            </a:r>
            <a:endParaRPr lang="en-US" sz="1100" dirty="0"/>
          </a:p>
        </p:txBody>
      </p:sp>
      <p:sp>
        <p:nvSpPr>
          <p:cNvPr id="3" name="Title"/>
          <p:cNvSpPr txBox="1"/>
          <p:nvPr/>
        </p:nvSpPr>
        <p:spPr>
          <a:xfrm>
            <a:off x="457200" y="566928"/>
            <a:ext cx="11247120" cy="548640"/>
          </a:xfrm>
          <a:prstGeom prst="rect">
            <a:avLst/>
          </a:prstGeom>
          <a:noFill/>
          <a:ln/>
        </p:spPr>
        <p:txBody>
          <a:bodyPr wrap="square" lIns="0" tIns="0" rIns="0" bIns="0" rtlCol="0" anchor="ctr"/>
          <a:lstStyle/>
          <a:p>
            <a:pPr indent="0" marL="0">
              <a:buNone/>
            </a:pPr>
            <a:r>
              <a:rPr lang="en-US" sz="2800" b="1" dirty="0">
                <a:solidFill>
                  <a:schemeClr val="tx2"/>
                </a:solidFill>
              </a:rPr>
              <a:t>Dashboard</a:t>
            </a:r>
            <a:endParaRPr lang="en-US" sz="2800" dirty="0"/>
          </a:p>
        </p:txBody>
      </p:sp>
      <p:pic>
        <p:nvPicPr>
          <p:cNvPr id="4" name="Picture" descr="/tmp/claude-0/-home-claude/604fe074-c4a3-59f5-a7f0-a4d942adf429/scratchpad/deck/img/w01_dashboard.jpg">    </p:cNvPr>
          <p:cNvPicPr>
            <a:picLocks noChangeAspect="1"/>
          </p:cNvPicPr>
          <p:nvPr/>
        </p:nvPicPr>
        <p:blipFill>
          <a:blip r:embed="rId1"/>
          <a:stretch>
            <a:fillRect/>
          </a:stretch>
        </p:blipFill>
        <p:spPr>
          <a:xfrm>
            <a:off x="457200" y="1280160"/>
            <a:ext cx="7955280" cy="497439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8732520" y="1280160"/>
            <a:ext cx="3017520" cy="39319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Pallets at home, at customers, at other plants, overdue, missed scans - per plant or all plants.</a:t>
            </a:r>
            <a:endParaRPr lang="en-US" sz="1400" dirty="0"/>
          </a:p>
          <a:p>
            <a:pPr marL="342900" indent="-342900">
              <a:spcAft>
                <a:spcPts val="1000"/>
              </a:spcAft>
              <a:buSzPct val="100000"/>
              <a:buChar char="•"/>
            </a:pPr>
            <a:r>
              <a:rPr lang="en-US" sz="1400" dirty="0">
                <a:solidFill>
                  <a:schemeClr val="tx1"/>
                </a:solidFill>
              </a:rPr>
              <a:t>Holding by age, dispatched vs returned per week, turnaround days.</a:t>
            </a:r>
            <a:endParaRPr lang="en-US" sz="1400" dirty="0"/>
          </a:p>
        </p:txBody>
      </p:sp>
      <p:pic>
        <p:nvPicPr>
          <p:cNvPr id="6" name="Back button" descr="preencoded.png">
            <a:hlinkClick r:id="rId3" tooltip="Back to Monitoring on the web" action="ppaction://hlinksldjump"/>
          </p:cNvPr>
          <p:cNvPicPr>
            <a:picLocks noChangeAspect="1"/>
          </p:cNvPicPr>
          <p:nvPr/>
        </p:nvPicPr>
        <p:blipFill>
          <a:blip r:embed="rId2"/>
          <a:stretch>
            <a:fillRect/>
          </a:stretch>
        </p:blipFill>
        <p:spPr>
          <a:xfrm>
            <a:off x="8732520" y="5715000"/>
            <a:ext cx="420624" cy="420624"/>
          </a:xfrm>
          <a:prstGeom prst="rect">
            <a:avLst/>
          </a:prstGeom>
        </p:spPr>
      </p:pic>
      <p:sp>
        <p:nvSpPr>
          <p:cNvPr id="7" name="Back link"/>
          <p:cNvSpPr txBox="1"/>
          <p:nvPr/>
        </p:nvSpPr>
        <p:spPr>
          <a:xfrm>
            <a:off x="9262872" y="5715000"/>
            <a:ext cx="137160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p:cNvPr>
          <p:cNvPicPr>
            <a:picLocks noChangeAspect="1"/>
          </p:cNvPicPr>
          <p:nvPr/>
        </p:nvPicPr>
        <p:blipFill>
          <a:blip r:embed="rId5"/>
          <a:stretch>
            <a:fillRect/>
          </a:stretch>
        </p:blipFill>
        <p:spPr>
          <a:xfrm>
            <a:off x="10835640" y="5715000"/>
            <a:ext cx="384048" cy="384048"/>
          </a:xfrm>
          <a:prstGeom prst="rect">
            <a:avLst/>
          </a:prstGeom>
        </p:spPr>
      </p:pic>
      <p:pic>
        <p:nvPicPr>
          <p:cNvPr id="9" name="Next step" descr="preencoded.png">
            <a:hlinkClick r:id="rId7" tooltip="Next step" action="ppaction://hlinksldjump"/>
          </p:cNvPr>
          <p:cNvPicPr>
            <a:picLocks noChangeAspect="1"/>
          </p:cNvPicPr>
          <p:nvPr/>
        </p:nvPicPr>
        <p:blipFill>
          <a:blip r:embed="rId6"/>
          <a:stretch>
            <a:fillRect/>
          </a:stretch>
        </p:blipFill>
        <p:spPr>
          <a:xfrm>
            <a:off x="1133856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Label"/>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MONITORING ON THE WEB · STEP 2 OF 6</a:t>
            </a:r>
            <a:endParaRPr lang="en-US" sz="1100" dirty="0"/>
          </a:p>
        </p:txBody>
      </p:sp>
      <p:sp>
        <p:nvSpPr>
          <p:cNvPr id="3" name="Title"/>
          <p:cNvSpPr txBox="1"/>
          <p:nvPr/>
        </p:nvSpPr>
        <p:spPr>
          <a:xfrm>
            <a:off x="457200" y="566928"/>
            <a:ext cx="11247120" cy="548640"/>
          </a:xfrm>
          <a:prstGeom prst="rect">
            <a:avLst/>
          </a:prstGeom>
          <a:noFill/>
          <a:ln/>
        </p:spPr>
        <p:txBody>
          <a:bodyPr wrap="square" lIns="0" tIns="0" rIns="0" bIns="0" rtlCol="0" anchor="ctr"/>
          <a:lstStyle/>
          <a:p>
            <a:pPr indent="0" marL="0">
              <a:buNone/>
            </a:pPr>
            <a:r>
              <a:rPr lang="en-US" sz="2800" b="1" dirty="0">
                <a:solidFill>
                  <a:schemeClr val="tx2"/>
                </a:solidFill>
              </a:rPr>
              <a:t>Plant position</a:t>
            </a:r>
            <a:endParaRPr lang="en-US" sz="2800" dirty="0"/>
          </a:p>
        </p:txBody>
      </p:sp>
      <p:pic>
        <p:nvPicPr>
          <p:cNvPr id="4" name="Picture" descr="/tmp/claude-0/-home-claude/604fe074-c4a3-59f5-a7f0-a4d942adf429/scratchpad/deck/img/w07_plant_position.jpg">    </p:cNvPr>
          <p:cNvPicPr>
            <a:picLocks noChangeAspect="1"/>
          </p:cNvPicPr>
          <p:nvPr/>
        </p:nvPicPr>
        <p:blipFill>
          <a:blip r:embed="rId1"/>
          <a:stretch>
            <a:fillRect/>
          </a:stretch>
        </p:blipFill>
        <p:spPr>
          <a:xfrm>
            <a:off x="457200" y="1280160"/>
            <a:ext cx="7955280" cy="497439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8732520" y="1280160"/>
            <a:ext cx="3017520" cy="39319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For one plant: own pallets at home by zone (loaded / empty), at other plants, in transit, at customers, damaged.</a:t>
            </a:r>
            <a:endParaRPr lang="en-US" sz="1400" dirty="0"/>
          </a:p>
        </p:txBody>
      </p:sp>
      <p:pic>
        <p:nvPicPr>
          <p:cNvPr id="6" name="Back button" descr="preencoded.png">
            <a:hlinkClick r:id="rId3" tooltip="Back to Monitoring on the web" action="ppaction://hlinksldjump"/>
          </p:cNvPr>
          <p:cNvPicPr>
            <a:picLocks noChangeAspect="1"/>
          </p:cNvPicPr>
          <p:nvPr/>
        </p:nvPicPr>
        <p:blipFill>
          <a:blip r:embed="rId2"/>
          <a:stretch>
            <a:fillRect/>
          </a:stretch>
        </p:blipFill>
        <p:spPr>
          <a:xfrm>
            <a:off x="8732520" y="5715000"/>
            <a:ext cx="420624" cy="420624"/>
          </a:xfrm>
          <a:prstGeom prst="rect">
            <a:avLst/>
          </a:prstGeom>
        </p:spPr>
      </p:pic>
      <p:sp>
        <p:nvSpPr>
          <p:cNvPr id="7" name="Back link"/>
          <p:cNvSpPr txBox="1"/>
          <p:nvPr/>
        </p:nvSpPr>
        <p:spPr>
          <a:xfrm>
            <a:off x="9262872" y="5715000"/>
            <a:ext cx="137160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835640" y="5715000"/>
            <a:ext cx="384048" cy="384048"/>
          </a:xfrm>
          <a:prstGeom prst="rect">
            <a:avLst/>
          </a:prstGeom>
        </p:spPr>
      </p:pic>
      <p:pic>
        <p:nvPicPr>
          <p:cNvPr id="9" name="Next step" descr="preencoded.png">
            <a:hlinkClick r:id="rId8" tooltip="Next step" action="ppaction://hlinksldjump"/>
          </p:cNvPr>
          <p:cNvPicPr>
            <a:picLocks noChangeAspect="1"/>
          </p:cNvPicPr>
          <p:nvPr/>
        </p:nvPicPr>
        <p:blipFill>
          <a:blip r:embed="rId7"/>
          <a:stretch>
            <a:fillRect/>
          </a:stretch>
        </p:blipFill>
        <p:spPr>
          <a:xfrm>
            <a:off x="1133856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Label"/>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MONITORING ON THE WEB · STEP 3 OF 6</a:t>
            </a:r>
            <a:endParaRPr lang="en-US" sz="1100" dirty="0"/>
          </a:p>
        </p:txBody>
      </p:sp>
      <p:sp>
        <p:nvSpPr>
          <p:cNvPr id="3" name="Title"/>
          <p:cNvSpPr txBox="1"/>
          <p:nvPr/>
        </p:nvSpPr>
        <p:spPr>
          <a:xfrm>
            <a:off x="457200" y="566928"/>
            <a:ext cx="11247120" cy="548640"/>
          </a:xfrm>
          <a:prstGeom prst="rect">
            <a:avLst/>
          </a:prstGeom>
          <a:noFill/>
          <a:ln/>
        </p:spPr>
        <p:txBody>
          <a:bodyPr wrap="square" lIns="0" tIns="0" rIns="0" bIns="0" rtlCol="0" anchor="ctr"/>
          <a:lstStyle/>
          <a:p>
            <a:pPr indent="0" marL="0">
              <a:buNone/>
            </a:pPr>
            <a:r>
              <a:rPr lang="en-US" sz="2800" b="1" dirty="0">
                <a:solidFill>
                  <a:schemeClr val="tx2"/>
                </a:solidFill>
              </a:rPr>
              <a:t>Return slip details</a:t>
            </a:r>
            <a:endParaRPr lang="en-US" sz="2800" dirty="0"/>
          </a:p>
        </p:txBody>
      </p:sp>
      <p:pic>
        <p:nvPicPr>
          <p:cNvPr id="4" name="Picture" descr="/tmp/claude-0/-home-claude/604fe074-c4a3-59f5-a7f0-a4d942adf429/scratchpad/deck/img/w06_slip_B_detail.jpg">    </p:cNvPr>
          <p:cNvPicPr>
            <a:picLocks noChangeAspect="1"/>
          </p:cNvPicPr>
          <p:nvPr/>
        </p:nvPicPr>
        <p:blipFill>
          <a:blip r:embed="rId1"/>
          <a:stretch>
            <a:fillRect/>
          </a:stretch>
        </p:blipFill>
        <p:spPr>
          <a:xfrm>
            <a:off x="457200" y="1280160"/>
            <a:ext cx="7955280" cy="497439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8732520" y="1280160"/>
            <a:ext cx="3017520" cy="39319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Each slip with its pallets (declared / received / exception) and, for Option B, the document photo and the comparison.</a:t>
            </a:r>
            <a:endParaRPr lang="en-US" sz="1400" dirty="0"/>
          </a:p>
        </p:txBody>
      </p:sp>
      <p:pic>
        <p:nvPicPr>
          <p:cNvPr id="6" name="Back button" descr="preencoded.png">
            <a:hlinkClick r:id="rId3" tooltip="Back to Monitoring on the web" action="ppaction://hlinksldjump"/>
          </p:cNvPr>
          <p:cNvPicPr>
            <a:picLocks noChangeAspect="1"/>
          </p:cNvPicPr>
          <p:nvPr/>
        </p:nvPicPr>
        <p:blipFill>
          <a:blip r:embed="rId2"/>
          <a:stretch>
            <a:fillRect/>
          </a:stretch>
        </p:blipFill>
        <p:spPr>
          <a:xfrm>
            <a:off x="8732520" y="5715000"/>
            <a:ext cx="420624" cy="420624"/>
          </a:xfrm>
          <a:prstGeom prst="rect">
            <a:avLst/>
          </a:prstGeom>
        </p:spPr>
      </p:pic>
      <p:sp>
        <p:nvSpPr>
          <p:cNvPr id="7" name="Back link"/>
          <p:cNvSpPr txBox="1"/>
          <p:nvPr/>
        </p:nvSpPr>
        <p:spPr>
          <a:xfrm>
            <a:off x="9262872" y="5715000"/>
            <a:ext cx="137160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835640" y="5715000"/>
            <a:ext cx="384048" cy="384048"/>
          </a:xfrm>
          <a:prstGeom prst="rect">
            <a:avLst/>
          </a:prstGeom>
        </p:spPr>
      </p:pic>
      <p:pic>
        <p:nvPicPr>
          <p:cNvPr id="9" name="Next step" descr="preencoded.png">
            <a:hlinkClick r:id="rId8" tooltip="Next step" action="ppaction://hlinksldjump"/>
          </p:cNvPr>
          <p:cNvPicPr>
            <a:picLocks noChangeAspect="1"/>
          </p:cNvPicPr>
          <p:nvPr/>
        </p:nvPicPr>
        <p:blipFill>
          <a:blip r:embed="rId7"/>
          <a:stretch>
            <a:fillRect/>
          </a:stretch>
        </p:blipFill>
        <p:spPr>
          <a:xfrm>
            <a:off x="1133856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Label"/>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MONITORING ON THE WEB · STEP 4 OF 6</a:t>
            </a:r>
            <a:endParaRPr lang="en-US" sz="1100" dirty="0"/>
          </a:p>
        </p:txBody>
      </p:sp>
      <p:sp>
        <p:nvSpPr>
          <p:cNvPr id="3" name="Title"/>
          <p:cNvSpPr txBox="1"/>
          <p:nvPr/>
        </p:nvSpPr>
        <p:spPr>
          <a:xfrm>
            <a:off x="457200" y="566928"/>
            <a:ext cx="11247120" cy="548640"/>
          </a:xfrm>
          <a:prstGeom prst="rect">
            <a:avLst/>
          </a:prstGeom>
          <a:noFill/>
          <a:ln/>
        </p:spPr>
        <p:txBody>
          <a:bodyPr wrap="square" lIns="0" tIns="0" rIns="0" bIns="0" rtlCol="0" anchor="ctr"/>
          <a:lstStyle/>
          <a:p>
            <a:pPr indent="0" marL="0">
              <a:buNone/>
            </a:pPr>
            <a:r>
              <a:rPr lang="en-US" sz="2800" b="1" dirty="0">
                <a:solidFill>
                  <a:schemeClr val="tx2"/>
                </a:solidFill>
              </a:rPr>
              <a:t>Missed scans</a:t>
            </a:r>
            <a:endParaRPr lang="en-US" sz="2800" dirty="0"/>
          </a:p>
        </p:txBody>
      </p:sp>
      <p:pic>
        <p:nvPicPr>
          <p:cNvPr id="4" name="Picture" descr="/tmp/claude-0/-home-claude/604fe074-c4a3-59f5-a7f0-a4d942adf429/scratchpad/deck/img/w08_missed_scans.jpg">    </p:cNvPr>
          <p:cNvPicPr>
            <a:picLocks noChangeAspect="1"/>
          </p:cNvPicPr>
          <p:nvPr/>
        </p:nvPicPr>
        <p:blipFill>
          <a:blip r:embed="rId1"/>
          <a:stretch>
            <a:fillRect/>
          </a:stretch>
        </p:blipFill>
        <p:spPr>
          <a:xfrm>
            <a:off x="457200" y="1280160"/>
            <a:ext cx="7955280" cy="497439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8732520" y="1280160"/>
            <a:ext cx="3017520" cy="39319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Every scan point checks what should have happened before. A skipped scan is recorded with the role that missed it and corrected when safe.</a:t>
            </a:r>
            <a:endParaRPr lang="en-US" sz="1400" dirty="0"/>
          </a:p>
        </p:txBody>
      </p:sp>
      <p:pic>
        <p:nvPicPr>
          <p:cNvPr id="6" name="Back button" descr="preencoded.png">
            <a:hlinkClick r:id="rId3" tooltip="Back to Monitoring on the web" action="ppaction://hlinksldjump"/>
          </p:cNvPr>
          <p:cNvPicPr>
            <a:picLocks noChangeAspect="1"/>
          </p:cNvPicPr>
          <p:nvPr/>
        </p:nvPicPr>
        <p:blipFill>
          <a:blip r:embed="rId2"/>
          <a:stretch>
            <a:fillRect/>
          </a:stretch>
        </p:blipFill>
        <p:spPr>
          <a:xfrm>
            <a:off x="8732520" y="5715000"/>
            <a:ext cx="420624" cy="420624"/>
          </a:xfrm>
          <a:prstGeom prst="rect">
            <a:avLst/>
          </a:prstGeom>
        </p:spPr>
      </p:pic>
      <p:sp>
        <p:nvSpPr>
          <p:cNvPr id="7" name="Back link"/>
          <p:cNvSpPr txBox="1"/>
          <p:nvPr/>
        </p:nvSpPr>
        <p:spPr>
          <a:xfrm>
            <a:off x="9262872" y="5715000"/>
            <a:ext cx="137160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835640" y="5715000"/>
            <a:ext cx="384048" cy="384048"/>
          </a:xfrm>
          <a:prstGeom prst="rect">
            <a:avLst/>
          </a:prstGeom>
        </p:spPr>
      </p:pic>
      <p:pic>
        <p:nvPicPr>
          <p:cNvPr id="9" name="Next step" descr="preencoded.png">
            <a:hlinkClick r:id="rId8" tooltip="Next step" action="ppaction://hlinksldjump"/>
          </p:cNvPr>
          <p:cNvPicPr>
            <a:picLocks noChangeAspect="1"/>
          </p:cNvPicPr>
          <p:nvPr/>
        </p:nvPicPr>
        <p:blipFill>
          <a:blip r:embed="rId7"/>
          <a:stretch>
            <a:fillRect/>
          </a:stretch>
        </p:blipFill>
        <p:spPr>
          <a:xfrm>
            <a:off x="1133856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Label"/>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MONITORING ON THE WEB · STEP 5 OF 6</a:t>
            </a:r>
            <a:endParaRPr lang="en-US" sz="1100" dirty="0"/>
          </a:p>
        </p:txBody>
      </p:sp>
      <p:sp>
        <p:nvSpPr>
          <p:cNvPr id="3" name="Title"/>
          <p:cNvSpPr txBox="1"/>
          <p:nvPr/>
        </p:nvSpPr>
        <p:spPr>
          <a:xfrm>
            <a:off x="457200" y="566928"/>
            <a:ext cx="11247120" cy="548640"/>
          </a:xfrm>
          <a:prstGeom prst="rect">
            <a:avLst/>
          </a:prstGeom>
          <a:noFill/>
          <a:ln/>
        </p:spPr>
        <p:txBody>
          <a:bodyPr wrap="square" lIns="0" tIns="0" rIns="0" bIns="0" rtlCol="0" anchor="ctr"/>
          <a:lstStyle/>
          <a:p>
            <a:pPr indent="0" marL="0">
              <a:buNone/>
            </a:pPr>
            <a:r>
              <a:rPr lang="en-US" sz="2800" b="1" dirty="0">
                <a:solidFill>
                  <a:schemeClr val="tx2"/>
                </a:solidFill>
              </a:rPr>
              <a:t>Live transactions</a:t>
            </a:r>
            <a:endParaRPr lang="en-US" sz="2800" dirty="0"/>
          </a:p>
        </p:txBody>
      </p:sp>
      <p:pic>
        <p:nvPicPr>
          <p:cNvPr id="4" name="Picture" descr="/tmp/claude-0/-home-claude/604fe074-c4a3-59f5-a7f0-a4d942adf429/scratchpad/deck/img/w09_live.jpg">    </p:cNvPr>
          <p:cNvPicPr>
            <a:picLocks noChangeAspect="1"/>
          </p:cNvPicPr>
          <p:nvPr/>
        </p:nvPicPr>
        <p:blipFill>
          <a:blip r:embed="rId1"/>
          <a:stretch>
            <a:fillRect/>
          </a:stretch>
        </p:blipFill>
        <p:spPr>
          <a:xfrm>
            <a:off x="457200" y="1280160"/>
            <a:ext cx="7955280" cy="497439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8732520" y="1280160"/>
            <a:ext cx="3017520" cy="39319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Every HHT scan and movement, refreshed every 10 seconds.</a:t>
            </a:r>
            <a:endParaRPr lang="en-US" sz="1400" dirty="0"/>
          </a:p>
        </p:txBody>
      </p:sp>
      <p:pic>
        <p:nvPicPr>
          <p:cNvPr id="6" name="Back button" descr="preencoded.png">
            <a:hlinkClick r:id="rId3" tooltip="Back to Monitoring on the web" action="ppaction://hlinksldjump"/>
          </p:cNvPr>
          <p:cNvPicPr>
            <a:picLocks noChangeAspect="1"/>
          </p:cNvPicPr>
          <p:nvPr/>
        </p:nvPicPr>
        <p:blipFill>
          <a:blip r:embed="rId2"/>
          <a:stretch>
            <a:fillRect/>
          </a:stretch>
        </p:blipFill>
        <p:spPr>
          <a:xfrm>
            <a:off x="8732520" y="5715000"/>
            <a:ext cx="420624" cy="420624"/>
          </a:xfrm>
          <a:prstGeom prst="rect">
            <a:avLst/>
          </a:prstGeom>
        </p:spPr>
      </p:pic>
      <p:sp>
        <p:nvSpPr>
          <p:cNvPr id="7" name="Back link"/>
          <p:cNvSpPr txBox="1"/>
          <p:nvPr/>
        </p:nvSpPr>
        <p:spPr>
          <a:xfrm>
            <a:off x="9262872" y="5715000"/>
            <a:ext cx="137160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835640" y="5715000"/>
            <a:ext cx="384048" cy="384048"/>
          </a:xfrm>
          <a:prstGeom prst="rect">
            <a:avLst/>
          </a:prstGeom>
        </p:spPr>
      </p:pic>
      <p:pic>
        <p:nvPicPr>
          <p:cNvPr id="9" name="Next step" descr="preencoded.png">
            <a:hlinkClick r:id="rId8" tooltip="Next step" action="ppaction://hlinksldjump"/>
          </p:cNvPr>
          <p:cNvPicPr>
            <a:picLocks noChangeAspect="1"/>
          </p:cNvPicPr>
          <p:nvPr/>
        </p:nvPicPr>
        <p:blipFill>
          <a:blip r:embed="rId7"/>
          <a:stretch>
            <a:fillRect/>
          </a:stretch>
        </p:blipFill>
        <p:spPr>
          <a:xfrm>
            <a:off x="1133856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Label"/>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MONITORING ON THE WEB · STEP 6 OF 6</a:t>
            </a:r>
            <a:endParaRPr lang="en-US" sz="1100" dirty="0"/>
          </a:p>
        </p:txBody>
      </p:sp>
      <p:sp>
        <p:nvSpPr>
          <p:cNvPr id="3" name="Title"/>
          <p:cNvSpPr txBox="1"/>
          <p:nvPr/>
        </p:nvSpPr>
        <p:spPr>
          <a:xfrm>
            <a:off x="457200" y="566928"/>
            <a:ext cx="11247120" cy="548640"/>
          </a:xfrm>
          <a:prstGeom prst="rect">
            <a:avLst/>
          </a:prstGeom>
          <a:noFill/>
          <a:ln/>
        </p:spPr>
        <p:txBody>
          <a:bodyPr wrap="square" lIns="0" tIns="0" rIns="0" bIns="0" rtlCol="0" anchor="ctr"/>
          <a:lstStyle/>
          <a:p>
            <a:pPr indent="0" marL="0">
              <a:buNone/>
            </a:pPr>
            <a:r>
              <a:rPr lang="en-US" sz="2800" b="1" dirty="0">
                <a:solidFill>
                  <a:schemeClr val="tx2"/>
                </a:solidFill>
              </a:rPr>
              <a:t>Transporter master</a:t>
            </a:r>
            <a:endParaRPr lang="en-US" sz="2800" dirty="0"/>
          </a:p>
        </p:txBody>
      </p:sp>
      <p:pic>
        <p:nvPicPr>
          <p:cNvPr id="4" name="Picture" descr="/tmp/claude-0/-home-claude/604fe074-c4a3-59f5-a7f0-a4d942adf429/scratchpad/deck/img/w10_transporters_plant_user.jpg">    </p:cNvPr>
          <p:cNvPicPr>
            <a:picLocks noChangeAspect="1"/>
          </p:cNvPicPr>
          <p:nvPr/>
        </p:nvPicPr>
        <p:blipFill>
          <a:blip r:embed="rId1"/>
          <a:stretch>
            <a:fillRect/>
          </a:stretch>
        </p:blipFill>
        <p:spPr>
          <a:xfrm>
            <a:off x="457200" y="1280160"/>
            <a:ext cx="7955280" cy="4974390"/>
          </a:xfrm>
          <a:prstGeom prst="rect">
            <a:avLst/>
          </a:prstGeom>
          <a:effectLst>
            <a:outerShdw sx="100000" sy="100000" kx="0" ky="0" algn="bl" rotWithShape="0" blurRad="127000" dist="38100" dir="5400000">
              <a:srgbClr val="1E2A5A">
                <a:alpha val="25000"/>
              </a:srgbClr>
            </a:outerShdw>
          </a:effectLst>
        </p:spPr>
      </p:pic>
      <p:sp>
        <p:nvSpPr>
          <p:cNvPr id="5" name="Explanation"/>
          <p:cNvSpPr txBox="1"/>
          <p:nvPr/>
        </p:nvSpPr>
        <p:spPr>
          <a:xfrm>
            <a:off x="8732520" y="1280160"/>
            <a:ext cx="3017520" cy="39319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Masters › Transporters: Template with sample, Current data, Upload - now also for Logistics and Plant Admin (own plant).</a:t>
            </a:r>
            <a:endParaRPr lang="en-US" sz="1400" dirty="0"/>
          </a:p>
          <a:p>
            <a:pPr marL="342900" indent="-342900">
              <a:spcAft>
                <a:spcPts val="1000"/>
              </a:spcAft>
              <a:buSzPct val="100000"/>
              <a:buChar char="•"/>
            </a:pPr>
            <a:r>
              <a:rPr lang="en-US" sz="1400" dirty="0">
                <a:solidFill>
                  <a:schemeClr val="tx1"/>
                </a:solidFill>
              </a:rPr>
              <a:t>New transporters on a GCS file are added automatically with their vehicles.</a:t>
            </a:r>
            <a:endParaRPr lang="en-US" sz="1400" dirty="0"/>
          </a:p>
        </p:txBody>
      </p:sp>
      <p:pic>
        <p:nvPicPr>
          <p:cNvPr id="6" name="Back button" descr="preencoded.png">
            <a:hlinkClick r:id="rId3" tooltip="Back to Monitoring on the web" action="ppaction://hlinksldjump"/>
          </p:cNvPr>
          <p:cNvPicPr>
            <a:picLocks noChangeAspect="1"/>
          </p:cNvPicPr>
          <p:nvPr/>
        </p:nvPicPr>
        <p:blipFill>
          <a:blip r:embed="rId2"/>
          <a:stretch>
            <a:fillRect/>
          </a:stretch>
        </p:blipFill>
        <p:spPr>
          <a:xfrm>
            <a:off x="8732520" y="5715000"/>
            <a:ext cx="420624" cy="420624"/>
          </a:xfrm>
          <a:prstGeom prst="rect">
            <a:avLst/>
          </a:prstGeom>
        </p:spPr>
      </p:pic>
      <p:sp>
        <p:nvSpPr>
          <p:cNvPr id="7" name="Back link"/>
          <p:cNvSpPr txBox="1"/>
          <p:nvPr/>
        </p:nvSpPr>
        <p:spPr>
          <a:xfrm>
            <a:off x="9262872" y="5715000"/>
            <a:ext cx="1371600" cy="420624"/>
          </a:xfrm>
          <a:prstGeom prst="rect">
            <a:avLst/>
          </a:prstGeom>
          <a:noFill/>
          <a:ln/>
        </p:spPr>
        <p:txBody>
          <a:bodyPr wrap="square" lIns="0" tIns="0" rIns="0" bIns="0" rtlCol="0" anchor="ctr">
            <a:normAutofit/>
          </a:bodyPr>
          <a:lstStyle/>
          <a:p>
            <a:pPr indent="0" marL="0">
              <a:buNone/>
            </a:pPr>
            <a:r>
              <a:rPr lang="en-US" sz="1300" b="1" u="sng" dirty="0">
                <a:solidFill>
                  <a:schemeClr val="accent1"/>
                </a:solidFill>
                <a:hlinkClick r:id="rId4" action="ppaction://hlinksldjump" tooltip="Back">
                  <a:extLst>
                    <a:ext uri="{A12FA001-AC4F-418D-AE19-62706E023703}">
                      <ahyp:hlinkClr xmlns:ahyp="http://schemas.microsoft.com/office/drawing/2018/hyperlinkcolor" val="tx"/>
                    </a:ext>
                  </a:extLst>
                </a:hlinkClick>
              </a:rPr>
              <a:t>Back to steps</a:t>
            </a:r>
            <a:endParaRPr lang="en-US" sz="1300" dirty="0"/>
          </a:p>
        </p:txBody>
      </p:sp>
      <p:pic>
        <p:nvPicPr>
          <p:cNvPr id="8" name="Previous step" descr="preencoded.png">
            <a:hlinkClick r:id="rId6" tooltip="Previous step" action="ppaction://hlinksldjump"/>
          </p:cNvPr>
          <p:cNvPicPr>
            <a:picLocks noChangeAspect="1"/>
          </p:cNvPicPr>
          <p:nvPr/>
        </p:nvPicPr>
        <p:blipFill>
          <a:blip r:embed="rId5"/>
          <a:stretch>
            <a:fillRect/>
          </a:stretch>
        </p:blipFill>
        <p:spPr>
          <a:xfrm>
            <a:off x="10835640" y="5715000"/>
            <a:ext cx="384048" cy="384048"/>
          </a:xfrm>
          <a:prstGeom prst="rect">
            <a:avLst/>
          </a:prstGeom>
        </p:spPr>
      </p:pic>
      <p:pic>
        <p:nvPicPr>
          <p:cNvPr id="9" name="Next step" descr="preencoded.png">    </p:cNvPr>
          <p:cNvPicPr>
            <a:picLocks noChangeAspect="1"/>
          </p:cNvPicPr>
          <p:nvPr/>
        </p:nvPicPr>
        <p:blipFill>
          <a:blip r:embed="rId7"/>
          <a:stretch>
            <a:fillRect/>
          </a:stretch>
        </p:blipFill>
        <p:spPr>
          <a:xfrm>
            <a:off x="11338560" y="5715000"/>
            <a:ext cx="384048" cy="384048"/>
          </a:xfrm>
          <a:prstGeom prst="rect">
            <a:avLst/>
          </a:prstGeom>
        </p:spPr>
      </p:pic>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74</a:t>
            </a:fld>
            <a:endParaRPr lang="en-US"/>
          </a:p>
        </p:txBody>
      </p:sp>
    </p:spTree>
  </p:cSld>
  <p:clrMapOvr>
    <a:masterClrMapping/>
  </p:clrMapOvr>
</p:sld>
</file>

<file path=ppt/theme/theme1.xml><?xml version="1.0" encoding="utf-8"?>
<a:theme xmlns:a="http://schemas.openxmlformats.org/drawingml/2006/main" name="AIS AssetTrack">
  <a:themeElements>
    <a:clrScheme name="AIS AssetTrack">
      <a:dk1>
        <a:srgbClr val="1B1F2A"/>
      </a:dk1>
      <a:lt1>
        <a:srgbClr val="FFFFFF"/>
      </a:lt1>
      <a:dk2>
        <a:srgbClr val="1E2A5A"/>
      </a:dk2>
      <a:lt2>
        <a:srgbClr val="EEF1F7"/>
      </a:lt2>
      <a:accent1>
        <a:srgbClr val="25358C"/>
      </a:accent1>
      <a:accent2>
        <a:srgbClr val="D32F2F"/>
      </a:accent2>
      <a:accent3>
        <a:srgbClr val="0F766E"/>
      </a:accent3>
      <a:accent4>
        <a:srgbClr val="B45309"/>
      </a:accent4>
      <a:accent5>
        <a:srgbClr val="15803D"/>
      </a:accent5>
      <a:accent6>
        <a:srgbClr val="6D28D9"/>
      </a:accent6>
      <a:hlink>
        <a:srgbClr val="25358C"/>
      </a:hlink>
      <a:folHlink>
        <a:srgbClr val="6D28D9"/>
      </a:folHlink>
    </a:clrScheme>
    <a:fontScheme name="AIS AssetTrac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74</Slides>
  <Notes>74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74</vt:i4>
      </vt:variant>
    </vt:vector>
  </HeadingPairs>
  <TitlesOfParts>
    <vt:vector size="7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vector>
  </TitlesOfParts>
  <Company>Asahi India Glass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AIS AssetTrack - Process walkthrough</dc:title>
  <dc:subject>PptxGenJS Presentation</dc:subject>
  <dc:creator>DT</dc:creator>
  <cp:lastModifiedBy>DT</cp:lastModifiedBy>
  <cp:revision>1</cp:revision>
  <dcterms:created xsi:type="dcterms:W3CDTF">2026-10-11T17:34:04Z</dcterms:created>
  <dcterms:modified xsi:type="dcterms:W3CDTF">2026-10-11T17:34:04Z</dcterms:modified>
</cp:coreProperties>
</file>