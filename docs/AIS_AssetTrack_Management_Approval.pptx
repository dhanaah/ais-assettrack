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5dc3d392-7f01-f7a9-de02-85b98e46d8be}">
          <p14:sldIdLst>
            <p14:sldId id="256"/>
            <p14:sldId id="257"/>
            <p14:sldId id="258"/>
          </p14:sldIdLst>
        </p14:section>
        <p14:section name="Revised process flow" id="{f2ba5b4f-f97b-a2b8-99e8-9737925bdd34}">
          <p14:sldIdLst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Solution" id="{a94f4141-5211-a0ff-17bf-535cc94c5c3a}">
          <p14:sldIdLst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Roadmap" id="{8aa881eb-249c-3bca-d7ef-1c47e49804a9}">
          <p14:sldIdLst>
            <p14:sldId id="275"/>
            <p14:sldId id="276"/>
            <p14:sldId id="277"/>
          </p14:sldIdLst>
        </p14:section>
        <p14:section name="Decision" id="{a17d9caf-7a2f-093c-34b5-fa4ff083e5a1}">
          <p14:sldIdLst>
            <p14:sldId id="278"/>
            <p14:sldId id="27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Opening: one closed loop, every pallet known by ID. Ask for approval of pilot at Chennai and the hardware list on the last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image" Target="../media/image-1004-2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is-assettrack/hht/assets/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48640"/>
            <a:ext cx="1371600" cy="1371600"/>
          </a:xfrm>
          <a:prstGeom prst="rect">
            <a:avLst/>
          </a:prstGeom>
        </p:spPr>
      </p:pic>
      <p:pic>
        <p:nvPicPr>
          <p:cNvPr id="3" name="Image 1" descr="/home/claude/ais-assettrack/server/app/static/word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194560"/>
            <a:ext cx="4572000" cy="1325880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640080" y="3749040"/>
            <a:ext cx="109728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40080" y="4572000"/>
            <a:ext cx="109728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6" name="Text 0"/>
          <p:cNvSpPr/>
          <p:nvPr/>
        </p:nvSpPr>
        <p:spPr>
          <a:xfrm>
            <a:off x="640080" y="6217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Asahi India Glass Ltd. · Supply Chain Planning · Developed by DT</a:t>
            </a:r>
            <a:endParaRPr lang="en-US" sz="11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is-assettrack/hht/assets/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8520" y="228600"/>
            <a:ext cx="731520" cy="73152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274320"/>
            <a:ext cx="1024128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AIS AssetTrack · Management approval · Oct 2026 · Developed by DT</a:t>
            </a:r>
            <a:endParaRPr lang="en-US" sz="9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is-assettrack/hht/assets/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828800"/>
            <a:ext cx="822960" cy="82296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2743200"/>
            <a:ext cx="1051560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749040"/>
            <a:ext cx="10515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pic>
        <p:nvPicPr>
          <p:cNvPr id="5" name="Image 1" descr="/home/claude/ais-assettrack/server/app/static/word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5303520"/>
            <a:ext cx="3017520" cy="86868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640080" y="37490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Returnable Pallet Tracking</a:t>
            </a:r>
            <a:endParaRPr lang="en-US" sz="36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640080" y="4572000"/>
            <a:ext cx="10972800" cy="11887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AIS → OEM / OES / AFM customers and back · Proposal for management approval · October 2026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457200" y="27432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Why: pallets leave by scan, but come back by count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2651760" cy="1234440"/>
          </a:xfrm>
          <a:prstGeom prst="roundRect">
            <a:avLst>
              <a:gd name="adj" fmla="val 8889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2801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3A8A"/>
                </a:solidFill>
              </a:rPr>
              <a:t>15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93852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plants dispatch returnable pallets to customers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291840" y="1188720"/>
            <a:ext cx="2651760" cy="1234440"/>
          </a:xfrm>
          <a:prstGeom prst="roundRect">
            <a:avLst>
              <a:gd name="adj" fmla="val 8889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474720" y="12801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DC2626"/>
                </a:solidFill>
              </a:rPr>
              <a:t>0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193852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pallets currently known by ID while at customer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126480" y="1188720"/>
            <a:ext cx="2651760" cy="1234440"/>
          </a:xfrm>
          <a:prstGeom prst="roundRect">
            <a:avLst>
              <a:gd name="adj" fmla="val 8889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09360" y="12801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D97706"/>
                </a:solidFill>
              </a:rPr>
              <a:t>Qty only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193852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return recorded from a manual challan at the gate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961120" y="1188720"/>
            <a:ext cx="2743200" cy="1234440"/>
          </a:xfrm>
          <a:prstGeom prst="roundRect">
            <a:avLst>
              <a:gd name="adj" fmla="val 8889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144000" y="128016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DC2626"/>
                </a:solidFill>
              </a:rPr>
              <a:t>?</a:t>
            </a:r>
            <a:endParaRPr lang="en-US" sz="36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0" y="193852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pallets lost, aging or chargeable — not visible today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743200"/>
            <a:ext cx="5486400" cy="3383280"/>
          </a:xfrm>
          <a:prstGeom prst="roundRect">
            <a:avLst>
              <a:gd name="adj" fmla="val 324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94A3B8">
                <a:alpha val="2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40080" y="2926080"/>
            <a:ext cx="384048" cy="38404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143000" y="2907792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Today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3401568"/>
            <a:ext cx="512064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</a:rPr>
              <a:t>Dispatch is scan-driven: pallet QR, green card, invoice QR, GCS QR</a:t>
            </a:r>
            <a:endParaRPr lang="en-US" sz="12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</a:rPr>
              <a:t>Return is count-driven: customer sends a manual challan, security records a quantity</a:t>
            </a:r>
            <a:endParaRPr lang="en-US" sz="12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</a:rPr>
              <a:t>Pallet IDs are identified only when the yard team scans at staging</a:t>
            </a:r>
            <a:endParaRPr lang="en-US" sz="12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</a:rPr>
              <a:t>No customer-wise holding, no aging, no reminder, no chargeable list</a:t>
            </a:r>
            <a:endParaRPr lang="en-US" sz="12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</a:rPr>
              <a:t>Pallets from other plants arrive mixed and cannot be processed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17920" y="2743200"/>
            <a:ext cx="5486400" cy="3383280"/>
          </a:xfrm>
          <a:prstGeom prst="roundRect">
            <a:avLst>
              <a:gd name="adj" fmla="val 324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94A3B8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00800" y="2926080"/>
            <a:ext cx="384048" cy="384048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903720" y="2907792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What AssetTrack changes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0" y="3401568"/>
            <a:ext cx="512064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</a:rPr>
              <a:t>One barcode tag per pallet; every movement is a scan, validated by rules</a:t>
            </a:r>
            <a:endParaRPr lang="en-US" sz="12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</a:rPr>
              <a:t>Return Slip with QR replaces the manual challan (customer end or AIS gate)</a:t>
            </a:r>
            <a:endParaRPr lang="en-US" sz="12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</a:rPr>
              <a:t>Three-way reconciliation at the yard: ledger vs slip vs scan</a:t>
            </a:r>
            <a:endParaRPr lang="en-US" sz="12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</a:rPr>
              <a:t>Customer ledger by pallet ID with aging, reminders and chargeable list</a:t>
            </a:r>
            <a:endParaRPr lang="en-US" sz="12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</a:rPr>
              <a:t>Oracle EBS and GCS integrated: no double entry, gate fully system-controlled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457200" y="27432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The closed loop in one picture</a:t>
            </a:r>
            <a:endParaRPr lang="en-US" sz="2800" dirty="0"/>
          </a:p>
        </p:txBody>
      </p:sp>
      <p:pic>
        <p:nvPicPr>
          <p:cNvPr id="3" name="Image 0" descr="/home/claude/shots/flow_mgm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051560"/>
            <a:ext cx="11247120" cy="5029200"/>
          </a:xfrm>
          <a:prstGeom prst="rect">
            <a:avLst/>
          </a:prstGeom>
          <a:effectLst>
            <a:outerShdw sx="100000" sy="100000" kx="0" ky="0" algn="bl" rotWithShape="0" blurRad="63500" dist="19050" dir="5400000">
              <a:srgbClr val="94A3B8">
                <a:alpha val="30000"/>
              </a:srgbClr>
            </a:outerShdw>
          </a:effectLst>
        </p:spPr>
      </p:pic>
      <p:sp>
        <p:nvSpPr>
          <p:cNvPr id="4" name="Text 1"/>
          <p:cNvSpPr txBox="1"/>
          <p:nvPr/>
        </p:nvSpPr>
        <p:spPr>
          <a:xfrm>
            <a:off x="457200" y="612648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</a:rPr>
              <a:t>Dispatch left → right, return right → left. Blue = app, amber = control, dashed = Oracle EBS / GCS, red = customer, green = result.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731520" y="274320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Revised process flow</a:t>
            </a:r>
            <a:endParaRPr lang="en-US" sz="36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731520" y="37490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Overview, dispatch and return in detail, controls and masters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457200" y="27432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Revised end-to-end flow (v0.4)</a:t>
            </a:r>
            <a:endParaRPr lang="en-US" sz="2800" dirty="0"/>
          </a:p>
        </p:txBody>
      </p:sp>
      <p:pic>
        <p:nvPicPr>
          <p:cNvPr id="3" name="Image 0" descr="/home/claude/shots/flow_overview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051560"/>
            <a:ext cx="11247120" cy="5074920"/>
          </a:xfrm>
          <a:prstGeom prst="rect">
            <a:avLst/>
          </a:prstGeom>
          <a:effectLst>
            <a:outerShdw sx="100000" sy="100000" kx="0" ky="0" algn="bl" rotWithShape="0" blurRad="63500" dist="19050" dir="5400000">
              <a:srgbClr val="94A3B8">
                <a:alpha val="30000"/>
              </a:srgbClr>
            </a:outerShdw>
          </a:effectLst>
        </p:spPr>
      </p:pic>
      <p:sp>
        <p:nvSpPr>
          <p:cNvPr id="4" name="Text 1"/>
          <p:cNvSpPr txBox="1"/>
          <p:nvPr/>
        </p:nvSpPr>
        <p:spPr>
          <a:xfrm>
            <a:off x="457200" y="61722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</a:rPr>
              <a:t>Masters on top · DISPATCH lane: Pick List → EBS SO → dock scan → Pick List Control → challan → Challan Control → logistics approve → GCS out · RETURN lane: slip → IN gate → yard scan → reconcile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457200" y="27432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Dispatch in detail: pick list, dock scanning, challan, gate</a:t>
            </a:r>
            <a:endParaRPr lang="en-US" sz="2800" dirty="0"/>
          </a:p>
        </p:txBody>
      </p:sp>
      <p:pic>
        <p:nvPicPr>
          <p:cNvPr id="3" name="Image 0" descr="/home/claude/shots/proc_2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005840"/>
            <a:ext cx="11247120" cy="2423160"/>
          </a:xfrm>
          <a:prstGeom prst="rect">
            <a:avLst/>
          </a:prstGeom>
          <a:effectLst>
            <a:outerShdw sx="100000" sy="100000" kx="0" ky="0" algn="bl" rotWithShape="0" blurRad="63500" dist="19050" dir="5400000">
              <a:srgbClr val="94A3B8">
                <a:alpha val="30000"/>
              </a:srgbClr>
            </a:outerShdw>
          </a:effectLst>
        </p:spPr>
      </p:pic>
      <p:sp>
        <p:nvSpPr>
          <p:cNvPr id="4" name="Text 1"/>
          <p:cNvSpPr txBox="1"/>
          <p:nvPr/>
        </p:nvSpPr>
        <p:spPr>
          <a:xfrm>
            <a:off x="457200" y="347472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</a:rPr>
              <a:t>Dock out-ward scan &amp; Pick List Control: unknown / retired tag, foreign pallet, not AVAILABLE and quantity checks — every rule also runs offline on the HHT</a:t>
            </a:r>
            <a:endParaRPr lang="en-US" sz="1000" dirty="0"/>
          </a:p>
        </p:txBody>
      </p:sp>
      <p:pic>
        <p:nvPicPr>
          <p:cNvPr id="5" name="Image 1" descr="/home/claude/shots/proc_3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57200" y="3749040"/>
            <a:ext cx="11247120" cy="2423160"/>
          </a:xfrm>
          <a:prstGeom prst="rect">
            <a:avLst/>
          </a:prstGeom>
          <a:effectLst>
            <a:outerShdw sx="100000" sy="100000" kx="0" ky="0" algn="bl" rotWithShape="0" blurRad="63500" dist="19050" dir="5400000">
              <a:srgbClr val="94A3B8">
                <a:alpha val="30000"/>
              </a:srgbClr>
            </a:outerShdw>
          </a:effectLst>
        </p:spPr>
      </p:pic>
      <p:sp>
        <p:nvSpPr>
          <p:cNvPr id="6" name="Text 2"/>
          <p:cNvSpPr txBox="1"/>
          <p:nvPr/>
        </p:nvSpPr>
        <p:spPr>
          <a:xfrm>
            <a:off x="457200" y="621792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</a:rPr>
              <a:t>Challan (ORACLE / APP switch) → Logistics approve → GCS outward → OUT gate QR match. Mismatch = vehicle held; override only with supervisor PIN and logged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457200" y="27432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Return in detail: return slip, IN gate, yard reconciliation</a:t>
            </a:r>
            <a:endParaRPr lang="en-US" sz="2800" dirty="0"/>
          </a:p>
        </p:txBody>
      </p:sp>
      <p:pic>
        <p:nvPicPr>
          <p:cNvPr id="3" name="Image 0" descr="/home/claude/shots/proc_4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005840"/>
            <a:ext cx="11247120" cy="2423160"/>
          </a:xfrm>
          <a:prstGeom prst="rect">
            <a:avLst/>
          </a:prstGeom>
          <a:effectLst>
            <a:outerShdw sx="100000" sy="100000" kx="0" ky="0" algn="bl" rotWithShape="0" blurRad="63500" dist="19050" dir="5400000">
              <a:srgbClr val="94A3B8">
                <a:alpha val="30000"/>
              </a:srgbClr>
            </a:outerShdw>
          </a:effectLst>
        </p:spPr>
      </p:pic>
      <p:sp>
        <p:nvSpPr>
          <p:cNvPr id="4" name="Text 1"/>
          <p:cNvSpPr txBox="1"/>
          <p:nvPr/>
        </p:nvSpPr>
        <p:spPr>
          <a:xfrm>
            <a:off x="457200" y="347472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</a:rPr>
              <a:t>Return Slip: Mode A at customer end (scan + Bluetooth print, or push via API) · Mode B at AIS gate: B1 full scan, B2 quantity only (PENDING VERIFICATION)</a:t>
            </a:r>
            <a:endParaRPr lang="en-US" sz="1000" dirty="0"/>
          </a:p>
        </p:txBody>
      </p:sp>
      <p:pic>
        <p:nvPicPr>
          <p:cNvPr id="5" name="Image 1" descr="/home/claude/shots/proc_5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57200" y="3749040"/>
            <a:ext cx="11247120" cy="2423160"/>
          </a:xfrm>
          <a:prstGeom prst="rect">
            <a:avLst/>
          </a:prstGeom>
          <a:effectLst>
            <a:outerShdw sx="100000" sy="100000" kx="0" ky="0" algn="bl" rotWithShape="0" blurRad="63500" dist="19050" dir="5400000">
              <a:srgbClr val="94A3B8">
                <a:alpha val="30000"/>
              </a:srgbClr>
            </a:outerShdw>
          </a:effectLst>
        </p:spPr>
      </p:pic>
      <p:sp>
        <p:nvSpPr>
          <p:cNvPr id="6" name="Text 2"/>
          <p:cNvSpPr txBox="1"/>
          <p:nvPr/>
        </p:nvSpPr>
        <p:spPr>
          <a:xfrm>
            <a:off x="457200" y="621792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</a:rPr>
              <a:t>IN gate scan creates GCS-IN · yard scans each pallet with the "accept other-plant" option · three-way reconcile → AVAILABLE / HELD / exception queue · close needs supervisor PIN if exceptions remain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457200" y="27432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Four controls and how exceptions are handled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97480" cy="2103120"/>
          </a:xfrm>
          <a:prstGeom prst="roundRect">
            <a:avLst>
              <a:gd name="adj" fmla="val 5217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94A3B8">
                <a:alpha val="2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40080" y="1280160"/>
            <a:ext cx="384048" cy="384048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261872"/>
            <a:ext cx="1874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Pick List Control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55648"/>
            <a:ext cx="2331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334155"/>
                </a:solidFill>
              </a:rPr>
              <a:t>Scanned count must equal pick-list qty; only same-plant AVAILABLE pallets; no duplicates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291840" y="1097280"/>
            <a:ext cx="2697480" cy="2103120"/>
          </a:xfrm>
          <a:prstGeom prst="roundRect">
            <a:avLst>
              <a:gd name="adj" fmla="val 5217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94A3B8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474720" y="1280160"/>
            <a:ext cx="384048" cy="384048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47472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977640" y="1261872"/>
            <a:ext cx="1874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Challan Control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474720" y="1755648"/>
            <a:ext cx="2331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334155"/>
                </a:solidFill>
              </a:rPr>
              <a:t>One challan per pick list, only after the dock scan is confirmed; source ORACLE or APP per plant/customer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126480" y="1097280"/>
            <a:ext cx="2697480" cy="2103120"/>
          </a:xfrm>
          <a:prstGeom prst="roundRect">
            <a:avLst>
              <a:gd name="adj" fmla="val 5217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94A3B8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309360" y="1280160"/>
            <a:ext cx="384048" cy="384048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0936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812280" y="1261872"/>
            <a:ext cx="1874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Logistics Confirmation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309360" y="1755648"/>
            <a:ext cx="2331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334155"/>
                </a:solidFill>
              </a:rPr>
              <a:t>Vehicle, transporter and challan approved in the app before any gate pass exists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961120" y="1097280"/>
            <a:ext cx="2697480" cy="2103120"/>
          </a:xfrm>
          <a:prstGeom prst="roundRect">
            <a:avLst>
              <a:gd name="adj" fmla="val 5217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94A3B8">
                <a:alpha val="2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9144000" y="1280160"/>
            <a:ext cx="384048" cy="384048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14400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9646920" y="1261872"/>
            <a:ext cx="1874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Gate Control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9144000" y="1755648"/>
            <a:ext cx="2331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334155"/>
                </a:solidFill>
              </a:rPr>
              <a:t>OUT: GCS/challan QR must match an approved vehicle · IN: slip QR creates GCS-IN automatically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34290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Exception queue at the yard</a:t>
            </a:r>
            <a:endParaRPr lang="en-US" sz="1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840480"/>
          <a:ext cx="1124712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905256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E3A8A"/>
                          </a:solidFill>
                        </a:rPr>
                        <a:t>Short</a:t>
                      </a:r>
                      <a:endParaRPr lang="en-US" sz="115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</a:rPr>
                        <a:t>on slip, not received → stays at customer, counted in reminders</a:t>
                      </a:r>
                      <a:endParaRPr lang="en-US" sz="115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E3A8A"/>
                          </a:solidFill>
                        </a:rPr>
                        <a:t>Excess</a:t>
                      </a:r>
                      <a:endParaRPr lang="en-US" sz="115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</a:rPr>
                        <a:t>received, not on slip → accepted, source customer corrected</a:t>
                      </a:r>
                      <a:endParaRPr lang="en-US" sz="115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E3A8A"/>
                          </a:solidFill>
                        </a:rPr>
                        <a:t>Cross-customer</a:t>
                      </a:r>
                      <a:endParaRPr lang="en-US" sz="115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</a:rPr>
                        <a:t>booked to X, returned by Y → moved between ledgers, flagged</a:t>
                      </a:r>
                      <a:endParaRPr lang="en-US" sz="115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E3A8A"/>
                          </a:solidFill>
                        </a:rPr>
                        <a:t>Unknown tag</a:t>
                      </a:r>
                      <a:endParaRPr lang="en-US" sz="115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</a:rPr>
                        <a:t>not in master → quarantine until identified / re-tagged</a:t>
                      </a:r>
                      <a:endParaRPr lang="en-US" sz="115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E3A8A"/>
                          </a:solidFill>
                        </a:rPr>
                        <a:t>Damaged</a:t>
                      </a:r>
                      <a:endParaRPr lang="en-US" sz="115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</a:rPr>
                        <a:t>photo, status DAMAGED, chargeable per customer master</a:t>
                      </a:r>
                      <a:endParaRPr lang="en-US" sz="115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E3A8A"/>
                          </a:solidFill>
                        </a:rPr>
                        <a:t>Other-plant pallet</a:t>
                      </a:r>
                      <a:endParaRPr lang="en-US" sz="115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</a:rPr>
                        <a:t>checkbox: accept → HELD + home plant alerted, or reject</a:t>
                      </a:r>
                      <a:endParaRPr lang="en-US" sz="115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457200" y="27432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Masters, plant restriction and user control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5486400" cy="1115568"/>
          </a:xfrm>
          <a:prstGeom prst="roundRect">
            <a:avLst>
              <a:gd name="adj" fmla="val 9836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94A3B8">
                <a:alpha val="2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40080" y="1280160"/>
            <a:ext cx="384048" cy="384048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43000" y="1261872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Plant Master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755648"/>
            <a:ext cx="51206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334155"/>
                </a:solidFill>
              </a:rPr>
              <a:t>15 plants · GSTIN · pallet &amp; tag series · challan switch · other-plant default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2331720"/>
            <a:ext cx="5486400" cy="1115568"/>
          </a:xfrm>
          <a:prstGeom prst="roundRect">
            <a:avLst>
              <a:gd name="adj" fmla="val 9836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94A3B8">
                <a:alpha val="2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" y="2514600"/>
            <a:ext cx="384048" cy="384048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143000" y="2496312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Pallet &amp; Tag Master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990088"/>
            <a:ext cx="51206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334155"/>
                </a:solidFill>
              </a:rPr>
              <a:t>Pallet No permanent (never reused) · tag series independent, vendor batches of 400 · replace / retire · full tag history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3566160"/>
            <a:ext cx="5486400" cy="1115568"/>
          </a:xfrm>
          <a:prstGeom prst="roundRect">
            <a:avLst>
              <a:gd name="adj" fmla="val 9836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94A3B8">
                <a:alpha val="2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0080" y="3749040"/>
            <a:ext cx="384048" cy="384048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143000" y="3730752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Customer Master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4224528"/>
            <a:ext cx="51206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334155"/>
                </a:solidFill>
              </a:rPr>
              <a:t>Mail IDs, contacts · holding-days limit · reminder &amp; escalation days · chargeable · return mode A/B · API key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4800600"/>
            <a:ext cx="5486400" cy="1115568"/>
          </a:xfrm>
          <a:prstGeom prst="roundRect">
            <a:avLst>
              <a:gd name="adj" fmla="val 9836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94A3B8">
                <a:alpha val="2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40080" y="4983480"/>
            <a:ext cx="384048" cy="384048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143000" y="4965192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Transporter Master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5458968"/>
            <a:ext cx="51206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334155"/>
                </a:solidFill>
              </a:rPr>
              <a:t>Codes, vehicles, contacts · selected on pick list and slip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217920" y="1097280"/>
            <a:ext cx="5486400" cy="4937760"/>
          </a:xfrm>
          <a:prstGeom prst="roundRect">
            <a:avLst>
              <a:gd name="adj" fmla="val 2222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94A3B8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00800" y="1280160"/>
            <a:ext cx="384048" cy="38404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903720" y="1261872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Roles per plant (permission matrix in Admin)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0" y="1755648"/>
            <a:ext cx="5120640" cy="416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</a:rPr>
              <a:t>Security – IN Gate · Security – Logistics / OUT Gate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</a:rPr>
              <a:t>Pallet Yard In-charge · FG Warehouse · QA / PDI · Logistics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</a:rPr>
              <a:t>Plant Admin (own plant users) · Master Maintenance (central)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</a:rPr>
              <a:t>Central Admin · Management (all-plant dashboards, read-only)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</a:rPr>
              <a:t> 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</a:rPr>
              <a:t>Every user is tied to one plant: data, scans and reports are filtered automatically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</a:rPr>
              <a:t>A plant cannot dispatch or assign another plant's pallets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</a:rPr>
              <a:t>Supervisor PIN for sensitive actions: close with exceptions, reduce qty, gate override, discontinue pallet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</a:rPr>
              <a:t>Lock after 5 failed logins · HHT device registration · immutable audit &amp; activity log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731520" y="274320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The solution</a:t>
            </a:r>
            <a:endParaRPr lang="en-US" sz="36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731520" y="37490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Architecture, contingency, actual screens, documents, integrations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457200" y="27432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Architecture: Python · SQL Server · Android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657600" cy="2331720"/>
          </a:xfrm>
          <a:prstGeom prst="roundRect">
            <a:avLst>
              <a:gd name="adj" fmla="val 4706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94A3B8">
                <a:alpha val="2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40080" y="1280160"/>
            <a:ext cx="384048" cy="384048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43000" y="1261872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Central server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755648"/>
            <a:ext cx="3291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334155"/>
                </a:solidFill>
              </a:rPr>
              <a:t>FastAPI (Python) on IIS · SQL Server · 4 workers behind one port · separate integration worker so a slow Oracle never blocks a scan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251960" y="1097280"/>
            <a:ext cx="3657600" cy="2331720"/>
          </a:xfrm>
          <a:prstGeom prst="roundRect">
            <a:avLst>
              <a:gd name="adj" fmla="val 4706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94A3B8">
                <a:alpha val="2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434840" y="1280160"/>
            <a:ext cx="384048" cy="384048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937760" y="1261872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HHT app (Android)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434840" y="1755648"/>
            <a:ext cx="3291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334155"/>
                </a:solidFill>
              </a:rPr>
              <a:t>Rugged scanners or phones · offline-first outbox · camera or keyboard-wedge scanning · Bluetooth 2"/3" printer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046720" y="1097280"/>
            <a:ext cx="3657600" cy="2331720"/>
          </a:xfrm>
          <a:prstGeom prst="roundRect">
            <a:avLst>
              <a:gd name="adj" fmla="val 4706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94A3B8">
                <a:alpha val="2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8229600" y="1280160"/>
            <a:ext cx="384048" cy="384048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732520" y="1261872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Plant Edge Service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0" y="1755648"/>
            <a:ext cx="3291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334155"/>
                </a:solidFill>
              </a:rPr>
              <a:t>Portable Python service on the plant PC · takes over on the LAN if WAN / central server is down · forwards when back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3611880"/>
            <a:ext cx="3657600" cy="2331720"/>
          </a:xfrm>
          <a:prstGeom prst="roundRect">
            <a:avLst>
              <a:gd name="adj" fmla="val 4706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94A3B8">
                <a:alpha val="2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40080" y="3794760"/>
            <a:ext cx="384048" cy="384048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143000" y="3776472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Web console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4270248"/>
            <a:ext cx="3291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334155"/>
                </a:solidFill>
              </a:rPr>
              <a:t>Dashboard, masters, users, import, pick lists, slips, sync monitor, activity log, reports, Excel export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251960" y="3611880"/>
            <a:ext cx="3657600" cy="2331720"/>
          </a:xfrm>
          <a:prstGeom prst="roundRect">
            <a:avLst>
              <a:gd name="adj" fmla="val 4706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94A3B8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434840" y="3794760"/>
            <a:ext cx="384048" cy="38404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937760" y="3776472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Integrations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4434840" y="4270248"/>
            <a:ext cx="3291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334155"/>
                </a:solidFill>
              </a:rPr>
              <a:t>Oracle EBS: SO post, challan · GCS: gate in/out · External customer API (API key) for Mode A push · retry queue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046720" y="3611880"/>
            <a:ext cx="3657600" cy="2331720"/>
          </a:xfrm>
          <a:prstGeom prst="roundRect">
            <a:avLst>
              <a:gd name="adj" fmla="val 4706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94A3B8">
                <a:alpha val="2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8229600" y="3794760"/>
            <a:ext cx="384048" cy="384048"/>
          </a:xfrm>
          <a:prstGeom prst="ellipse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732520" y="3776472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Security &amp; audit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8229600" y="4270248"/>
            <a:ext cx="3291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334155"/>
                </a:solidFill>
              </a:rPr>
              <a:t>JWT login, plant scoping, role matrix, supervisor PIN, device block, activity logger on every action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457200" y="27432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Production never stops: offline design and contingency</a:t>
            </a:r>
            <a:endParaRPr lang="en-US" sz="28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11247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754880"/>
                <a:gridCol w="41148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3A8A"/>
                          </a:solidFill>
                        </a:rPr>
                        <a:t>Failure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3A8A"/>
                          </a:solidFill>
                        </a:rPr>
                        <a:t>What keeps running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3A8A"/>
                          </a:solidFill>
                        </a:rPr>
                        <a:t>Normalisation after the fix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3A8A"/>
                          </a:solidFill>
                        </a:rPr>
                        <a:t>WAN / network down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Scans continue on HHT (local rules) or via plant edge service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Outbox replays in order; server de-duplicates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3A8A"/>
                          </a:solidFill>
                        </a:rPr>
                        <a:t>Central server down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Edge service serves the plant on LAN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Replay + reconciliation report; standby DB promoted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3A8A"/>
                          </a:solidFill>
                        </a:rPr>
                        <a:t>Oracle EBS down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Pick list saved SO PENDING; challan (APP mode) still prints; gate proceeds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SO posted by retry job every 5 min; number back-filled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3A8A"/>
                          </a:solidFill>
                        </a:rPr>
                        <a:t>GCS down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Manual gate-pass mode with challan QR + supervisor PIN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GCS created / closed in bulk when back; mismatch report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3A8A"/>
                          </a:solidFill>
                        </a:rPr>
                        <a:t>HHT lost / broken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Device blocked by admin; server knows its last heartbeat and pending count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Re-enter from paper slips; returned device outbox still accepted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3A8A"/>
                          </a:solidFill>
                        </a:rPr>
                        <a:t>Printer down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Print later; document stored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Reprint from any device or the web console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5257800"/>
            <a:ext cx="11247120" cy="822960"/>
          </a:xfrm>
          <a:prstGeom prst="rect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334155"/>
                </a:solidFill>
              </a:rPr>
              <a:t>Rules in every mode: a truck is never held for the app · nothing is lost silently (UUID per event, two copies before acknowledgement) · central wins on conflict but never discards, it queues for review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457200" y="27432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Server console: dashboard and dispatch control (actual screens)</a:t>
            </a:r>
            <a:endParaRPr lang="en-US" sz="2800" dirty="0"/>
          </a:p>
        </p:txBody>
      </p:sp>
      <p:pic>
        <p:nvPicPr>
          <p:cNvPr id="3" name="Image 0" descr="/home/claude/shots/srv_dashboar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051560"/>
            <a:ext cx="5532120" cy="2971800"/>
          </a:xfrm>
          <a:prstGeom prst="rect">
            <a:avLst/>
          </a:prstGeom>
          <a:effectLst>
            <a:outerShdw sx="100000" sy="100000" kx="0" ky="0" algn="bl" rotWithShape="0" blurRad="63500" dist="19050" dir="5400000">
              <a:srgbClr val="94A3B8">
                <a:alpha val="30000"/>
              </a:srgbClr>
            </a:outerShdw>
          </a:effectLst>
        </p:spPr>
      </p:pic>
      <p:sp>
        <p:nvSpPr>
          <p:cNvPr id="4" name="Text 1"/>
          <p:cNvSpPr txBox="1"/>
          <p:nvPr/>
        </p:nvSpPr>
        <p:spPr>
          <a:xfrm>
            <a:off x="457200" y="4069080"/>
            <a:ext cx="5532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</a:rPr>
              <a:t>Dashboard — plant-wise availability, customer holding &amp; aging with OVERDUE flags</a:t>
            </a:r>
            <a:endParaRPr lang="en-US" sz="1000" dirty="0"/>
          </a:p>
        </p:txBody>
      </p:sp>
      <p:pic>
        <p:nvPicPr>
          <p:cNvPr id="5" name="Image 1" descr="/home/claude/shots/srv_picklist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199632" y="1051560"/>
            <a:ext cx="5532120" cy="2971800"/>
          </a:xfrm>
          <a:prstGeom prst="rect">
            <a:avLst/>
          </a:prstGeom>
          <a:effectLst>
            <a:outerShdw sx="100000" sy="100000" kx="0" ky="0" algn="bl" rotWithShape="0" blurRad="63500" dist="19050" dir="5400000">
              <a:srgbClr val="94A3B8">
                <a:alpha val="30000"/>
              </a:srgbClr>
            </a:outerShdw>
          </a:effectLst>
        </p:spPr>
      </p:pic>
      <p:sp>
        <p:nvSpPr>
          <p:cNvPr id="6" name="Text 2"/>
          <p:cNvSpPr txBox="1"/>
          <p:nvPr/>
        </p:nvSpPr>
        <p:spPr>
          <a:xfrm>
            <a:off x="6199632" y="4069080"/>
            <a:ext cx="5532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</a:rPr>
              <a:t>Pick lists — SO number from EBS, scanned count, challan, vehicle, GCS; action buttons by role</a:t>
            </a:r>
            <a:endParaRPr lang="en-US" sz="1000" dirty="0"/>
          </a:p>
        </p:txBody>
      </p:sp>
      <p:pic>
        <p:nvPicPr>
          <p:cNvPr id="7" name="Image 2" descr="/home/claude/shots/srv_slips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57200" y="4434840"/>
            <a:ext cx="5532120" cy="1691640"/>
          </a:xfrm>
          <a:prstGeom prst="rect">
            <a:avLst/>
          </a:prstGeom>
          <a:effectLst>
            <a:outerShdw sx="100000" sy="100000" kx="0" ky="0" algn="bl" rotWithShape="0" blurRad="63500" dist="19050" dir="5400000">
              <a:srgbClr val="94A3B8">
                <a:alpha val="30000"/>
              </a:srgbClr>
            </a:outerShdw>
          </a:effectLst>
        </p:spPr>
      </p:pic>
      <p:sp>
        <p:nvSpPr>
          <p:cNvPr id="8" name="Text 3"/>
          <p:cNvSpPr txBox="1"/>
          <p:nvPr/>
        </p:nvSpPr>
        <p:spPr>
          <a:xfrm>
            <a:off x="457200" y="6172200"/>
            <a:ext cx="5532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</a:rPr>
              <a:t>Return slips — Mode A (customer API) and B, GCS-IN, close with PIN</a:t>
            </a:r>
            <a:endParaRPr lang="en-US" sz="1000" dirty="0"/>
          </a:p>
        </p:txBody>
      </p:sp>
      <p:pic>
        <p:nvPicPr>
          <p:cNvPr id="9" name="Image 3" descr="/home/claude/shots/srv_challan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199632" y="4434840"/>
            <a:ext cx="5532120" cy="1691640"/>
          </a:xfrm>
          <a:prstGeom prst="rect">
            <a:avLst/>
          </a:prstGeom>
          <a:effectLst>
            <a:outerShdw sx="100000" sy="100000" kx="0" ky="0" algn="bl" rotWithShape="0" blurRad="63500" dist="19050" dir="5400000">
              <a:srgbClr val="94A3B8">
                <a:alpha val="30000"/>
              </a:srgbClr>
            </a:outerShdw>
          </a:effectLst>
        </p:spPr>
      </p:pic>
      <p:sp>
        <p:nvSpPr>
          <p:cNvPr id="10" name="Text 4"/>
          <p:cNvSpPr txBox="1"/>
          <p:nvPr/>
        </p:nvSpPr>
        <p:spPr>
          <a:xfrm>
            <a:off x="6199632" y="6172200"/>
            <a:ext cx="5532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</a:rPr>
              <a:t>Printable A4 challan with AIS logo and QR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457200" y="27432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Server console: reconciliation, sync and activity (actual screens)</a:t>
            </a:r>
            <a:endParaRPr lang="en-US" sz="2800" dirty="0"/>
          </a:p>
        </p:txBody>
      </p:sp>
      <p:pic>
        <p:nvPicPr>
          <p:cNvPr id="3" name="Image 0" descr="/home/claude/shots/srv_slip_lin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051560"/>
            <a:ext cx="5532120" cy="2651760"/>
          </a:xfrm>
          <a:prstGeom prst="rect">
            <a:avLst/>
          </a:prstGeom>
          <a:effectLst>
            <a:outerShdw sx="100000" sy="100000" kx="0" ky="0" algn="bl" rotWithShape="0" blurRad="63500" dist="19050" dir="5400000">
              <a:srgbClr val="94A3B8">
                <a:alpha val="30000"/>
              </a:srgbClr>
            </a:outerShdw>
          </a:effectLst>
        </p:spPr>
      </p:pic>
      <p:sp>
        <p:nvSpPr>
          <p:cNvPr id="4" name="Text 1"/>
          <p:cNvSpPr txBox="1"/>
          <p:nvPr/>
        </p:nvSpPr>
        <p:spPr>
          <a:xfrm>
            <a:off x="457200" y="3749040"/>
            <a:ext cx="5532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</a:rPr>
              <a:t>Slip lines — declared vs received, DAMAGED / FOREIGN / EXCESS exceptions, resolve per line</a:t>
            </a:r>
            <a:endParaRPr lang="en-US" sz="1000" dirty="0"/>
          </a:p>
        </p:txBody>
      </p:sp>
      <p:pic>
        <p:nvPicPr>
          <p:cNvPr id="5" name="Image 1" descr="/home/claude/shots/srv_activity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199632" y="1051560"/>
            <a:ext cx="5532120" cy="2651760"/>
          </a:xfrm>
          <a:prstGeom prst="rect">
            <a:avLst/>
          </a:prstGeom>
          <a:effectLst>
            <a:outerShdw sx="100000" sy="100000" kx="0" ky="0" algn="bl" rotWithShape="0" blurRad="63500" dist="19050" dir="5400000">
              <a:srgbClr val="94A3B8">
                <a:alpha val="30000"/>
              </a:srgbClr>
            </a:outerShdw>
          </a:effectLst>
        </p:spPr>
      </p:pic>
      <p:sp>
        <p:nvSpPr>
          <p:cNvPr id="6" name="Text 2"/>
          <p:cNvSpPr txBox="1"/>
          <p:nvPr/>
        </p:nvSpPr>
        <p:spPr>
          <a:xfrm>
            <a:off x="6199632" y="3749040"/>
            <a:ext cx="5532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</a:rPr>
              <a:t>Activity log — every action from web, HHT, external API; filters and Excel export</a:t>
            </a:r>
            <a:endParaRPr lang="en-US" sz="1000" dirty="0"/>
          </a:p>
        </p:txBody>
      </p:sp>
      <p:pic>
        <p:nvPicPr>
          <p:cNvPr id="7" name="Image 2" descr="/home/claude/shots/srv_sync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57200" y="4114800"/>
            <a:ext cx="5532120" cy="2011680"/>
          </a:xfrm>
          <a:prstGeom prst="rect">
            <a:avLst/>
          </a:prstGeom>
          <a:effectLst>
            <a:outerShdw sx="100000" sy="100000" kx="0" ky="0" algn="bl" rotWithShape="0" blurRad="63500" dist="19050" dir="5400000">
              <a:srgbClr val="94A3B8">
                <a:alpha val="30000"/>
              </a:srgbClr>
            </a:outerShdw>
          </a:effectLst>
        </p:spPr>
      </p:pic>
      <p:sp>
        <p:nvSpPr>
          <p:cNvPr id="8" name="Text 3"/>
          <p:cNvSpPr txBox="1"/>
          <p:nvPr/>
        </p:nvSpPr>
        <p:spPr>
          <a:xfrm>
            <a:off x="457200" y="6172200"/>
            <a:ext cx="5532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</a:rPr>
              <a:t>Sync monitor — devices, last seen, pending events, rejected / exception events, integration retry queue</a:t>
            </a:r>
            <a:endParaRPr lang="en-US" sz="1000" dirty="0"/>
          </a:p>
        </p:txBody>
      </p:sp>
      <p:pic>
        <p:nvPicPr>
          <p:cNvPr id="9" name="Image 3" descr="/home/claude/shots/srv_masters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199632" y="4114800"/>
            <a:ext cx="5532120" cy="2011680"/>
          </a:xfrm>
          <a:prstGeom prst="rect">
            <a:avLst/>
          </a:prstGeom>
          <a:effectLst>
            <a:outerShdw sx="100000" sy="100000" kx="0" ky="0" algn="bl" rotWithShape="0" blurRad="63500" dist="19050" dir="5400000">
              <a:srgbClr val="94A3B8">
                <a:alpha val="30000"/>
              </a:srgbClr>
            </a:outerShdw>
          </a:effectLst>
        </p:spPr>
      </p:pic>
      <p:sp>
        <p:nvSpPr>
          <p:cNvPr id="10" name="Text 4"/>
          <p:cNvSpPr txBox="1"/>
          <p:nvPr/>
        </p:nvSpPr>
        <p:spPr>
          <a:xfrm>
            <a:off x="6199632" y="6172200"/>
            <a:ext cx="5532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</a:rPr>
              <a:t>Masters — plants, customers (with API key), transporters, tag batches; Excel import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457200" y="27432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HHT app (v1.4 glass UI): home, dock scan, yard reconciliation</a:t>
            </a:r>
            <a:endParaRPr lang="en-US" sz="2800" dirty="0"/>
          </a:p>
        </p:txBody>
      </p:sp>
      <p:pic>
        <p:nvPicPr>
          <p:cNvPr id="3" name="Image 0" descr="/home/claude/shots/hht_hom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1051560"/>
            <a:ext cx="2468880" cy="4937760"/>
          </a:xfrm>
          <a:prstGeom prst="rect">
            <a:avLst/>
          </a:prstGeom>
        </p:spPr>
      </p:pic>
      <p:pic>
        <p:nvPicPr>
          <p:cNvPr id="4" name="Image 1" descr="/home/claude/shots/hht_dock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663440" y="1051560"/>
            <a:ext cx="2468880" cy="4937760"/>
          </a:xfrm>
          <a:prstGeom prst="rect">
            <a:avLst/>
          </a:prstGeom>
        </p:spPr>
      </p:pic>
      <p:pic>
        <p:nvPicPr>
          <p:cNvPr id="5" name="Image 2" descr="/home/claude/shots/hht_yar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503920" y="1051560"/>
            <a:ext cx="2468880" cy="4937760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457200" y="6035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</a:rPr>
              <a:t>Role-based tiles; status bar: ONLINE/OFFLINE + pending</a:t>
            </a:r>
            <a:endParaRPr lang="en-US" sz="1000" dirty="0"/>
          </a:p>
        </p:txBody>
      </p:sp>
      <p:sp>
        <p:nvSpPr>
          <p:cNvPr id="7" name="Text 2"/>
          <p:cNvSpPr txBox="1"/>
          <p:nvPr/>
        </p:nvSpPr>
        <p:spPr>
          <a:xfrm>
            <a:off x="4297680" y="6035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</a:rPr>
              <a:t>Count vs pick-list qty; rule failures beep in red</a:t>
            </a:r>
            <a:endParaRPr lang="en-US" sz="1000" dirty="0"/>
          </a:p>
        </p:txBody>
      </p:sp>
      <p:sp>
        <p:nvSpPr>
          <p:cNvPr id="8" name="Text 3"/>
          <p:cNvSpPr txBox="1"/>
          <p:nvPr/>
        </p:nvSpPr>
        <p:spPr>
          <a:xfrm>
            <a:off x="8138160" y="6035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</a:rPr>
              <a:t>Received / short / excess; other-plant &amp; damaged switches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457200" y="27432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HHT app: return slip, sync, OUT gate, thermal challan</a:t>
            </a:r>
            <a:endParaRPr lang="en-US" sz="2800" dirty="0"/>
          </a:p>
        </p:txBody>
      </p:sp>
      <p:pic>
        <p:nvPicPr>
          <p:cNvPr id="3" name="Image 0" descr="/home/claude/shots/hht_sli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051560"/>
            <a:ext cx="2377440" cy="4754880"/>
          </a:xfrm>
          <a:prstGeom prst="rect">
            <a:avLst/>
          </a:prstGeom>
        </p:spPr>
      </p:pic>
      <p:pic>
        <p:nvPicPr>
          <p:cNvPr id="4" name="Image 1" descr="/home/claude/shots/hht_pending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200400" y="1051560"/>
            <a:ext cx="2377440" cy="4754880"/>
          </a:xfrm>
          <a:prstGeom prst="rect">
            <a:avLst/>
          </a:prstGeom>
        </p:spPr>
      </p:pic>
      <p:pic>
        <p:nvPicPr>
          <p:cNvPr id="5" name="Image 2" descr="/home/claude/shots/hht_gateout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943600" y="1051560"/>
            <a:ext cx="2377440" cy="4754880"/>
          </a:xfrm>
          <a:prstGeom prst="rect">
            <a:avLst/>
          </a:prstGeom>
        </p:spPr>
      </p:pic>
      <p:pic>
        <p:nvPicPr>
          <p:cNvPr id="6" name="Image 3" descr="/home/claude/shots/challan_thermal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8869680" y="1051560"/>
            <a:ext cx="2834640" cy="4754880"/>
          </a:xfrm>
          <a:prstGeom prst="rect">
            <a:avLst/>
          </a:prstGeom>
        </p:spPr>
      </p:pic>
      <p:sp>
        <p:nvSpPr>
          <p:cNvPr id="7" name="Text 1"/>
          <p:cNvSpPr txBox="1"/>
          <p:nvPr/>
        </p:nvSpPr>
        <p:spPr>
          <a:xfrm>
            <a:off x="457200" y="58978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</a:rPr>
              <a:t>B1 scan / B2 qty; prints 2 copies with QR</a:t>
            </a:r>
            <a:endParaRPr lang="en-US" sz="1000" dirty="0"/>
          </a:p>
        </p:txBody>
      </p:sp>
      <p:sp>
        <p:nvSpPr>
          <p:cNvPr id="8" name="Text 2"/>
          <p:cNvSpPr txBox="1"/>
          <p:nvPr/>
        </p:nvSpPr>
        <p:spPr>
          <a:xfrm>
            <a:off x="3200400" y="58978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</a:rPr>
              <a:t>Outbox, offline docs, my activity</a:t>
            </a:r>
            <a:endParaRPr lang="en-US" sz="1000" dirty="0"/>
          </a:p>
        </p:txBody>
      </p:sp>
      <p:sp>
        <p:nvSpPr>
          <p:cNvPr id="9" name="Text 3"/>
          <p:cNvSpPr txBox="1"/>
          <p:nvPr/>
        </p:nvSpPr>
        <p:spPr>
          <a:xfrm>
            <a:off x="5943600" y="58978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</a:rPr>
              <a:t>QR must match approved vehicle</a:t>
            </a:r>
            <a:endParaRPr lang="en-US" sz="1000" dirty="0"/>
          </a:p>
        </p:txBody>
      </p:sp>
      <p:sp>
        <p:nvSpPr>
          <p:cNvPr id="10" name="Text 4"/>
          <p:cNvSpPr txBox="1"/>
          <p:nvPr/>
        </p:nvSpPr>
        <p:spPr>
          <a:xfrm>
            <a:off x="8869680" y="589788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</a:rPr>
              <a:t>3" thermal challan with logo &amp; QR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457200" y="27432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HHT app: four themes, selectable per device</a:t>
            </a:r>
            <a:endParaRPr lang="en-US" sz="2800" dirty="0"/>
          </a:p>
        </p:txBody>
      </p:sp>
      <p:pic>
        <p:nvPicPr>
          <p:cNvPr id="3" name="Image 0" descr="/home/claude/shots/hht_them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051560"/>
            <a:ext cx="11247120" cy="47548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589788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</a:rPr>
              <a:t>Glass light (default) · Glass dark for night shifts · AIS classic flat · Outdoor high-contrast for sunlight at the gate — chosen in Settings, remembered on the device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457200" y="27432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Documents generated by the system (actual output)</a:t>
            </a:r>
            <a:endParaRPr lang="en-US" sz="2800" dirty="0"/>
          </a:p>
        </p:txBody>
      </p:sp>
      <p:pic>
        <p:nvPicPr>
          <p:cNvPr id="3" name="Image 0" descr="/home/claude/shots/srv_challa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051560"/>
            <a:ext cx="5532120" cy="3291840"/>
          </a:xfrm>
          <a:prstGeom prst="rect">
            <a:avLst/>
          </a:prstGeom>
          <a:effectLst>
            <a:outerShdw sx="100000" sy="100000" kx="0" ky="0" algn="bl" rotWithShape="0" blurRad="63500" dist="19050" dir="5400000">
              <a:srgbClr val="94A3B8">
                <a:alpha val="30000"/>
              </a:srgbClr>
            </a:outerShdw>
          </a:effectLst>
        </p:spPr>
      </p:pic>
      <p:sp>
        <p:nvSpPr>
          <p:cNvPr id="4" name="Text 1"/>
          <p:cNvSpPr txBox="1"/>
          <p:nvPr/>
        </p:nvSpPr>
        <p:spPr>
          <a:xfrm>
            <a:off x="457200" y="4389120"/>
            <a:ext cx="5532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</a:rPr>
              <a:t>Delivery challan — returnable pallets (Rule 55): consignee, transport, pallet list with tags, return period, signatures, QR</a:t>
            </a:r>
            <a:endParaRPr lang="en-US" sz="1000" dirty="0"/>
          </a:p>
        </p:txBody>
      </p:sp>
      <p:pic>
        <p:nvPicPr>
          <p:cNvPr id="5" name="Image 1" descr="/home/claude/shots/srv_slipprint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199632" y="1051560"/>
            <a:ext cx="5532120" cy="3291840"/>
          </a:xfrm>
          <a:prstGeom prst="rect">
            <a:avLst/>
          </a:prstGeom>
          <a:effectLst>
            <a:outerShdw sx="100000" sy="100000" kx="0" ky="0" algn="bl" rotWithShape="0" blurRad="63500" dist="19050" dir="5400000">
              <a:srgbClr val="94A3B8">
                <a:alpha val="30000"/>
              </a:srgbClr>
            </a:outerShdw>
          </a:effectLst>
        </p:spPr>
      </p:pic>
      <p:sp>
        <p:nvSpPr>
          <p:cNvPr id="6" name="Text 2"/>
          <p:cNvSpPr txBox="1"/>
          <p:nvPr/>
        </p:nvSpPr>
        <p:spPr>
          <a:xfrm>
            <a:off x="6199632" y="4389120"/>
            <a:ext cx="5532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</a:rPr>
              <a:t>Return slip — customer challan, vehicle, driver, declared vs received, exceptions, GCS-IN</a:t>
            </a:r>
            <a:endParaRPr lang="en-US" sz="1000" dirty="0"/>
          </a:p>
        </p:txBody>
      </p:sp>
      <p:sp>
        <p:nvSpPr>
          <p:cNvPr id="7" name="Shape 3"/>
          <p:cNvSpPr/>
          <p:nvPr/>
        </p:nvSpPr>
        <p:spPr>
          <a:xfrm>
            <a:off x="457200" y="4572000"/>
            <a:ext cx="11247120" cy="1554480"/>
          </a:xfrm>
          <a:prstGeom prst="roundRect">
            <a:avLst>
              <a:gd name="adj" fmla="val 7059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94A3B8">
                <a:alpha val="25000"/>
              </a:srgbClr>
            </a:outerShdw>
          </a:effectLst>
        </p:spPr>
      </p:sp>
      <p:sp>
        <p:nvSpPr>
          <p:cNvPr id="8" name="Shape 4"/>
          <p:cNvSpPr/>
          <p:nvPr/>
        </p:nvSpPr>
        <p:spPr>
          <a:xfrm>
            <a:off x="640080" y="4754880"/>
            <a:ext cx="384048" cy="384048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1143000" y="4736592"/>
            <a:ext cx="10424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Challan source switch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640080" y="5230368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334155"/>
                </a:solidFill>
              </a:rPr>
              <a:t>APP mode: numbered from the plant series, printed A4 and 3" thermal, posted to EBS as reference.  ORACLE mode: challan number pulled from EBS and printed in the same layouts.  Both carry the QR scanned at the OUT gate and by the customer.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457200" y="27432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Integrations and the customer end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657600" cy="2377440"/>
          </a:xfrm>
          <a:prstGeom prst="roundRect">
            <a:avLst>
              <a:gd name="adj" fmla="val 4615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94A3B8">
                <a:alpha val="2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40080" y="1280160"/>
            <a:ext cx="384048" cy="384048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43000" y="1261872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Oracle EBS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755648"/>
            <a:ext cx="32918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334155"/>
                </a:solidFill>
              </a:rPr>
              <a:t>Sale order posted by API when a pick list is created (SO number stored) · returnable challan from EBS when switch = ORACLE · pallet liability visible in ERP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251960" y="1097280"/>
            <a:ext cx="3657600" cy="2377440"/>
          </a:xfrm>
          <a:prstGeom prst="roundRect">
            <a:avLst>
              <a:gd name="adj" fmla="val 4615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94A3B8">
                <a:alpha val="2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434840" y="1280160"/>
            <a:ext cx="384048" cy="384048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937760" y="1261872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GCS (internal gate system)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434840" y="1755648"/>
            <a:ext cx="32918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334155"/>
                </a:solidFill>
              </a:rPr>
              <a:t>Outward pass auto-created on logistics approval, approved on gate QR match · inward pass created from the return-slip QR, closed with the received quantity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046720" y="1097280"/>
            <a:ext cx="3657600" cy="2377440"/>
          </a:xfrm>
          <a:prstGeom prst="roundRect">
            <a:avLst>
              <a:gd name="adj" fmla="val 4615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94A3B8">
                <a:alpha val="2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8229600" y="1280160"/>
            <a:ext cx="384048" cy="38404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732520" y="1261872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Customer end (outside AIS network)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0" y="1755648"/>
            <a:ext cx="32918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334155"/>
                </a:solidFill>
              </a:rPr>
              <a:t>External API with per-customer key, published through DMZ: holding list, validate tags, push return slip with pallets, vehicle and their challan · phone + Bluetooth printer kit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3657600"/>
            <a:ext cx="11247120" cy="2468880"/>
          </a:xfrm>
          <a:prstGeom prst="roundRect">
            <a:avLst>
              <a:gd name="adj" fmla="val 4444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94A3B8">
                <a:alpha val="2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40080" y="3840480"/>
            <a:ext cx="384048" cy="384048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143000" y="3822192"/>
            <a:ext cx="10424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Reminders, aging and management reports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4315968"/>
            <a:ext cx="108813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</a:rPr>
              <a:t>Nightly job: days at customer vs Customer Master limit → reminder mail with pallet list (To / CC from master), escalation to sales, chargeable list</a:t>
            </a:r>
            <a:endParaRPr lang="en-US" sz="12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</a:rPr>
              <a:t>Dashboards: plant-wise availability, customer holding by age bucket, overdue pallets, exception queue, tag stock</a:t>
            </a:r>
            <a:endParaRPr lang="en-US" sz="12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</a:rPr>
              <a:t>Reports: pallet transaction history, tag change history, audit log, activity log — all exportable to Excel</a:t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731520" y="274320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Roadmap</a:t>
            </a:r>
            <a:endParaRPr lang="en-US" sz="36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731520" y="37490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Phases, timeline and what each phase delivers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457200" y="27432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Roadmap: Chennai live by 30 November 2026, then all 15 plants</a:t>
            </a:r>
            <a:endParaRPr lang="en-US" sz="28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920240"/>
                <a:gridCol w="1371600"/>
                <a:gridCol w="4663440"/>
                <a:gridCol w="265176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E3A8A"/>
                          </a:solidFill>
                        </a:rPr>
                        <a:t>Phase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E3A8A"/>
                          </a:solidFill>
                        </a:rPr>
                        <a:t>Scope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E3A8A"/>
                          </a:solidFill>
                        </a:rPr>
                        <a:t>Duration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E3A8A"/>
                          </a:solidFill>
                        </a:rPr>
                        <a:t>What is built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E3A8A"/>
                          </a:solidFill>
                        </a:rPr>
                        <a:t>Outcome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DC2626"/>
                          </a:solidFill>
                        </a:rPr>
                        <a:t>0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</a:rPr>
                        <a:t>Discovery &amp; spec freeze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4748B"/>
                          </a:solidFill>
                        </a:rPr>
                        <a:t>9–17 Oct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State machine, Return Slip &amp; challan formats, API contracts (EBS SO, Oracle challan, GCS), master data from 15 plants, pallet census plan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59669"/>
                          </a:solidFill>
                        </a:rPr>
                        <a:t>Frozen spec, opening-stock approach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DC2626"/>
                          </a:solidFill>
                        </a:rPr>
                        <a:t>1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</a:rPr>
                        <a:t>Core + masters + yard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4748B"/>
                          </a:solidFill>
                        </a:rPr>
                        <a:t>13–31 Oct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Server on IIS/SQL Server, masters &amp; roles, Excel import, tags on pallets (census), HHT offline core, yard in-ward scan, sync monitor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59669"/>
                          </a:solidFill>
                        </a:rPr>
                        <a:t>Plant pallet inventory becomes real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DC2626"/>
                          </a:solidFill>
                        </a:rPr>
                        <a:t>2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</a:rPr>
                        <a:t>Dispatch validation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4748B"/>
                          </a:solidFill>
                        </a:rPr>
                        <a:t>20 Oct – 14 Nov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Pick list → EBS SO post, dock scan, Pick List Control, challan switch (ORACLE/APP), logistics approve, OUT gate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59669"/>
                          </a:solidFill>
                        </a:rPr>
                        <a:t>Every outgoing pallet known by ID and customer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DC2626"/>
                          </a:solidFill>
                        </a:rPr>
                        <a:t>3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</a:rPr>
                        <a:t>GCS integration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4748B"/>
                          </a:solidFill>
                        </a:rPr>
                        <a:t>3–14 Nov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GCS outward auto-created and approved on gate QR; GCS inward from return-slip QR; manual gate-pass fallback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59669"/>
                          </a:solidFill>
                        </a:rPr>
                        <a:t>Gate fully system-controlled both ways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DC2626"/>
                          </a:solidFill>
                        </a:rPr>
                        <a:t>4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</a:rPr>
                        <a:t>Return module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4748B"/>
                          </a:solidFill>
                        </a:rPr>
                        <a:t>3–25 Nov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Return slip Mode A (customer API / kit) and Mode B (gate), three-way reconciliation, exception queue, plant edge service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59669"/>
                          </a:solidFill>
                        </a:rPr>
                        <a:t>Returns tracked by pallet ID; no manual challan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DC2626"/>
                          </a:solidFill>
                        </a:rPr>
                        <a:t>★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</a:rPr>
                        <a:t>Chennai go-live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4748B"/>
                          </a:solidFill>
                        </a:rPr>
                        <a:t>30 Nov 2026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Parallel run 17–28 Nov with HMIL as first Mode A customer; "pull the cable" offline test; cut-over on 30 Nov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59669"/>
                          </a:solidFill>
                        </a:rPr>
                        <a:t>Pilot plant live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DC2626"/>
                          </a:solidFill>
                        </a:rPr>
                        <a:t>5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</a:rPr>
                        <a:t>Analytics &amp; rollout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4748B"/>
                          </a:solidFill>
                        </a:rPr>
                        <a:t>Dec 26 → 2027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Reminder mails, aging &amp; chargeable list, dashboards, day-end check; rollout one plant every 2 weeks from January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59669"/>
                          </a:solidFill>
                        </a:rPr>
                        <a:t>Management visibility across the network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DC2626"/>
                          </a:solidFill>
                        </a:rPr>
                        <a:t>6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</a:rPr>
                        <a:t>Add-ons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4748B"/>
                          </a:solidFill>
                        </a:rPr>
                        <a:t>2027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Green-card API check at production, HMIL PDI hook, customer self-service portal, Vehicle Live Tracker link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59669"/>
                          </a:solidFill>
                        </a:rPr>
                        <a:t>Closed loop from manufacturing to customer portal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571500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334155"/>
                </a:solidFill>
              </a:rPr>
              <a:t>Status today: Phase 1–2 software (server v1.3, HHT v1.3) and Phase 4 return module are built and tested with sample data; integrations run in STUB mode until EBS / GCS endpoints are shared.</a:t>
            </a:r>
            <a:endParaRPr lang="en-US" sz="11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457200" y="27432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Timeline: target go-live 30 November 2026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2651760" y="1234440"/>
            <a:ext cx="1005840" cy="365760"/>
          </a:xfrm>
          <a:prstGeom prst="rect">
            <a:avLst/>
          </a:prstGeom>
          <a:solidFill>
            <a:srgbClr val="EEF2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2651760" y="123444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A8A"/>
                </a:solidFill>
              </a:rPr>
              <a:t>Oct 26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3657600" y="1234440"/>
            <a:ext cx="1005840" cy="36576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657600" y="123444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A8A"/>
                </a:solidFill>
              </a:rPr>
              <a:t>Nov 26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663440" y="1234440"/>
            <a:ext cx="1005840" cy="365760"/>
          </a:xfrm>
          <a:prstGeom prst="rect">
            <a:avLst/>
          </a:prstGeom>
          <a:solidFill>
            <a:srgbClr val="EEF2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663440" y="123444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A8A"/>
                </a:solidFill>
              </a:rPr>
              <a:t>Dec 26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669280" y="1234440"/>
            <a:ext cx="1005840" cy="36576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669280" y="123444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A8A"/>
                </a:solidFill>
              </a:rPr>
              <a:t>Jan 27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675120" y="1234440"/>
            <a:ext cx="1005840" cy="365760"/>
          </a:xfrm>
          <a:prstGeom prst="rect">
            <a:avLst/>
          </a:prstGeom>
          <a:solidFill>
            <a:srgbClr val="EEF2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675120" y="123444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A8A"/>
                </a:solidFill>
              </a:rPr>
              <a:t>Feb 27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680960" y="1234440"/>
            <a:ext cx="1005840" cy="36576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680960" y="123444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A8A"/>
                </a:solidFill>
              </a:rPr>
              <a:t>Mar 27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686800" y="1234440"/>
            <a:ext cx="1005840" cy="365760"/>
          </a:xfrm>
          <a:prstGeom prst="rect">
            <a:avLst/>
          </a:prstGeom>
          <a:solidFill>
            <a:srgbClr val="EEF2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686800" y="123444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A8A"/>
                </a:solidFill>
              </a:rPr>
              <a:t>Apr 27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9692640" y="1234440"/>
            <a:ext cx="1005840" cy="36576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692640" y="123444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A8A"/>
                </a:solidFill>
              </a:rPr>
              <a:t>May 27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10698480" y="1234440"/>
            <a:ext cx="1005840" cy="365760"/>
          </a:xfrm>
          <a:prstGeom prst="rect">
            <a:avLst/>
          </a:prstGeom>
          <a:solidFill>
            <a:srgbClr val="EEF2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698480" y="123444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A8A"/>
                </a:solidFill>
              </a:rPr>
              <a:t>Jun 27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1691640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</a:rPr>
              <a:t>Phase 0 · Spec freeze (9–17 Oct)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651760" y="169164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657600" y="169164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663440" y="169164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669280" y="169164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675120" y="169164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680960" y="169164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686800" y="169164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692640" y="169164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0698480" y="169164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23337" y="1737360"/>
            <a:ext cx="281635" cy="237744"/>
          </a:xfrm>
          <a:prstGeom prst="roundRect">
            <a:avLst>
              <a:gd name="adj" fmla="val 30769"/>
            </a:avLst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57200" y="2057400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</a:rPr>
              <a:t>Phase 1 · Core, masters, yard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651760" y="205740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657600" y="205740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663440" y="205740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669280" y="205740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675120" y="205740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680960" y="205740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686800" y="205740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692640" y="205740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698480" y="205740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054096" y="2103120"/>
            <a:ext cx="603504" cy="237744"/>
          </a:xfrm>
          <a:prstGeom prst="roundRect">
            <a:avLst>
              <a:gd name="adj" fmla="val 30769"/>
            </a:avLst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457200" y="2423160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</a:rPr>
              <a:t>Phase 2 · Dispatch validation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2651760" y="242316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657600" y="242316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663440" y="242316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669280" y="242316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675120" y="242316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7680960" y="242316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8686800" y="242316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9692640" y="242316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10698480" y="242316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285439" y="2468880"/>
            <a:ext cx="844906" cy="237744"/>
          </a:xfrm>
          <a:prstGeom prst="roundRect">
            <a:avLst>
              <a:gd name="adj" fmla="val 30769"/>
            </a:avLst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457200" y="2788920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</a:rPr>
              <a:t>Phase 3 · GCS integration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2651760" y="278892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3657600" y="278892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663440" y="278892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669280" y="278892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6675120" y="278892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7680960" y="278892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686800" y="278892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9692640" y="278892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0698480" y="278892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728009" y="2834640"/>
            <a:ext cx="402336" cy="237744"/>
          </a:xfrm>
          <a:prstGeom prst="roundRect">
            <a:avLst>
              <a:gd name="adj" fmla="val 30769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457200" y="3154680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</a:rPr>
              <a:t>Phase 4 · Return module + edge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>
            <a:off x="2651760" y="315468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3657600" y="315468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663440" y="315468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669280" y="315468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6675120" y="315468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7680960" y="315468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8686800" y="315468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9692640" y="315468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10698480" y="315468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3728009" y="3200400"/>
            <a:ext cx="764438" cy="237744"/>
          </a:xfrm>
          <a:prstGeom prst="roundRect">
            <a:avLst>
              <a:gd name="adj" fmla="val 30769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76" name="Text 74"/>
          <p:cNvSpPr txBox="1"/>
          <p:nvPr/>
        </p:nvSpPr>
        <p:spPr>
          <a:xfrm>
            <a:off x="457200" y="3520440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</a:rPr>
              <a:t>Parallel run with HMIL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2651760" y="352044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3657600" y="352044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4663440" y="352044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5669280" y="352044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6675120" y="352044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7680960" y="352044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8686800" y="352044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9692640" y="352044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10698480" y="352044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4190695" y="3566160"/>
            <a:ext cx="402336" cy="237744"/>
          </a:xfrm>
          <a:prstGeom prst="roundRect">
            <a:avLst>
              <a:gd name="adj" fmla="val 30769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457200" y="3886200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</a:rPr>
              <a:t>Chennai go-live · 30 Nov</a:t>
            </a:r>
            <a:endParaRPr lang="en-US" sz="1000" dirty="0"/>
          </a:p>
        </p:txBody>
      </p:sp>
      <p:sp>
        <p:nvSpPr>
          <p:cNvPr id="88" name="Shape 86"/>
          <p:cNvSpPr/>
          <p:nvPr/>
        </p:nvSpPr>
        <p:spPr>
          <a:xfrm>
            <a:off x="2651760" y="388620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3657600" y="388620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4663440" y="388620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669280" y="388620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675120" y="388620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7680960" y="388620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8686800" y="388620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9692640" y="388620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10698480" y="388620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4496105" y="3931920"/>
            <a:ext cx="274320" cy="237744"/>
          </a:xfrm>
          <a:prstGeom prst="diamond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98" name="Text 96"/>
          <p:cNvSpPr txBox="1"/>
          <p:nvPr/>
        </p:nvSpPr>
        <p:spPr>
          <a:xfrm>
            <a:off x="457200" y="4251960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</a:rPr>
              <a:t>Phase 5 · Analytics, reminders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2651760" y="425196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3657600" y="425196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4663440" y="425196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5669280" y="425196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6675120" y="425196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680960" y="425196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8686800" y="425196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9692640" y="425196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10698480" y="425196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4663440" y="4297680"/>
            <a:ext cx="1005840" cy="237744"/>
          </a:xfrm>
          <a:prstGeom prst="roundRect">
            <a:avLst>
              <a:gd name="adj" fmla="val 30769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09" name="Text 107"/>
          <p:cNvSpPr txBox="1"/>
          <p:nvPr/>
        </p:nvSpPr>
        <p:spPr>
          <a:xfrm>
            <a:off x="457200" y="4617720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</a:rPr>
              <a:t>Rollout wave 1 · AAU, PUN, TAL</a:t>
            </a:r>
            <a:endParaRPr lang="en-US" sz="1000" dirty="0"/>
          </a:p>
        </p:txBody>
      </p:sp>
      <p:sp>
        <p:nvSpPr>
          <p:cNvPr id="110" name="Shape 108"/>
          <p:cNvSpPr/>
          <p:nvPr/>
        </p:nvSpPr>
        <p:spPr>
          <a:xfrm>
            <a:off x="2651760" y="461772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3657600" y="461772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4663440" y="461772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669280" y="461772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6675120" y="461772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7680960" y="461772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8686800" y="461772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9692640" y="461772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10698480" y="461772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5669280" y="4663440"/>
            <a:ext cx="1508760" cy="237744"/>
          </a:xfrm>
          <a:prstGeom prst="roundRect">
            <a:avLst>
              <a:gd name="adj" fmla="val 30769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20" name="Text 118"/>
          <p:cNvSpPr txBox="1"/>
          <p:nvPr/>
        </p:nvSpPr>
        <p:spPr>
          <a:xfrm>
            <a:off x="457200" y="4983480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</a:rPr>
              <a:t>Rollout wave 2 · RKE, BWL + 4 plants</a:t>
            </a:r>
            <a:endParaRPr lang="en-US" sz="1000" dirty="0"/>
          </a:p>
        </p:txBody>
      </p:sp>
      <p:sp>
        <p:nvSpPr>
          <p:cNvPr id="121" name="Shape 119"/>
          <p:cNvSpPr/>
          <p:nvPr/>
        </p:nvSpPr>
        <p:spPr>
          <a:xfrm>
            <a:off x="2651760" y="498348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3657600" y="498348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4663440" y="498348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5669280" y="498348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675120" y="498348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680960" y="498348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8686800" y="498348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9692640" y="498348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10698480" y="498348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178040" y="5029200"/>
            <a:ext cx="2011680" cy="237744"/>
          </a:xfrm>
          <a:prstGeom prst="roundRect">
            <a:avLst>
              <a:gd name="adj" fmla="val 30769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31" name="Text 129"/>
          <p:cNvSpPr txBox="1"/>
          <p:nvPr/>
        </p:nvSpPr>
        <p:spPr>
          <a:xfrm>
            <a:off x="457200" y="5349240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</a:rPr>
              <a:t>Rollout wave 3 · remaining plants</a:t>
            </a:r>
            <a:endParaRPr lang="en-US" sz="1000" dirty="0"/>
          </a:p>
        </p:txBody>
      </p:sp>
      <p:sp>
        <p:nvSpPr>
          <p:cNvPr id="132" name="Shape 130"/>
          <p:cNvSpPr/>
          <p:nvPr/>
        </p:nvSpPr>
        <p:spPr>
          <a:xfrm>
            <a:off x="2651760" y="534924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3657600" y="534924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4663440" y="534924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669280" y="534924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6675120" y="534924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7680960" y="534924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8686800" y="534924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9692640" y="534924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10698480" y="534924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9189720" y="5394960"/>
            <a:ext cx="2011680" cy="237744"/>
          </a:xfrm>
          <a:prstGeom prst="roundRect">
            <a:avLst>
              <a:gd name="adj" fmla="val 30769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42" name="Text 140"/>
          <p:cNvSpPr txBox="1"/>
          <p:nvPr/>
        </p:nvSpPr>
        <p:spPr>
          <a:xfrm>
            <a:off x="457200" y="5715000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</a:rPr>
              <a:t>Phase 6 · Add-ons &amp; portal</a:t>
            </a:r>
            <a:endParaRPr lang="en-US" sz="1000" dirty="0"/>
          </a:p>
        </p:txBody>
      </p:sp>
      <p:sp>
        <p:nvSpPr>
          <p:cNvPr id="143" name="Shape 141"/>
          <p:cNvSpPr/>
          <p:nvPr/>
        </p:nvSpPr>
        <p:spPr>
          <a:xfrm>
            <a:off x="2651760" y="571500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3657600" y="571500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4663440" y="571500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5669280" y="571500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75120" y="571500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7680960" y="571500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8686800" y="571500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9692640" y="571500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10698480" y="571500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680960" y="5760720"/>
            <a:ext cx="4023360" cy="237744"/>
          </a:xfrm>
          <a:prstGeom prst="roundRect">
            <a:avLst>
              <a:gd name="adj" fmla="val 30769"/>
            </a:avLst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4663440" y="1234440"/>
            <a:ext cx="0" cy="4846320"/>
          </a:xfrm>
          <a:prstGeom prst="line">
            <a:avLst/>
          </a:prstGeom>
          <a:noFill/>
          <a:ln w="19050">
            <a:solidFill>
              <a:srgbClr val="DC2626"/>
            </a:solidFill>
            <a:prstDash val="dash"/>
          </a:ln>
        </p:spPr>
      </p:sp>
      <p:sp>
        <p:nvSpPr>
          <p:cNvPr id="154" name="Text 152"/>
          <p:cNvSpPr txBox="1"/>
          <p:nvPr/>
        </p:nvSpPr>
        <p:spPr>
          <a:xfrm>
            <a:off x="457200" y="6053328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4748B"/>
                </a:solidFill>
              </a:rPr>
              <a:t>Critical path: EBS SO/challan and GCS endpoints from ERP &amp; GCS teams by 24 Oct; tags fixed on Chennai pallets by 31 Oct; HHTs and gate printer on site by 3 Nov. One plant every two weeks from January.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457200" y="27432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Pilot plan and what each plant needs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1828800" cy="640080"/>
          </a:xfrm>
          <a:prstGeom prst="chevron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18872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Done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965960"/>
            <a:ext cx="1828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</a:rPr>
              <a:t>Server v1.3, HHT app v1.3, masters template, flows &amp; documents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359152" y="1188720"/>
            <a:ext cx="1828800" cy="640080"/>
          </a:xfrm>
          <a:prstGeom prst="chevron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587752" y="118872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Oct 9–17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2359152" y="1965960"/>
            <a:ext cx="1828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</a:rPr>
              <a:t>Spec freeze with ERP &amp; GCS teams: SO API, challan, GCS contracts; master data from 15 plants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261104" y="1188720"/>
            <a:ext cx="1828800" cy="640080"/>
          </a:xfrm>
          <a:prstGeom prst="chevron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489704" y="118872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Oct 13 – Nov 14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261104" y="1965960"/>
            <a:ext cx="1828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</a:rPr>
              <a:t>Chennai: masters, tags on pallets, dock scan, challan, logistics, gate · "pull the cable" test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163056" y="1188720"/>
            <a:ext cx="1828800" cy="640080"/>
          </a:xfrm>
          <a:prstGeom prst="chevron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91656" y="118872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Nov 3–25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163056" y="1965960"/>
            <a:ext cx="1828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</a:rPr>
              <a:t>GCS live, Oracle live, return slips with HMIL (Mode A), yard reconciliation, edge service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065008" y="1188720"/>
            <a:ext cx="1828800" cy="640080"/>
          </a:xfrm>
          <a:prstGeom prst="chevron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93608" y="118872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30 Nov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8065008" y="1965960"/>
            <a:ext cx="1828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</a:rPr>
              <a:t>Chennai go-live after parallel run 17–28 Nov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9966960" y="1188720"/>
            <a:ext cx="1828800" cy="640080"/>
          </a:xfrm>
          <a:prstGeom prst="chevron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195560" y="118872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Dec → 2027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966960" y="1965960"/>
            <a:ext cx="1828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</a:rPr>
              <a:t>Reminders, dashboards; one plant per 2 weeks: AAU, PUN, TAL, RKE, BWL … 15 plants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7200" y="3931920"/>
            <a:ext cx="5486400" cy="219456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94A3B8">
                <a:alpha val="2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0080" y="4114800"/>
            <a:ext cx="384048" cy="384048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143000" y="4096512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Hardware per plant (indicative)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4590288"/>
            <a:ext cx="51206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</a:rPr>
              <a:t>2–4 rugged Android HHTs (existing scanners can be reused)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</a:rPr>
              <a:t>1 HHT with built-in printer or 1 Bluetooth 3" printer at the IN gate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</a:rPr>
              <a:t>Barcode tags: ~400 per batch per plant (vendor printed)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</a:rPr>
              <a:t>Plant PC for the edge service (no admin rights needed)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17920" y="3931920"/>
            <a:ext cx="5486400" cy="219456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94A3B8">
                <a:alpha val="2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400800" y="4114800"/>
            <a:ext cx="384048" cy="384048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903720" y="4096512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Central (IT)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6400800" y="4590288"/>
            <a:ext cx="51206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</a:rPr>
              <a:t>Windows Server with IIS · SQL Server (Standard or Express for pilot)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</a:rPr>
              <a:t>DMZ rule for the external customer API only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</a:rPr>
              <a:t>Oracle SOA endpoints for SO &amp; challan · GCS API or DB access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</a:rPr>
              <a:t>Mail relay for customer reminders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457200" y="27432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Approval requested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5486400" cy="1920240"/>
          </a:xfrm>
          <a:prstGeom prst="roundRect">
            <a:avLst>
              <a:gd name="adj" fmla="val 5714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94A3B8">
                <a:alpha val="2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40080" y="1280160"/>
            <a:ext cx="384048" cy="384048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261872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Approve the Chennai pilot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55648"/>
            <a:ext cx="5120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334155"/>
                </a:solidFill>
              </a:rPr>
              <a:t>Go-live 30 November 2026 with HMIL as the first Mode A customer; parallel run from 17 Nov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17920" y="1097280"/>
            <a:ext cx="5486400" cy="1920240"/>
          </a:xfrm>
          <a:prstGeom prst="roundRect">
            <a:avLst>
              <a:gd name="adj" fmla="val 5714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94A3B8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00800" y="1280160"/>
            <a:ext cx="384048" cy="384048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903720" y="1261872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Nominate owners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0" y="1755648"/>
            <a:ext cx="5120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334155"/>
                </a:solidFill>
              </a:rPr>
              <a:t>ERP (SO/challan API) and GCS team to deliver endpoints by 24 Oct; plant logistics &amp; security leads; Master Maintenance team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3200400"/>
            <a:ext cx="5486400" cy="1920240"/>
          </a:xfrm>
          <a:prstGeom prst="roundRect">
            <a:avLst>
              <a:gd name="adj" fmla="val 5714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94A3B8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" y="3383280"/>
            <a:ext cx="384048" cy="384048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3383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43000" y="3364992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Sanction hardware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858768"/>
            <a:ext cx="5120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334155"/>
                </a:solidFill>
              </a:rPr>
              <a:t>HHTs, gate printer and tag batches for Chennai on site by 3 Nov; central IIS / SQL Server instance by 20 Oct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217920" y="3200400"/>
            <a:ext cx="5486400" cy="1920240"/>
          </a:xfrm>
          <a:prstGeom prst="roundRect">
            <a:avLst>
              <a:gd name="adj" fmla="val 5714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94A3B8">
                <a:alpha val="2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400800" y="3383280"/>
            <a:ext cx="384048" cy="38404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00800" y="3383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903720" y="3364992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Agree the policy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0" y="3858768"/>
            <a:ext cx="5120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334155"/>
                </a:solidFill>
              </a:rPr>
              <a:t>Customer holding-days limits, chargeable rule and write-off after escalation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57200" y="5349240"/>
            <a:ext cx="11247120" cy="777240"/>
          </a:xfrm>
          <a:prstGeom prst="roundRect">
            <a:avLst>
              <a:gd name="adj" fmla="val 14118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40080" y="534924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8A"/>
                </a:solidFill>
              </a:rPr>
              <a:t>Outcome: every AIS pallet tracked by ID from plant to customer and back · live availability · customer accountability · no double entry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IS AssetTrack">
  <a:themeElements>
    <a:clrScheme name="AIS AssetTrack">
      <a:dk1>
        <a:srgbClr val="0F172A"/>
      </a:dk1>
      <a:lt1>
        <a:srgbClr val="FFFFFF"/>
      </a:lt1>
      <a:dk2>
        <a:srgbClr val="1E3A8A"/>
      </a:dk2>
      <a:lt2>
        <a:srgbClr val="EEF2FF"/>
      </a:lt2>
      <a:accent1>
        <a:srgbClr val="1E3A8A"/>
      </a:accent1>
      <a:accent2>
        <a:srgbClr val="DC2626"/>
      </a:accent2>
      <a:accent3>
        <a:srgbClr val="059669"/>
      </a:accent3>
      <a:accent4>
        <a:srgbClr val="D97706"/>
      </a:accent4>
      <a:accent5>
        <a:srgbClr val="0EA5E9"/>
      </a:accent5>
      <a:accent6>
        <a:srgbClr val="64748B"/>
      </a:accent6>
      <a:hlink>
        <a:srgbClr val="1E3A8A"/>
      </a:hlink>
      <a:folHlink>
        <a:srgbClr val="7C3AED"/>
      </a:folHlink>
    </a:clrScheme>
    <a:fontScheme name="AIS AssetTrack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Asahi India Glass Ltd.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AIS AssetTrack — Returnable Pallet Tracking</dc:title>
  <dc:subject>PptxGenJS Presentation</dc:subject>
  <dc:creator>DT</dc:creator>
  <cp:lastModifiedBy>DT</cp:lastModifiedBy>
  <cp:revision>1</cp:revision>
  <dcterms:created xsi:type="dcterms:W3CDTF">2026-10-09T00:15:01Z</dcterms:created>
  <dcterms:modified xsi:type="dcterms:W3CDTF">2026-10-09T00:15:01Z</dcterms:modified>
</cp:coreProperties>
</file>