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6527221-9f79-7f53-6697-5dd863da08fc}">
          <p14:sldIdLst>
            <p14:sldId id="256"/>
            <p14:sldId id="257"/>
            <p14:sldId id="258"/>
          </p14:sldIdLst>
        </p14:section>
        <p14:section name="Revised process flow" id="{df0449a3-69e6-cce6-87ce-f95dc616724f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Solution" id="{0465053c-bd3e-d4b1-31a2-9b663d34b5d6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Roadmap" id="{d404cda2-7e12-d99a-8cbc-0a3ea9058565}">
          <p14:sldIdLst>
            <p14:sldId id="274"/>
            <p14:sldId id="275"/>
            <p14:sldId id="276"/>
          </p14:sldIdLst>
        </p14:section>
        <p14:section name="Decision" id="{daee998b-13b5-afc5-cb1c-e472703a11af}">
          <p14:sldIdLst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one closed loop, every pallet known by ID. Ask for approval of pilot at Chennai and the hardware list on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is-assettrack/hht/assets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1371600" cy="1371600"/>
          </a:xfrm>
          <a:prstGeom prst="rect">
            <a:avLst/>
          </a:prstGeom>
        </p:spPr>
      </p:pic>
      <p:pic>
        <p:nvPicPr>
          <p:cNvPr id="3" name="Image 1" descr="/home/claude/ais-assettrack/server/app/static/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4572000" cy="13258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4572000"/>
            <a:ext cx="10972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640080" y="6217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Asahi India Glass Ltd. · Supply Chain Planning · Developed by DT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is-assettrack/hht/assets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28600"/>
            <a:ext cx="731520" cy="7315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AIS AssetTrack · Management approval · Oct 2026 · Developed by DT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is-assettrack/hht/assets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74904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pic>
        <p:nvPicPr>
          <p:cNvPr id="5" name="Image 1" descr="/home/claude/ais-assettrack/server/app/static/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5303520"/>
            <a:ext cx="3017520" cy="8686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640080" y="3749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Returnable Pallet Tracking</a:t>
            </a:r>
            <a:endParaRPr lang="en-US" sz="36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640080" y="45720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AIS → OEM / OES / AFM customers and back · Proposal for management approval ·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Why: pallets leave by scan, but come back by count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8A"/>
                </a:solidFill>
              </a:rPr>
              <a:t>15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plants dispatch returnable pallets to customers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280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0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pallets currently known by ID while at customer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280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97706"/>
                </a:solidFill>
              </a:rPr>
              <a:t>Qty only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return recorded from a manual challan at the gate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961120" y="1188720"/>
            <a:ext cx="2743200" cy="123444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280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?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1938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pallets lost, aging or chargeable — not visible today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5486400" cy="3383280"/>
          </a:xfrm>
          <a:prstGeom prst="roundRect">
            <a:avLst>
              <a:gd name="adj" fmla="val 324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29077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Today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015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Dispatch is scan-driven: pallet QR, green card, invoice QR, GCS QR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Return is count-driven: customer sends a manual challan, security records a quantity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Pallet IDs are identified only when the yard team scans at staging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No customer-wise holding, no aging, no reminder, no chargeable list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Pallets from other plants arrive mixed and cannot be processed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2743200"/>
            <a:ext cx="5486400" cy="3383280"/>
          </a:xfrm>
          <a:prstGeom prst="roundRect">
            <a:avLst>
              <a:gd name="adj" fmla="val 324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292608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29077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What AssetTrack changes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4015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One barcode tag per pallet; every movement is a scan, validated by rules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Return Slip with QR replaces the manual challan (customer end or AIS gate)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Three-way reconciliation at the yard: ledger vs slip vs scan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Customer ledger by pallet ID with aging, reminders and chargeable list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Oracle EBS and GCS integrated: no double entry, gate fully system-controlled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closed loop in one picture</a:t>
            </a:r>
            <a:endParaRPr lang="en-US" sz="2800" dirty="0"/>
          </a:p>
        </p:txBody>
      </p:sp>
      <p:pic>
        <p:nvPicPr>
          <p:cNvPr id="3" name="Image 0" descr="/home/claude/shots/flow_mgm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1247120" cy="502920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Dispatch left → right, return right → left. Blue = app, amber = control, dashed = Oracle EBS / GCS, red = customer, green = result.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Revised process flow</a:t>
            </a:r>
            <a:endParaRPr lang="en-US" sz="3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31520" y="3749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Overview, dispatch and return in detail, controls and masters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Revised end-to-end flow (v0.4)</a:t>
            </a:r>
            <a:endParaRPr lang="en-US" sz="2800" dirty="0"/>
          </a:p>
        </p:txBody>
      </p:sp>
      <p:pic>
        <p:nvPicPr>
          <p:cNvPr id="3" name="Image 0" descr="/home/claude/shots/flow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1247120" cy="507492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Masters on top · DISPATCH lane: Pick List → EBS SO → dock scan → Pick List Control → challan → Challan Control → logistics approve → GCS out · RETURN lane: slip → IN gate → yard scan → reconcile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Dispatch in detail: pick list, dock scanning, challan, gate</a:t>
            </a:r>
            <a:endParaRPr lang="en-US" sz="2800" dirty="0"/>
          </a:p>
        </p:txBody>
      </p:sp>
      <p:pic>
        <p:nvPicPr>
          <p:cNvPr id="3" name="Image 0" descr="/home/claude/shots/proc_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4747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Dock out-ward scan &amp; Pick List Control: unknown / retired tag, foreign pallet, not AVAILABLE and quantity checks — every rule also runs offline on the HHT</a:t>
            </a:r>
            <a:endParaRPr lang="en-US" sz="1000" dirty="0"/>
          </a:p>
        </p:txBody>
      </p:sp>
      <p:pic>
        <p:nvPicPr>
          <p:cNvPr id="5" name="Image 1" descr="/home/claude/shots/proc_3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7490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Challan (ORACLE / APP switch) → Logistics approve → GCS outward → OUT gate QR match. Mismatch = vehicle held; override only with supervisor PIN and logged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Return in detail: return slip, IN gate, yard reconciliation</a:t>
            </a:r>
            <a:endParaRPr lang="en-US" sz="2800" dirty="0"/>
          </a:p>
        </p:txBody>
      </p:sp>
      <p:pic>
        <p:nvPicPr>
          <p:cNvPr id="3" name="Image 0" descr="/home/claude/shots/proc_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4747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Return Slip: Mode A at customer end (scan + Bluetooth print, or push via API) · Mode B at AIS gate: B1 full scan, B2 quantity only (PENDING VERIFICATION)</a:t>
            </a:r>
            <a:endParaRPr lang="en-US" sz="1000" dirty="0"/>
          </a:p>
        </p:txBody>
      </p:sp>
      <p:pic>
        <p:nvPicPr>
          <p:cNvPr id="5" name="Image 1" descr="/home/claude/shots/proc_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749040"/>
            <a:ext cx="11247120" cy="24231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IN gate scan creates GCS-IN · yard scans each pallet with the "accept other-plant" option · three-way reconcile → AVAILABLE / HELD / exception queue · close needs supervisor PIN if exceptions remain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Four controls and how exceptions are handled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Pick List Control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Scanned count must equal pick-list qty; only same-plant AVAILABLE pallets; no duplicates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74720" y="128016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Challan Control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One challan per pick list, only after the dock scan is confirmed; source ORACLE or APP per plant/customer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28016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Logistics Confirmation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Vehicle, transporter and challan approved in the app before any gate pass exists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61120" y="1097280"/>
            <a:ext cx="26974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0" y="128016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46920" y="126187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Gate Control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175564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334155"/>
                </a:solidFill>
              </a:rPr>
              <a:t>OUT: GCS/challan QR must match an approved vehicle · IN: slip QR creates GCS-IN automatically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Exception queue at the yard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Short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on slip, not received → stays at customer, counted in reminders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Excess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received, not on slip → accepted, source customer corrected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Cross-customer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booked to X, returned by Y → moved between ledgers, flagged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Unknown tag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not in master → quarantine until identified / re-tagged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Damaged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photo, status DAMAGED, chargeable per customer master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3A8A"/>
                          </a:solidFill>
                        </a:rPr>
                        <a:t>Other-plant pallet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</a:rPr>
                        <a:t>checkbox: accept → HELD + home plant alerted, or reject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Masters, plant restriction and user control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Plant Master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15 plants · GSTIN · pallet &amp; tag series · challan switch · other-plant default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51460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4963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Pallet &amp; Tag Master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9008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Pallet No permanent (never reused) · tag series independent, vendor batches of 400 · replace / retire · full tag history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74904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73075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Customer Master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2452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Mail IDs, contacts · holding-days limit · reminder &amp; escalation days · chargeable · return mode A/B · API key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800600"/>
            <a:ext cx="5486400" cy="1115568"/>
          </a:xfrm>
          <a:prstGeom prst="roundRect">
            <a:avLst>
              <a:gd name="adj" fmla="val 98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498348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651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Transporter Master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58968"/>
            <a:ext cx="5120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</a:rPr>
              <a:t>Codes, vehicles, contacts · selected on pick list and slip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1097280"/>
            <a:ext cx="5486400" cy="4937760"/>
          </a:xfrm>
          <a:prstGeom prst="roundRect">
            <a:avLst>
              <a:gd name="adj" fmla="val 222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128016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Roles per plant (permission matrix in Admin)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755648"/>
            <a:ext cx="5120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Security – IN Gate · Security – Logistics / OUT Gate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Pallet Yard In-charge · FG Warehouse · QA / PDI · Logistics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Plant Admin (own plant users) · Master Maintenance (central)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Central Admin · Management (all-plant dashboards, read-only)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 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Every user is tied to one plant: data, scans and reports are filtered automatically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A plant cannot dispatch or assign another plant's pallets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Supervisor PIN for sensitive actions: close with exceptions, reduce qty, gate override, discontinue pallet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Lock after 5 failed logins · HHT device registration · immutable audit &amp; activity log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solution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31520" y="3749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Architecture, contingency, actual screens, documents, integrations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Architecture: Python · SQL Server · Android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Central server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FastAPI (Python) on IIS · SQL Server · 4 workers behind one port · separate integration worker so a slow Oracle never blocks a scan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0972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34840" y="128016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HHT app (Android)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7556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Rugged scanners or phones · offline-first outbox · camera or keyboard-wedge scanning · Bluetooth 2"/3" printer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0972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Plant Edge Service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7556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Portable Python service on the plant PC · takes over on the LAN if WAN / central server is down · forwards when back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79476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7764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Web console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2702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Dashboard, masters, users, import, pick lists, slips, sync monitor, activity log, reports, Excel export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51960" y="36118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34840" y="379476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37760" y="37764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Integrations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42702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Oracle EBS: SO post, challan · GCS: gate in/out · External customer API (API key) for Mode A push · retry queue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46720" y="3611880"/>
            <a:ext cx="3657600" cy="233172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29600" y="3794760"/>
            <a:ext cx="384048" cy="38404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32520" y="37764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Security &amp; audit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270248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JWT login, plant scoping, role matrix, supervisor PIN, device block, activity logger on every action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Production never stops: offline design and contingency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Failure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What keeps running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Normalisation after the fix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WAN / network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Scans continue on HHT (local rules) or via plant edge service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Outbox replays in order; server de-duplicates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Central server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Edge service serves the plant on LAN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Replay + reconciliation report; standby DB promoted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Oracle EBS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Pick list saved SO PENDING; challan (APP mode) still prints; gate proceeds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SO posted by retry job every 5 min; number back-filled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GCS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Manual gate-pass mode with challan QR + supervisor PIN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GCS created / closed in bulk when back; mismatch report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HHT lost / broken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Device blocked by admin; server knows its last heartbeat and pending count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Re-enter from paper slips; returned device outbox still accepted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3A8A"/>
                          </a:solidFill>
                        </a:rPr>
                        <a:t>Printer down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Print later; document stored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Reprint from any device or the web console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34155"/>
                </a:solidFill>
              </a:rPr>
              <a:t>Rules in every mode: a truck is never held for the app · nothing is lost silently (UUID per event, two copies before acknowledgement) · central wins on conflict but never discards, it queues for review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Server console: dashboard and dispatch control (actual screens)</a:t>
            </a:r>
            <a:endParaRPr lang="en-US" sz="2800" dirty="0"/>
          </a:p>
        </p:txBody>
      </p:sp>
      <p:pic>
        <p:nvPicPr>
          <p:cNvPr id="3" name="Image 0" descr="/home/claude/shots/srv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5532120" cy="297180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406908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Dashboard — plant-wise availability, customer holding &amp; aging with OVERDUE flags</a:t>
            </a:r>
            <a:endParaRPr lang="en-US" sz="1000" dirty="0"/>
          </a:p>
        </p:txBody>
      </p:sp>
      <p:pic>
        <p:nvPicPr>
          <p:cNvPr id="5" name="Image 1" descr="/home/claude/shots/srv_picklis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051560"/>
            <a:ext cx="5532120" cy="297180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6199632" y="406908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Pick lists — SO number from EBS, scanned count, challan, vehicle, GCS; action buttons by role</a:t>
            </a:r>
            <a:endParaRPr lang="en-US" sz="1000" dirty="0"/>
          </a:p>
        </p:txBody>
      </p:sp>
      <p:pic>
        <p:nvPicPr>
          <p:cNvPr id="7" name="Image 2" descr="/home/claude/shots/srv_slip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4434840"/>
            <a:ext cx="5532120" cy="16916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8" name="Text 3"/>
          <p:cNvSpPr txBox="1"/>
          <p:nvPr/>
        </p:nvSpPr>
        <p:spPr>
          <a:xfrm>
            <a:off x="457200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Return slips — Mode A (customer API) and B, GCS-IN, close with PIN</a:t>
            </a:r>
            <a:endParaRPr lang="en-US" sz="1000" dirty="0"/>
          </a:p>
        </p:txBody>
      </p:sp>
      <p:pic>
        <p:nvPicPr>
          <p:cNvPr id="9" name="Image 3" descr="/home/claude/shots/srv_chall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9632" y="4434840"/>
            <a:ext cx="5532120" cy="16916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10" name="Text 4"/>
          <p:cNvSpPr txBox="1"/>
          <p:nvPr/>
        </p:nvSpPr>
        <p:spPr>
          <a:xfrm>
            <a:off x="6199632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Printable A4 challan with AIS logo and QR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Server console: reconciliation, sync and activity (actual screens)</a:t>
            </a:r>
            <a:endParaRPr lang="en-US" sz="2800" dirty="0"/>
          </a:p>
        </p:txBody>
      </p:sp>
      <p:pic>
        <p:nvPicPr>
          <p:cNvPr id="3" name="Image 0" descr="/home/claude/shots/srv_slip_lin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5532120" cy="26517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Slip lines — declared vs received, DAMAGED / FOREIGN / EXCESS exceptions, resolve per line</a:t>
            </a:r>
            <a:endParaRPr lang="en-US" sz="1000" dirty="0"/>
          </a:p>
        </p:txBody>
      </p:sp>
      <p:pic>
        <p:nvPicPr>
          <p:cNvPr id="5" name="Image 1" descr="/home/claude/shots/srv_activit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051560"/>
            <a:ext cx="5532120" cy="265176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6199632" y="37490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Activity log — every action from web, HHT, external API; filters and Excel export</a:t>
            </a:r>
            <a:endParaRPr lang="en-US" sz="1000" dirty="0"/>
          </a:p>
        </p:txBody>
      </p:sp>
      <p:pic>
        <p:nvPicPr>
          <p:cNvPr id="7" name="Image 2" descr="/home/claude/shots/srv_sync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4114800"/>
            <a:ext cx="5532120" cy="201168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8" name="Text 3"/>
          <p:cNvSpPr txBox="1"/>
          <p:nvPr/>
        </p:nvSpPr>
        <p:spPr>
          <a:xfrm>
            <a:off x="457200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Sync monitor — devices, last seen, pending events, rejected / exception events, integration retry queue</a:t>
            </a:r>
            <a:endParaRPr lang="en-US" sz="1000" dirty="0"/>
          </a:p>
        </p:txBody>
      </p:sp>
      <p:pic>
        <p:nvPicPr>
          <p:cNvPr id="9" name="Image 3" descr="/home/claude/shots/srv_master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99632" y="4114800"/>
            <a:ext cx="5532120" cy="201168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10" name="Text 4"/>
          <p:cNvSpPr txBox="1"/>
          <p:nvPr/>
        </p:nvSpPr>
        <p:spPr>
          <a:xfrm>
            <a:off x="6199632" y="617220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Masters — plants, customers (with API key), transporters, tag batches; Excel import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HHT app: home, dock scan, yard reconciliation</a:t>
            </a:r>
            <a:endParaRPr lang="en-US" sz="2800" dirty="0"/>
          </a:p>
        </p:txBody>
      </p:sp>
      <p:pic>
        <p:nvPicPr>
          <p:cNvPr id="3" name="Image 0" descr="/home/claude/shots/hht_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2468880" cy="4937760"/>
          </a:xfrm>
          <a:prstGeom prst="rect">
            <a:avLst/>
          </a:prstGeom>
        </p:spPr>
      </p:pic>
      <p:pic>
        <p:nvPicPr>
          <p:cNvPr id="4" name="Image 1" descr="/home/claude/shots/hht_doc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051560"/>
            <a:ext cx="2468880" cy="4937760"/>
          </a:xfrm>
          <a:prstGeom prst="rect">
            <a:avLst/>
          </a:prstGeom>
        </p:spPr>
      </p:pic>
      <p:pic>
        <p:nvPicPr>
          <p:cNvPr id="5" name="Image 2" descr="/home/claude/shots/hht_ya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1051560"/>
            <a:ext cx="2468880" cy="493776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Role-based tiles; status bar: ONLINE/OFFLINE + pending</a:t>
            </a:r>
            <a:endParaRPr lang="en-US" sz="1000" dirty="0"/>
          </a:p>
        </p:txBody>
      </p:sp>
      <p:sp>
        <p:nvSpPr>
          <p:cNvPr id="7" name="Text 2"/>
          <p:cNvSpPr txBox="1"/>
          <p:nvPr/>
        </p:nvSpPr>
        <p:spPr>
          <a:xfrm>
            <a:off x="429768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Count vs pick-list qty; rule failures beep in red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813816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Received / short / excess; other-plant &amp; damaged switches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HHT app: return slip, sync, OUT gate, thermal challan</a:t>
            </a:r>
            <a:endParaRPr lang="en-US" sz="2800" dirty="0"/>
          </a:p>
        </p:txBody>
      </p:sp>
      <p:pic>
        <p:nvPicPr>
          <p:cNvPr id="3" name="Image 0" descr="/home/claude/shots/hht_s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2377440" cy="4754880"/>
          </a:xfrm>
          <a:prstGeom prst="rect">
            <a:avLst/>
          </a:prstGeom>
        </p:spPr>
      </p:pic>
      <p:pic>
        <p:nvPicPr>
          <p:cNvPr id="4" name="Image 1" descr="/home/claude/shots/hht_pend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0" y="1051560"/>
            <a:ext cx="2377440" cy="4754880"/>
          </a:xfrm>
          <a:prstGeom prst="rect">
            <a:avLst/>
          </a:prstGeom>
        </p:spPr>
      </p:pic>
      <p:pic>
        <p:nvPicPr>
          <p:cNvPr id="5" name="Image 2" descr="/home/claude/shots/hht_gateou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43600" y="1051560"/>
            <a:ext cx="2377440" cy="4754880"/>
          </a:xfrm>
          <a:prstGeom prst="rect">
            <a:avLst/>
          </a:prstGeom>
        </p:spPr>
      </p:pic>
      <p:pic>
        <p:nvPicPr>
          <p:cNvPr id="6" name="Image 3" descr="/home/claude/shots/challan_thermal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869680" y="1051560"/>
            <a:ext cx="2834640" cy="475488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457200" y="5897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B1 scan / B2 qty; prints 2 copies with QR</a:t>
            </a:r>
            <a:endParaRPr lang="en-US" sz="1000" dirty="0"/>
          </a:p>
        </p:txBody>
      </p:sp>
      <p:sp>
        <p:nvSpPr>
          <p:cNvPr id="8" name="Text 2"/>
          <p:cNvSpPr txBox="1"/>
          <p:nvPr/>
        </p:nvSpPr>
        <p:spPr>
          <a:xfrm>
            <a:off x="3200400" y="5897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Outbox, offline docs, my activity</a:t>
            </a:r>
            <a:endParaRPr lang="en-US" sz="1000" dirty="0"/>
          </a:p>
        </p:txBody>
      </p:sp>
      <p:sp>
        <p:nvSpPr>
          <p:cNvPr id="9" name="Text 3"/>
          <p:cNvSpPr txBox="1"/>
          <p:nvPr/>
        </p:nvSpPr>
        <p:spPr>
          <a:xfrm>
            <a:off x="5943600" y="5897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QR must match approved vehicle</a:t>
            </a:r>
            <a:endParaRPr lang="en-US" sz="1000" dirty="0"/>
          </a:p>
        </p:txBody>
      </p:sp>
      <p:sp>
        <p:nvSpPr>
          <p:cNvPr id="10" name="Text 4"/>
          <p:cNvSpPr txBox="1"/>
          <p:nvPr/>
        </p:nvSpPr>
        <p:spPr>
          <a:xfrm>
            <a:off x="8869680" y="5897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3" thermal challan with logo &amp; QR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Documents generated by the system (actual output)</a:t>
            </a:r>
            <a:endParaRPr lang="en-US" sz="2800" dirty="0"/>
          </a:p>
        </p:txBody>
      </p:sp>
      <p:pic>
        <p:nvPicPr>
          <p:cNvPr id="3" name="Image 0" descr="/home/claude/shots/srv_chall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5532120" cy="32918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43891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Delivery challan — returnable pallets (Rule 55): consignee, transport, pallet list with tags, return period, signatures, QR</a:t>
            </a:r>
            <a:endParaRPr lang="en-US" sz="1000" dirty="0"/>
          </a:p>
        </p:txBody>
      </p:sp>
      <p:pic>
        <p:nvPicPr>
          <p:cNvPr id="5" name="Image 1" descr="/home/claude/shots/srv_slippri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1051560"/>
            <a:ext cx="5532120" cy="3291840"/>
          </a:xfrm>
          <a:prstGeom prst="rect">
            <a:avLst/>
          </a:prstGeom>
          <a:effectLst>
            <a:outerShdw sx="100000" sy="100000" kx="0" ky="0" algn="bl" rotWithShape="0" blurRad="63500" dist="19050" dir="5400000">
              <a:srgbClr val="94A3B8">
                <a:alpha val="3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6199632" y="43891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Return slip — customer challan, vehicle, driver, declared vs received, exceptions, GCS-IN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705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640080" y="475488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43000" y="4736592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Challan source switch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5230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5"/>
                </a:solidFill>
              </a:rPr>
              <a:t>APP mode: numbered from the plant series, printed A4 and 3" thermal, posted to EBS as reference.  ORACLE mode: challan number pulled from EBS and printed in the same layouts.  Both carry the QR scanned at the OUT gate and by the customer.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Integrations and the customer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Oracle EBS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Sale order posted by API when a pick list is created (SO number stored) · returnable challan from EBS when switch = ORACLE · pallet liability visible in ERP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0972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34840" y="128016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GCS (internal gate system)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755648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Outward pass auto-created on logistics approval, approved on gate QR match · inward pass created from the return-slip QR, closed with the received quantity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0972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26187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Customer end (outside AIS network)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755648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External API with per-customer key, published through DMZ: holding list, validate tags, push return slip with pallets, vehicle and their challan · phone + Bluetooth printer kit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840480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822192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Reminders, aging and management reports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15968"/>
            <a:ext cx="10881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Nightly job: days at customer vs Customer Master limit → reminder mail with pallet list (To / CC from master), escalation to sales, chargeable list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Dashboards: plant-wise availability, customer holding by age bucket, overdue pallets, exception queue, tag stock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</a:rPr>
              <a:t>Reports: pallet transaction history, tag change history, audit log, activity log — all exportable to Excel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Roadmap</a:t>
            </a:r>
            <a:endParaRPr lang="en-US" sz="3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31520" y="3749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Phases, timeline and what each phase delivers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Roadmap: Chennai live by 30 November 2026, then all 15 plants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920240"/>
                <a:gridCol w="1371600"/>
                <a:gridCol w="4663440"/>
                <a:gridCol w="2651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3A8A"/>
                          </a:solidFill>
                        </a:rPr>
                        <a:t>Phase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3A8A"/>
                          </a:solidFill>
                        </a:rPr>
                        <a:t>Scope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3A8A"/>
                          </a:solidFill>
                        </a:rPr>
                        <a:t>Duration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3A8A"/>
                          </a:solidFill>
                        </a:rPr>
                        <a:t>What is built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3A8A"/>
                          </a:solidFill>
                        </a:rPr>
                        <a:t>Outcome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Discovery &amp; spec freeze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9–17 Oct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State machine, Return Slip &amp; challan formats, API contracts (EBS SO, Oracle challan, GCS), master data from 15 plants, pallet census plan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Frozen spec, opening-stock approach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Core + masters + yard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13–31 Oct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Server on IIS/SQL Server, masters &amp; roles, Excel import, tags on pallets (census), HHT offline core, yard in-ward scan, sync monitor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Plant pallet inventory becomes real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Dispatch validation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20 Oct – 14 Nov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Pick list → EBS SO post, dock scan, Pick List Control, challan switch (ORACLE/APP), logistics approve, OUT gate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Every outgoing pallet known by ID and customer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GCS integration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3–14 Nov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GCS outward auto-created and approved on gate QR; GCS inward from return-slip QR; manual gate-pass fallback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Gate fully system-controlled both ways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Return module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3–25 Nov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Return slip Mode A (customer API / kit) and Mode B (gate), three-way reconciliation, exception queue, plant edge service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Returns tracked by pallet ID; no manual challan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★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Chennai go-live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30 Nov 2026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Parallel run 17–28 Nov with HMIL as first Mode A customer; "pull the cable" offline test; cut-over on 30 Nov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Pilot plant live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Analytics &amp; rollout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Dec 26 → 2027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Reminder mails, aging &amp; chargeable list, dashboards, day-end check; rollout one plant every 2 weeks from January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Management visibility across the network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6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Add-ons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</a:rPr>
                        <a:t>2027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</a:rPr>
                        <a:t>Green-card API check at production, HMIL PDI hook, customer self-service portal, Vehicle Live Tracker link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59669"/>
                          </a:solidFill>
                        </a:rPr>
                        <a:t>Closed loop from manufacturing to customer portal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Status today: Phase 1–2 software (server v1.3, HHT v1.3) and Phase 4 return module are built and tested with sample data; integrations run in STUB mode until EBS / GCS endpoints are shared.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Timeline: target go-live 30 November 2026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651760" y="1234440"/>
            <a:ext cx="10058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65176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Oct 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0" y="1234440"/>
            <a:ext cx="100584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Nov 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234440"/>
            <a:ext cx="10058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Dec 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0" y="1234440"/>
            <a:ext cx="100584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Jan 27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675120" y="1234440"/>
            <a:ext cx="10058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Feb 27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80960" y="1234440"/>
            <a:ext cx="100584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Mar 27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86800" y="1234440"/>
            <a:ext cx="10058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Apr 27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92640" y="1234440"/>
            <a:ext cx="100584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9264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May 27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698480" y="1234440"/>
            <a:ext cx="10058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698480" y="1234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</a:rPr>
              <a:t>Jun 27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169164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0 · Spec freeze (9–17 Oct)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65176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680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98480" y="16916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23337" y="1737360"/>
            <a:ext cx="281635" cy="237744"/>
          </a:xfrm>
          <a:prstGeom prst="roundRect">
            <a:avLst>
              <a:gd name="adj" fmla="val 30769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20574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1 · Core, masters, yard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65176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6344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928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7512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8096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8680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698480" y="20574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54096" y="2103120"/>
            <a:ext cx="603504" cy="237744"/>
          </a:xfrm>
          <a:prstGeom prst="roundRect">
            <a:avLst>
              <a:gd name="adj" fmla="val 30769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7200" y="242316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2 · Dispatch validation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65176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5760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344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66928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67512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8096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68680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69264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698480" y="24231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85439" y="2468880"/>
            <a:ext cx="844906" cy="237744"/>
          </a:xfrm>
          <a:prstGeom prst="roundRect">
            <a:avLst>
              <a:gd name="adj" fmla="val 30769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7200" y="278892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3 · GCS integration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65176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5760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6928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67512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68096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68680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69264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698480" y="27889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728009" y="2834640"/>
            <a:ext cx="402336" cy="237744"/>
          </a:xfrm>
          <a:prstGeom prst="roundRect">
            <a:avLst>
              <a:gd name="adj" fmla="val 3076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57200" y="315468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4 · Return module + edge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65176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65760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66344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66928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67512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68096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68680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69264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698480" y="31546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728009" y="3200400"/>
            <a:ext cx="764438" cy="237744"/>
          </a:xfrm>
          <a:prstGeom prst="roundRect">
            <a:avLst>
              <a:gd name="adj" fmla="val 3076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57200" y="352044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Parallel run with HMIL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265176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65760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6344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66928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67512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68096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68680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69264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698480" y="35204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190695" y="3566160"/>
            <a:ext cx="402336" cy="237744"/>
          </a:xfrm>
          <a:prstGeom prst="roundRect">
            <a:avLst>
              <a:gd name="adj" fmla="val 3076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57200" y="38862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Chennai go-live · 30 Nov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65176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65760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66344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66928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67512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68096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68680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69264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698480" y="38862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496105" y="3931920"/>
            <a:ext cx="274320" cy="237744"/>
          </a:xfrm>
          <a:prstGeom prst="diamond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57200" y="425196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5 · Analytics, reminders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265176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65760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66344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66928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67512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8096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68680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69264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698480" y="425196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663440" y="4297680"/>
            <a:ext cx="1005840" cy="237744"/>
          </a:xfrm>
          <a:prstGeom prst="roundRect">
            <a:avLst>
              <a:gd name="adj" fmla="val 3076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457200" y="461772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Rollout wave 1 · AAU, PUN, TAL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65176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65760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66344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66928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667512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768096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68680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969264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10698480" y="461772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669280" y="4663440"/>
            <a:ext cx="1508760" cy="237744"/>
          </a:xfrm>
          <a:prstGeom prst="roundRect">
            <a:avLst>
              <a:gd name="adj" fmla="val 3076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457200" y="498348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Rollout wave 2 · RKE, BWL + 4 plants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265176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65760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66344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66928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67512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68096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868680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69264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698480" y="498348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178040" y="5029200"/>
            <a:ext cx="2011680" cy="237744"/>
          </a:xfrm>
          <a:prstGeom prst="roundRect">
            <a:avLst>
              <a:gd name="adj" fmla="val 3076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34924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Rollout wave 3 · remaining plants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65176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65760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66344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6928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67512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68096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868680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69264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0698480" y="534924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189720" y="5394960"/>
            <a:ext cx="2011680" cy="237744"/>
          </a:xfrm>
          <a:prstGeom prst="roundRect">
            <a:avLst>
              <a:gd name="adj" fmla="val 3076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2" name="Text 140"/>
          <p:cNvSpPr txBox="1"/>
          <p:nvPr/>
        </p:nvSpPr>
        <p:spPr>
          <a:xfrm>
            <a:off x="457200" y="57150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Phase 6 · Add-ons &amp; portal</a:t>
            </a:r>
            <a:endParaRPr lang="en-US" sz="1000" dirty="0"/>
          </a:p>
        </p:txBody>
      </p:sp>
      <p:sp>
        <p:nvSpPr>
          <p:cNvPr id="143" name="Shape 141"/>
          <p:cNvSpPr/>
          <p:nvPr/>
        </p:nvSpPr>
        <p:spPr>
          <a:xfrm>
            <a:off x="265176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65760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466344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566928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7512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68096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868680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69264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698480" y="5715000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680960" y="5760720"/>
            <a:ext cx="4023360" cy="237744"/>
          </a:xfrm>
          <a:prstGeom prst="roundRect">
            <a:avLst>
              <a:gd name="adj" fmla="val 30769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663440" y="1234440"/>
            <a:ext cx="0" cy="4846320"/>
          </a:xfrm>
          <a:prstGeom prst="line">
            <a:avLst/>
          </a:prstGeom>
          <a:noFill/>
          <a:ln w="19050">
            <a:solidFill>
              <a:srgbClr val="DC2626"/>
            </a:solidFill>
            <a:prstDash val="dash"/>
          </a:ln>
        </p:spPr>
      </p:sp>
      <p:sp>
        <p:nvSpPr>
          <p:cNvPr id="154" name="Text 152"/>
          <p:cNvSpPr txBox="1"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</a:rPr>
              <a:t>Critical path: EBS SO/challan and GCS endpoints from ERP &amp; GCS teams by 24 Oct; tags fixed on Chennai pallets by 31 Oct; HHTs and gate printer on site by 3 Nov. One plant every two weeks from January.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Pilot plan and what each plant needs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640080"/>
          </a:xfrm>
          <a:prstGeom prst="chevron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Server v1.3, HHT app v1.3, masters template, flows &amp; documents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59152" y="1188720"/>
            <a:ext cx="1828800" cy="640080"/>
          </a:xfrm>
          <a:prstGeom prst="chevron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87752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Oct 9–17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359152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Spec freeze with ERP &amp; GCS teams: SO API, challan, GCS contracts; master data from 15 plants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61104" y="1188720"/>
            <a:ext cx="1828800" cy="640080"/>
          </a:xfrm>
          <a:prstGeom prst="chevron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89704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Oct 13 – Nov 14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261104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Chennai: masters, tags on pallets, dock scan, challan, logistics, gate · "pull the cable" test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63056" y="1188720"/>
            <a:ext cx="1828800" cy="640080"/>
          </a:xfrm>
          <a:prstGeom prst="chevron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1656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Nov 3–25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63056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GCS live, Oracle live, return slips with HMIL (Mode A), yard reconciliation, edge service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65008" y="1188720"/>
            <a:ext cx="1828800" cy="640080"/>
          </a:xfrm>
          <a:prstGeom prst="chevron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 Nov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065008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Chennai go-live after parallel run 17–28 Nov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966960" y="1188720"/>
            <a:ext cx="1828800" cy="640080"/>
          </a:xfrm>
          <a:prstGeom prst="chevron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9556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Dec → 2027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966960" y="1965960"/>
            <a:ext cx="1828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Reminders, dashboards; one plant per 2 weeks: AAU, PUN, TAL, RKE, BWL … 15 plants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11480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43000" y="40965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Hardware per plant (indicative)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590288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2–4 rugged Android HHTs (existing scanners can be reused)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1 HHT with built-in printer or 1 Bluetooth 3" printer at the IN gate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Barcode tags: ~400 per batch per plant (vendor printed)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Plant PC for the edge service (no admin rights needed)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93192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411480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03720" y="40965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Central (IT)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590288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Windows Server with IIS · SQL Server (Standard or Express for pilot)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DMZ rule for the external customer API only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Oracle SOA endpoints for SO &amp; challan · GCS API or DB access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Mail relay for customer reminders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743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Approval requested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Approve the Chennai pilot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5564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Go-live 30 November 2026 with HMIL as the first Mode A customer; parallel run from 17 Nov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09728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0" y="1280160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26187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Nominate owners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75564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ERP (SO/challan API) and GCS team to deliver endpoints by 24 Oct; plant logistics &amp; security leads; Master Maintenance team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8328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3649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Sanction hardware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85876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HHTs, gate printer and tag batches for Chennai on site by 3 Nov; central IIS / SQL Server instance by 20 Oct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20040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0" y="338328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3649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Agree the policy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858768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Customer holding-days limits, chargeable rule and write-off after escalation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14118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Outcome: every AIS pallet tracked by ID from plant to customer and back · live availability · customer accountability · no double entry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S AssetTrack">
  <a:themeElements>
    <a:clrScheme name="AIS AssetTrack">
      <a:dk1>
        <a:srgbClr val="0F172A"/>
      </a:dk1>
      <a:lt1>
        <a:srgbClr val="FFFFFF"/>
      </a:lt1>
      <a:dk2>
        <a:srgbClr val="1E3A8A"/>
      </a:dk2>
      <a:lt2>
        <a:srgbClr val="EEF2FF"/>
      </a:lt2>
      <a:accent1>
        <a:srgbClr val="1E3A8A"/>
      </a:accent1>
      <a:accent2>
        <a:srgbClr val="DC2626"/>
      </a:accent2>
      <a:accent3>
        <a:srgbClr val="059669"/>
      </a:accent3>
      <a:accent4>
        <a:srgbClr val="D97706"/>
      </a:accent4>
      <a:accent5>
        <a:srgbClr val="0EA5E9"/>
      </a:accent5>
      <a:accent6>
        <a:srgbClr val="64748B"/>
      </a:accent6>
      <a:hlink>
        <a:srgbClr val="1E3A8A"/>
      </a:hlink>
      <a:folHlink>
        <a:srgbClr val="7C3AED"/>
      </a:folHlink>
    </a:clrScheme>
    <a:fontScheme name="AIS AssetTrac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Asahi India Glass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 AssetTrack — Returnable Pallet Tracking</dc:title>
  <dc:subject>PptxGenJS Presentation</dc:subject>
  <dc:creator>DT</dc:creator>
  <cp:lastModifiedBy>DT</cp:lastModifiedBy>
  <cp:revision>1</cp:revision>
  <dcterms:created xsi:type="dcterms:W3CDTF">2026-10-08T19:32:25Z</dcterms:created>
  <dcterms:modified xsi:type="dcterms:W3CDTF">2026-10-08T19:32:25Z</dcterms:modified>
</cp:coreProperties>
</file>